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343" r:id="rId85"/>
    <p:sldId id="344" r:id="rId86"/>
    <p:sldId id="347" r:id="rId87"/>
    <p:sldId id="348" r:id="rId88"/>
    <p:sldId id="350" r:id="rId89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78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notesMaster" Target="notesMasters/notesMaster1.xml"/><Relationship Id="rId95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AA250-F593-4379-9639-B408C6F7AB3A}" type="datetimeFigureOut">
              <a:rPr lang="en-IN" smtClean="0"/>
              <a:t>18-10-2017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E33AA-C9ED-48E5-A36E-6A665631C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227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98398" y="51003"/>
            <a:ext cx="7747203" cy="591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‹#›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‹#›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7408" y="4936235"/>
            <a:ext cx="1270" cy="97155"/>
          </a:xfrm>
          <a:custGeom>
            <a:avLst/>
            <a:gdLst/>
            <a:ahLst/>
            <a:cxnLst/>
            <a:rect l="l" t="t" r="r" b="b"/>
            <a:pathLst>
              <a:path w="1270" h="97154">
                <a:moveTo>
                  <a:pt x="1092" y="0"/>
                </a:moveTo>
                <a:lnTo>
                  <a:pt x="0" y="96622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894076" y="4936235"/>
            <a:ext cx="1270" cy="97155"/>
          </a:xfrm>
          <a:custGeom>
            <a:avLst/>
            <a:gdLst/>
            <a:ahLst/>
            <a:cxnLst/>
            <a:rect l="l" t="t" r="r" b="b"/>
            <a:pathLst>
              <a:path w="1269" h="97154">
                <a:moveTo>
                  <a:pt x="1143" y="0"/>
                </a:moveTo>
                <a:lnTo>
                  <a:pt x="0" y="96622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8106" y="986307"/>
            <a:ext cx="4056379" cy="3126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6FC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10/18/2017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‹#›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7408" y="4936235"/>
            <a:ext cx="1270" cy="97155"/>
          </a:xfrm>
          <a:custGeom>
            <a:avLst/>
            <a:gdLst/>
            <a:ahLst/>
            <a:cxnLst/>
            <a:rect l="l" t="t" r="r" b="b"/>
            <a:pathLst>
              <a:path w="1270" h="97154">
                <a:moveTo>
                  <a:pt x="1092" y="0"/>
                </a:moveTo>
                <a:lnTo>
                  <a:pt x="0" y="96622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894076" y="4936235"/>
            <a:ext cx="1270" cy="97155"/>
          </a:xfrm>
          <a:custGeom>
            <a:avLst/>
            <a:gdLst/>
            <a:ahLst/>
            <a:cxnLst/>
            <a:rect l="l" t="t" r="r" b="b"/>
            <a:pathLst>
              <a:path w="1269" h="97154">
                <a:moveTo>
                  <a:pt x="1143" y="0"/>
                </a:moveTo>
                <a:lnTo>
                  <a:pt x="0" y="96622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10/18/2017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‹#›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10/18/2017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‹#›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7408" y="4936235"/>
            <a:ext cx="1270" cy="97155"/>
          </a:xfrm>
          <a:custGeom>
            <a:avLst/>
            <a:gdLst/>
            <a:ahLst/>
            <a:cxnLst/>
            <a:rect l="l" t="t" r="r" b="b"/>
            <a:pathLst>
              <a:path w="1270" h="97154">
                <a:moveTo>
                  <a:pt x="1092" y="0"/>
                </a:moveTo>
                <a:lnTo>
                  <a:pt x="0" y="96622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894076" y="4936235"/>
            <a:ext cx="1270" cy="97155"/>
          </a:xfrm>
          <a:custGeom>
            <a:avLst/>
            <a:gdLst/>
            <a:ahLst/>
            <a:cxnLst/>
            <a:rect l="l" t="t" r="r" b="b"/>
            <a:pathLst>
              <a:path w="1269" h="97154">
                <a:moveTo>
                  <a:pt x="1143" y="0"/>
                </a:moveTo>
                <a:lnTo>
                  <a:pt x="0" y="96622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1667" y="181102"/>
            <a:ext cx="519747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2203" y="1984629"/>
            <a:ext cx="7419593" cy="1946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‹#›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jpg"/><Relationship Id="rId7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8.jpg"/><Relationship Id="rId7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8.jpg"/><Relationship Id="rId7" Type="http://schemas.openxmlformats.org/officeDocument/2006/relationships/image" Target="../media/image3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10" Type="http://schemas.openxmlformats.org/officeDocument/2006/relationships/image" Target="../media/image42.jpg"/><Relationship Id="rId4" Type="http://schemas.openxmlformats.org/officeDocument/2006/relationships/image" Target="../media/image1.png"/><Relationship Id="rId9" Type="http://schemas.openxmlformats.org/officeDocument/2006/relationships/image" Target="../media/image41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g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g"/><Relationship Id="rId5" Type="http://schemas.openxmlformats.org/officeDocument/2006/relationships/image" Target="../media/image56.jpg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jp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6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g"/><Relationship Id="rId5" Type="http://schemas.openxmlformats.org/officeDocument/2006/relationships/image" Target="../media/image59.jpg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jp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4.jpg"/><Relationship Id="rId4" Type="http://schemas.openxmlformats.org/officeDocument/2006/relationships/image" Target="../media/image6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jpg"/><Relationship Id="rId5" Type="http://schemas.openxmlformats.org/officeDocument/2006/relationships/image" Target="../media/image69.jpg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jp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8.jpg"/><Relationship Id="rId7" Type="http://schemas.openxmlformats.org/officeDocument/2006/relationships/image" Target="../media/image49.png"/><Relationship Id="rId12" Type="http://schemas.openxmlformats.org/officeDocument/2006/relationships/image" Target="../media/image7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.png"/><Relationship Id="rId11" Type="http://schemas.openxmlformats.org/officeDocument/2006/relationships/image" Target="../media/image53.jp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1.png"/><Relationship Id="rId9" Type="http://schemas.openxmlformats.org/officeDocument/2006/relationships/image" Target="../media/image5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" Type="http://schemas.openxmlformats.org/officeDocument/2006/relationships/image" Target="../media/image8.jp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33" Type="http://schemas.openxmlformats.org/officeDocument/2006/relationships/image" Target="../media/image101.png"/><Relationship Id="rId2" Type="http://schemas.openxmlformats.org/officeDocument/2006/relationships/image" Target="../media/image7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29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32" Type="http://schemas.openxmlformats.org/officeDocument/2006/relationships/image" Target="../media/image100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openxmlformats.org/officeDocument/2006/relationships/image" Target="../media/image96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31" Type="http://schemas.openxmlformats.org/officeDocument/2006/relationships/image" Target="../media/image99.png"/><Relationship Id="rId4" Type="http://schemas.openxmlformats.org/officeDocument/2006/relationships/image" Target="../media/image1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Relationship Id="rId30" Type="http://schemas.openxmlformats.org/officeDocument/2006/relationships/image" Target="../media/image98.png"/></Relationships>
</file>

<file path=ppt/slides/_rels/slide7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26" Type="http://schemas.openxmlformats.org/officeDocument/2006/relationships/image" Target="../media/image123.png"/><Relationship Id="rId39" Type="http://schemas.openxmlformats.org/officeDocument/2006/relationships/image" Target="../media/image136.png"/><Relationship Id="rId21" Type="http://schemas.openxmlformats.org/officeDocument/2006/relationships/image" Target="../media/image118.png"/><Relationship Id="rId34" Type="http://schemas.openxmlformats.org/officeDocument/2006/relationships/image" Target="../media/image131.png"/><Relationship Id="rId42" Type="http://schemas.openxmlformats.org/officeDocument/2006/relationships/image" Target="../media/image139.png"/><Relationship Id="rId47" Type="http://schemas.openxmlformats.org/officeDocument/2006/relationships/image" Target="../media/image144.png"/><Relationship Id="rId50" Type="http://schemas.openxmlformats.org/officeDocument/2006/relationships/image" Target="../media/image147.png"/><Relationship Id="rId55" Type="http://schemas.openxmlformats.org/officeDocument/2006/relationships/image" Target="../media/image152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5" Type="http://schemas.openxmlformats.org/officeDocument/2006/relationships/image" Target="../media/image122.png"/><Relationship Id="rId33" Type="http://schemas.openxmlformats.org/officeDocument/2006/relationships/image" Target="../media/image130.png"/><Relationship Id="rId38" Type="http://schemas.openxmlformats.org/officeDocument/2006/relationships/image" Target="../media/image135.png"/><Relationship Id="rId46" Type="http://schemas.openxmlformats.org/officeDocument/2006/relationships/image" Target="../media/image143.png"/><Relationship Id="rId2" Type="http://schemas.openxmlformats.org/officeDocument/2006/relationships/image" Target="../media/image7.png"/><Relationship Id="rId16" Type="http://schemas.openxmlformats.org/officeDocument/2006/relationships/image" Target="../media/image113.png"/><Relationship Id="rId20" Type="http://schemas.openxmlformats.org/officeDocument/2006/relationships/image" Target="../media/image117.png"/><Relationship Id="rId29" Type="http://schemas.openxmlformats.org/officeDocument/2006/relationships/image" Target="../media/image126.png"/><Relationship Id="rId41" Type="http://schemas.openxmlformats.org/officeDocument/2006/relationships/image" Target="../media/image138.png"/><Relationship Id="rId54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24" Type="http://schemas.openxmlformats.org/officeDocument/2006/relationships/image" Target="../media/image121.png"/><Relationship Id="rId32" Type="http://schemas.openxmlformats.org/officeDocument/2006/relationships/image" Target="../media/image129.jpg"/><Relationship Id="rId37" Type="http://schemas.openxmlformats.org/officeDocument/2006/relationships/image" Target="../media/image134.png"/><Relationship Id="rId40" Type="http://schemas.openxmlformats.org/officeDocument/2006/relationships/image" Target="../media/image137.png"/><Relationship Id="rId45" Type="http://schemas.openxmlformats.org/officeDocument/2006/relationships/image" Target="../media/image142.png"/><Relationship Id="rId53" Type="http://schemas.openxmlformats.org/officeDocument/2006/relationships/image" Target="../media/image150.png"/><Relationship Id="rId5" Type="http://schemas.openxmlformats.org/officeDocument/2006/relationships/image" Target="../media/image102.jpg"/><Relationship Id="rId15" Type="http://schemas.openxmlformats.org/officeDocument/2006/relationships/image" Target="../media/image112.png"/><Relationship Id="rId23" Type="http://schemas.openxmlformats.org/officeDocument/2006/relationships/image" Target="../media/image120.png"/><Relationship Id="rId28" Type="http://schemas.openxmlformats.org/officeDocument/2006/relationships/image" Target="../media/image125.png"/><Relationship Id="rId36" Type="http://schemas.openxmlformats.org/officeDocument/2006/relationships/image" Target="../media/image133.png"/><Relationship Id="rId49" Type="http://schemas.openxmlformats.org/officeDocument/2006/relationships/image" Target="../media/image146.png"/><Relationship Id="rId57" Type="http://schemas.openxmlformats.org/officeDocument/2006/relationships/image" Target="../media/image154.png"/><Relationship Id="rId10" Type="http://schemas.openxmlformats.org/officeDocument/2006/relationships/image" Target="../media/image107.png"/><Relationship Id="rId19" Type="http://schemas.openxmlformats.org/officeDocument/2006/relationships/image" Target="../media/image116.png"/><Relationship Id="rId31" Type="http://schemas.openxmlformats.org/officeDocument/2006/relationships/image" Target="../media/image128.png"/><Relationship Id="rId44" Type="http://schemas.openxmlformats.org/officeDocument/2006/relationships/image" Target="../media/image141.png"/><Relationship Id="rId52" Type="http://schemas.openxmlformats.org/officeDocument/2006/relationships/image" Target="../media/image149.png"/><Relationship Id="rId4" Type="http://schemas.openxmlformats.org/officeDocument/2006/relationships/image" Target="../media/image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Relationship Id="rId22" Type="http://schemas.openxmlformats.org/officeDocument/2006/relationships/image" Target="../media/image119.png"/><Relationship Id="rId27" Type="http://schemas.openxmlformats.org/officeDocument/2006/relationships/image" Target="../media/image124.png"/><Relationship Id="rId30" Type="http://schemas.openxmlformats.org/officeDocument/2006/relationships/image" Target="../media/image127.png"/><Relationship Id="rId35" Type="http://schemas.openxmlformats.org/officeDocument/2006/relationships/image" Target="../media/image132.png"/><Relationship Id="rId43" Type="http://schemas.openxmlformats.org/officeDocument/2006/relationships/image" Target="../media/image140.png"/><Relationship Id="rId48" Type="http://schemas.openxmlformats.org/officeDocument/2006/relationships/image" Target="../media/image145.png"/><Relationship Id="rId56" Type="http://schemas.openxmlformats.org/officeDocument/2006/relationships/image" Target="../media/image153.png"/><Relationship Id="rId8" Type="http://schemas.openxmlformats.org/officeDocument/2006/relationships/image" Target="../media/image105.png"/><Relationship Id="rId51" Type="http://schemas.openxmlformats.org/officeDocument/2006/relationships/image" Target="../media/image148.png"/><Relationship Id="rId3" Type="http://schemas.openxmlformats.org/officeDocument/2006/relationships/image" Target="../media/image8.jp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3.png"/><Relationship Id="rId18" Type="http://schemas.openxmlformats.org/officeDocument/2006/relationships/image" Target="../media/image168.png"/><Relationship Id="rId3" Type="http://schemas.openxmlformats.org/officeDocument/2006/relationships/image" Target="../media/image8.jpg"/><Relationship Id="rId7" Type="http://schemas.openxmlformats.org/officeDocument/2006/relationships/image" Target="../media/image157.png"/><Relationship Id="rId12" Type="http://schemas.openxmlformats.org/officeDocument/2006/relationships/image" Target="../media/image162.png"/><Relationship Id="rId17" Type="http://schemas.openxmlformats.org/officeDocument/2006/relationships/image" Target="../media/image167.png"/><Relationship Id="rId2" Type="http://schemas.openxmlformats.org/officeDocument/2006/relationships/image" Target="../media/image7.png"/><Relationship Id="rId16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5" Type="http://schemas.openxmlformats.org/officeDocument/2006/relationships/image" Target="../media/image155.png"/><Relationship Id="rId15" Type="http://schemas.openxmlformats.org/officeDocument/2006/relationships/image" Target="../media/image165.png"/><Relationship Id="rId10" Type="http://schemas.openxmlformats.org/officeDocument/2006/relationships/image" Target="../media/image160.png"/><Relationship Id="rId19" Type="http://schemas.openxmlformats.org/officeDocument/2006/relationships/image" Target="../media/image169.png"/><Relationship Id="rId4" Type="http://schemas.openxmlformats.org/officeDocument/2006/relationships/image" Target="../media/image1.png"/><Relationship Id="rId9" Type="http://schemas.openxmlformats.org/officeDocument/2006/relationships/image" Target="../media/image159.png"/><Relationship Id="rId14" Type="http://schemas.openxmlformats.org/officeDocument/2006/relationships/image" Target="../media/image16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8.png"/><Relationship Id="rId18" Type="http://schemas.openxmlformats.org/officeDocument/2006/relationships/image" Target="../media/image183.png"/><Relationship Id="rId3" Type="http://schemas.openxmlformats.org/officeDocument/2006/relationships/image" Target="../media/image8.jpg"/><Relationship Id="rId7" Type="http://schemas.openxmlformats.org/officeDocument/2006/relationships/image" Target="../media/image172.png"/><Relationship Id="rId12" Type="http://schemas.openxmlformats.org/officeDocument/2006/relationships/image" Target="../media/image177.png"/><Relationship Id="rId17" Type="http://schemas.openxmlformats.org/officeDocument/2006/relationships/image" Target="../media/image182.png"/><Relationship Id="rId2" Type="http://schemas.openxmlformats.org/officeDocument/2006/relationships/image" Target="../media/image7.png"/><Relationship Id="rId16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11" Type="http://schemas.openxmlformats.org/officeDocument/2006/relationships/image" Target="../media/image176.png"/><Relationship Id="rId5" Type="http://schemas.openxmlformats.org/officeDocument/2006/relationships/image" Target="../media/image170.png"/><Relationship Id="rId15" Type="http://schemas.openxmlformats.org/officeDocument/2006/relationships/image" Target="../media/image180.png"/><Relationship Id="rId10" Type="http://schemas.openxmlformats.org/officeDocument/2006/relationships/image" Target="../media/image175.png"/><Relationship Id="rId19" Type="http://schemas.openxmlformats.org/officeDocument/2006/relationships/image" Target="../media/image184.png"/><Relationship Id="rId4" Type="http://schemas.openxmlformats.org/officeDocument/2006/relationships/image" Target="../media/image1.png"/><Relationship Id="rId9" Type="http://schemas.openxmlformats.org/officeDocument/2006/relationships/image" Target="../media/image174.png"/><Relationship Id="rId14" Type="http://schemas.openxmlformats.org/officeDocument/2006/relationships/image" Target="../media/image17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8.jpg"/><Relationship Id="rId7" Type="http://schemas.openxmlformats.org/officeDocument/2006/relationships/image" Target="../media/image187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9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9.png"/><Relationship Id="rId4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2.png"/><Relationship Id="rId4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9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9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20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9.png"/><Relationship Id="rId4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jpg"/><Relationship Id="rId5" Type="http://schemas.openxmlformats.org/officeDocument/2006/relationships/image" Target="../media/image202.png"/><Relationship Id="rId4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5.jpg"/><Relationship Id="rId5" Type="http://schemas.openxmlformats.org/officeDocument/2006/relationships/image" Target="../media/image204.jpg"/><Relationship Id="rId4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6.jpg"/><Relationship Id="rId4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8.jpg"/><Relationship Id="rId5" Type="http://schemas.openxmlformats.org/officeDocument/2006/relationships/image" Target="../media/image20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77967" y="0"/>
            <a:ext cx="4066032" cy="51434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2127" y="35051"/>
            <a:ext cx="1712976" cy="10149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8708" y="1981657"/>
            <a:ext cx="3072765" cy="8362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5"/>
              </a:lnSpc>
              <a:spcBef>
                <a:spcPts val="95"/>
              </a:spcBef>
            </a:pPr>
            <a:r>
              <a:rPr spc="-5" dirty="0">
                <a:solidFill>
                  <a:srgbClr val="FFFFFF"/>
                </a:solidFill>
              </a:rPr>
              <a:t>Java</a:t>
            </a:r>
            <a:r>
              <a:rPr spc="0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8:</a:t>
            </a:r>
          </a:p>
          <a:p>
            <a:pPr marL="12700">
              <a:lnSpc>
                <a:spcPts val="3195"/>
              </a:lnSpc>
            </a:pPr>
            <a:r>
              <a:rPr spc="-5" dirty="0">
                <a:solidFill>
                  <a:srgbClr val="FFFFFF"/>
                </a:solidFill>
              </a:rPr>
              <a:t>Create The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8" name="object 8"/>
          <p:cNvSpPr/>
          <p:nvPr/>
        </p:nvSpPr>
        <p:spPr>
          <a:xfrm>
            <a:off x="5713476" y="0"/>
            <a:ext cx="3430524" cy="5143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54608"/>
            <a:ext cx="9144000" cy="32887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159763"/>
            <a:ext cx="9144000" cy="29809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92276" y="181102"/>
            <a:ext cx="2875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Program</a:t>
            </a:r>
            <a:r>
              <a:rPr spc="-155" dirty="0"/>
              <a:t> </a:t>
            </a:r>
            <a:r>
              <a:rPr spc="-5" dirty="0"/>
              <a:t>Agenda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92276" y="1226511"/>
            <a:ext cx="6445885" cy="208597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32410" indent="-219710">
              <a:lnSpc>
                <a:spcPct val="100000"/>
              </a:lnSpc>
              <a:spcBef>
                <a:spcPts val="1270"/>
              </a:spcBef>
              <a:buClr>
                <a:srgbClr val="5282A0"/>
              </a:buClr>
              <a:buSzPct val="89583"/>
              <a:buFont typeface="Wingdings"/>
              <a:buChar char=""/>
              <a:tabLst>
                <a:tab pos="233045" algn="l"/>
              </a:tabLst>
            </a:pPr>
            <a:r>
              <a:rPr sz="2400" spc="-5" dirty="0">
                <a:latin typeface="Arial"/>
                <a:cs typeface="Arial"/>
              </a:rPr>
              <a:t>Java </a:t>
            </a:r>
            <a:r>
              <a:rPr sz="2400" dirty="0">
                <a:latin typeface="Arial"/>
                <a:cs typeface="Arial"/>
              </a:rPr>
              <a:t>SE 8: </a:t>
            </a:r>
            <a:r>
              <a:rPr sz="2400" spc="-5" dirty="0">
                <a:latin typeface="Arial"/>
                <a:cs typeface="Arial"/>
              </a:rPr>
              <a:t>Enhancing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Core Java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Platform</a:t>
            </a:r>
            <a:endParaRPr sz="2400">
              <a:latin typeface="Arial"/>
              <a:cs typeface="Arial"/>
            </a:endParaRPr>
          </a:p>
          <a:p>
            <a:pPr marL="232410" indent="-219710">
              <a:lnSpc>
                <a:spcPct val="100000"/>
              </a:lnSpc>
              <a:spcBef>
                <a:spcPts val="1175"/>
              </a:spcBef>
              <a:buClr>
                <a:srgbClr val="5282A0"/>
              </a:buClr>
              <a:buSzPct val="89583"/>
              <a:buFont typeface="Wingdings"/>
              <a:buChar char=""/>
              <a:tabLst>
                <a:tab pos="233045" algn="l"/>
              </a:tabLst>
            </a:pPr>
            <a:r>
              <a:rPr sz="2400" dirty="0">
                <a:latin typeface="Arial"/>
                <a:cs typeface="Arial"/>
              </a:rPr>
              <a:t>Java ME 8: </a:t>
            </a:r>
            <a:r>
              <a:rPr sz="2400" spc="-5" dirty="0">
                <a:latin typeface="Arial"/>
                <a:cs typeface="Arial"/>
              </a:rPr>
              <a:t>Building </a:t>
            </a:r>
            <a:r>
              <a:rPr sz="2400" dirty="0">
                <a:latin typeface="Arial"/>
                <a:cs typeface="Arial"/>
              </a:rPr>
              <a:t>The Internet of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Things</a:t>
            </a:r>
            <a:endParaRPr sz="2400">
              <a:latin typeface="Arial"/>
              <a:cs typeface="Arial"/>
            </a:endParaRPr>
          </a:p>
          <a:p>
            <a:pPr marL="232410" indent="-219710">
              <a:lnSpc>
                <a:spcPct val="100000"/>
              </a:lnSpc>
              <a:spcBef>
                <a:spcPts val="1180"/>
              </a:spcBef>
              <a:buClr>
                <a:srgbClr val="5282A0"/>
              </a:buClr>
              <a:buSzPct val="89583"/>
              <a:buFont typeface="Wingdings"/>
              <a:buChar char=""/>
              <a:tabLst>
                <a:tab pos="233045" algn="l"/>
              </a:tabLst>
            </a:pPr>
            <a:r>
              <a:rPr sz="2400" spc="-5" dirty="0">
                <a:latin typeface="Arial"/>
                <a:cs typeface="Arial"/>
              </a:rPr>
              <a:t>NetBeans </a:t>
            </a:r>
            <a:r>
              <a:rPr sz="2400" dirty="0">
                <a:latin typeface="Arial"/>
                <a:cs typeface="Arial"/>
              </a:rPr>
              <a:t>8: The IDE </a:t>
            </a:r>
            <a:r>
              <a:rPr sz="2400" spc="-5" dirty="0">
                <a:latin typeface="Arial"/>
                <a:cs typeface="Arial"/>
              </a:rPr>
              <a:t>For Java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8</a:t>
            </a:r>
            <a:endParaRPr sz="2400">
              <a:latin typeface="Arial"/>
              <a:cs typeface="Arial"/>
            </a:endParaRPr>
          </a:p>
          <a:p>
            <a:pPr marL="232410" indent="-219710">
              <a:lnSpc>
                <a:spcPct val="100000"/>
              </a:lnSpc>
              <a:spcBef>
                <a:spcPts val="1175"/>
              </a:spcBef>
              <a:buClr>
                <a:srgbClr val="5282A0"/>
              </a:buClr>
              <a:buSzPct val="89583"/>
              <a:buFont typeface="Wingdings"/>
              <a:buChar char=""/>
              <a:tabLst>
                <a:tab pos="233045" algn="l"/>
              </a:tabLst>
            </a:pPr>
            <a:r>
              <a:rPr sz="2400" spc="-5" dirty="0">
                <a:latin typeface="Arial"/>
                <a:cs typeface="Arial"/>
              </a:rPr>
              <a:t>Where Next?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00115" y="0"/>
            <a:ext cx="3643884" cy="47685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0143" y="1507998"/>
            <a:ext cx="4375150" cy="1219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spc="-5" dirty="0"/>
              <a:t>Java SE 8:</a:t>
            </a:r>
          </a:p>
          <a:p>
            <a:pPr marL="12700" marR="5080">
              <a:lnSpc>
                <a:spcPts val="3020"/>
              </a:lnSpc>
              <a:spcBef>
                <a:spcPts val="215"/>
              </a:spcBef>
            </a:pPr>
            <a:r>
              <a:rPr spc="-5" dirty="0"/>
              <a:t>Enhancing The Core Java  Platform</a:t>
            </a:r>
          </a:p>
        </p:txBody>
      </p:sp>
      <p:sp>
        <p:nvSpPr>
          <p:cNvPr id="4" name="object 4"/>
          <p:cNvSpPr/>
          <p:nvPr/>
        </p:nvSpPr>
        <p:spPr>
          <a:xfrm>
            <a:off x="5715000" y="0"/>
            <a:ext cx="3429000" cy="46314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1096" y="1825751"/>
            <a:ext cx="2965704" cy="22448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4500" y="416179"/>
            <a:ext cx="72688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/>
                <a:cs typeface="Arial"/>
              </a:rPr>
              <a:t>A simple </a:t>
            </a:r>
            <a:r>
              <a:rPr sz="2800" b="1" spc="-10" dirty="0">
                <a:latin typeface="Arial"/>
                <a:cs typeface="Arial"/>
              </a:rPr>
              <a:t>lambda </a:t>
            </a:r>
            <a:r>
              <a:rPr sz="2800" b="1" spc="-5" dirty="0">
                <a:latin typeface="Arial"/>
                <a:cs typeface="Arial"/>
              </a:rPr>
              <a:t>example – event</a:t>
            </a:r>
            <a:r>
              <a:rPr sz="2800" b="1" spc="2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handling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882522"/>
            <a:ext cx="4756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5282A0"/>
                </a:solidFill>
                <a:latin typeface="Arial"/>
                <a:cs typeface="Arial"/>
              </a:rPr>
              <a:t>Handling the Zoom Gesture</a:t>
            </a:r>
            <a:r>
              <a:rPr sz="2000" spc="-9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5282A0"/>
                </a:solidFill>
                <a:latin typeface="Arial"/>
                <a:cs typeface="Arial"/>
              </a:rPr>
              <a:t>(</a:t>
            </a:r>
            <a:r>
              <a:rPr sz="2000" spc="-5" dirty="0">
                <a:solidFill>
                  <a:srgbClr val="5282A0"/>
                </a:solidFill>
                <a:latin typeface="Courier New"/>
                <a:cs typeface="Courier New"/>
              </a:rPr>
              <a:t>ZoomEvent</a:t>
            </a:r>
            <a:r>
              <a:rPr sz="2000" spc="-5" dirty="0">
                <a:solidFill>
                  <a:srgbClr val="5282A0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0343" y="1491677"/>
            <a:ext cx="4838359" cy="30072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66531" y="0"/>
            <a:ext cx="1077468" cy="8061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4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425977"/>
            <a:ext cx="7797800" cy="26022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Almost all machines now are </a:t>
            </a:r>
            <a:r>
              <a:rPr sz="2000" spc="-5" dirty="0">
                <a:latin typeface="Arial"/>
                <a:cs typeface="Arial"/>
              </a:rPr>
              <a:t>multi-core, </a:t>
            </a:r>
            <a:r>
              <a:rPr sz="2000" spc="-10" dirty="0">
                <a:latin typeface="Arial"/>
                <a:cs typeface="Arial"/>
              </a:rPr>
              <a:t>multi-processor,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both</a:t>
            </a:r>
          </a:p>
          <a:p>
            <a:pPr marL="180340" indent="-167640">
              <a:lnSpc>
                <a:spcPct val="100000"/>
              </a:lnSpc>
              <a:spcBef>
                <a:spcPts val="60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spc="-15" dirty="0">
                <a:latin typeface="Arial"/>
                <a:cs typeface="Arial"/>
              </a:rPr>
              <a:t>We </a:t>
            </a:r>
            <a:r>
              <a:rPr sz="2000" dirty="0">
                <a:latin typeface="Arial"/>
                <a:cs typeface="Arial"/>
              </a:rPr>
              <a:t>need to make it simpler to write </a:t>
            </a:r>
            <a:r>
              <a:rPr sz="2000" spc="-5" dirty="0">
                <a:latin typeface="Arial"/>
                <a:cs typeface="Arial"/>
              </a:rPr>
              <a:t>multi-threaded </a:t>
            </a:r>
            <a:r>
              <a:rPr sz="2000" dirty="0">
                <a:latin typeface="Arial"/>
                <a:cs typeface="Arial"/>
              </a:rPr>
              <a:t>Java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code</a:t>
            </a:r>
          </a:p>
          <a:p>
            <a:pPr marL="584200" lvl="1" indent="-228600">
              <a:lnSpc>
                <a:spcPct val="100000"/>
              </a:lnSpc>
              <a:spcBef>
                <a:spcPts val="605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Java has </a:t>
            </a:r>
            <a:r>
              <a:rPr sz="1800" spc="-15" dirty="0">
                <a:latin typeface="Arial"/>
                <a:cs typeface="Arial"/>
              </a:rPr>
              <a:t>always </a:t>
            </a:r>
            <a:r>
              <a:rPr sz="1800" spc="-5" dirty="0">
                <a:latin typeface="Arial"/>
                <a:cs typeface="Arial"/>
              </a:rPr>
              <a:t>had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concept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threads</a:t>
            </a:r>
            <a:endParaRPr sz="1800" dirty="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Even using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concurrency utilities </a:t>
            </a:r>
            <a:r>
              <a:rPr sz="1800" spc="-10" dirty="0">
                <a:latin typeface="Arial"/>
                <a:cs typeface="Arial"/>
              </a:rPr>
              <a:t>and </a:t>
            </a:r>
            <a:r>
              <a:rPr sz="1800" spc="-5" dirty="0">
                <a:latin typeface="Arial"/>
                <a:cs typeface="Arial"/>
              </a:rPr>
              <a:t>fork-join </a:t>
            </a:r>
            <a:r>
              <a:rPr sz="1800" spc="-10" dirty="0">
                <a:latin typeface="Arial"/>
                <a:cs typeface="Arial"/>
              </a:rPr>
              <a:t>framework </a:t>
            </a:r>
            <a:r>
              <a:rPr sz="1800" spc="-5" dirty="0">
                <a:latin typeface="Arial"/>
                <a:cs typeface="Arial"/>
              </a:rPr>
              <a:t>this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hard</a:t>
            </a:r>
            <a:endParaRPr sz="1800" dirty="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spc="-10" dirty="0">
                <a:latin typeface="Arial"/>
                <a:cs typeface="Arial"/>
              </a:rPr>
              <a:t>Let’s </a:t>
            </a:r>
            <a:r>
              <a:rPr sz="2000" dirty="0">
                <a:latin typeface="Arial"/>
                <a:cs typeface="Arial"/>
              </a:rPr>
              <a:t>add better </a:t>
            </a:r>
            <a:r>
              <a:rPr sz="2000" spc="-5" dirty="0">
                <a:latin typeface="Arial"/>
                <a:cs typeface="Arial"/>
              </a:rPr>
              <a:t>library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code</a:t>
            </a: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This is good, but sometimes </a:t>
            </a:r>
            <a:r>
              <a:rPr sz="1800" spc="-25" dirty="0">
                <a:latin typeface="Arial"/>
                <a:cs typeface="Arial"/>
              </a:rPr>
              <a:t>we </a:t>
            </a:r>
            <a:r>
              <a:rPr sz="1800" spc="-5" dirty="0">
                <a:latin typeface="Arial"/>
                <a:cs typeface="Arial"/>
              </a:rPr>
              <a:t>need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change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language</a:t>
            </a:r>
            <a:r>
              <a:rPr sz="1800" spc="1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too</a:t>
            </a: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The answer: Lambda expressions and the streams</a:t>
            </a:r>
            <a:r>
              <a:rPr sz="2000" spc="-2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API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360108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Lambda</a:t>
            </a:r>
            <a:r>
              <a:rPr spc="-35" dirty="0"/>
              <a:t> </a:t>
            </a:r>
            <a:r>
              <a:rPr spc="-5" dirty="0"/>
              <a:t>Expressions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Why Do </a:t>
            </a:r>
            <a:r>
              <a:rPr sz="2000" b="0" spc="-20" dirty="0">
                <a:solidFill>
                  <a:srgbClr val="5282A0"/>
                </a:solidFill>
                <a:latin typeface="Arial"/>
                <a:cs typeface="Arial"/>
              </a:rPr>
              <a:t>We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Need</a:t>
            </a:r>
            <a:r>
              <a:rPr sz="2000" b="0" spc="-9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Them?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53047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The </a:t>
            </a:r>
            <a:r>
              <a:rPr spc="-5" dirty="0"/>
              <a:t>Problem: External</a:t>
            </a:r>
            <a:r>
              <a:rPr spc="60" dirty="0"/>
              <a:t> </a:t>
            </a:r>
            <a:r>
              <a:rPr spc="-5" dirty="0"/>
              <a:t>Iteration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56844" y="1101852"/>
            <a:ext cx="4075176" cy="34015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15315">
              <a:lnSpc>
                <a:spcPct val="141300"/>
              </a:lnSpc>
              <a:spcBef>
                <a:spcPts val="100"/>
              </a:spcBef>
            </a:pPr>
            <a:r>
              <a:rPr spc="-5" dirty="0"/>
              <a:t>List&lt;Student&gt; students = </a:t>
            </a:r>
            <a:r>
              <a:rPr spc="-10" dirty="0"/>
              <a:t>...  </a:t>
            </a:r>
            <a:r>
              <a:rPr spc="-5" dirty="0"/>
              <a:t>double </a:t>
            </a:r>
            <a:r>
              <a:rPr spc="-5" dirty="0">
                <a:solidFill>
                  <a:srgbClr val="FF0000"/>
                </a:solidFill>
              </a:rPr>
              <a:t>highestScore = 0.0</a:t>
            </a:r>
            <a:r>
              <a:rPr spc="-5" dirty="0"/>
              <a:t>;  for (Student </a:t>
            </a:r>
            <a:r>
              <a:rPr spc="-5" dirty="0">
                <a:solidFill>
                  <a:srgbClr val="FF0000"/>
                </a:solidFill>
              </a:rPr>
              <a:t>s : students</a:t>
            </a:r>
            <a:r>
              <a:rPr spc="-5" dirty="0"/>
              <a:t>)</a:t>
            </a:r>
            <a:r>
              <a:rPr spc="10" dirty="0"/>
              <a:t> </a:t>
            </a:r>
            <a:r>
              <a:rPr spc="-5" dirty="0"/>
              <a:t>{</a:t>
            </a:r>
          </a:p>
          <a:p>
            <a:pPr marL="256540">
              <a:lnSpc>
                <a:spcPct val="100000"/>
              </a:lnSpc>
              <a:spcBef>
                <a:spcPts val="795"/>
              </a:spcBef>
            </a:pPr>
            <a:r>
              <a:rPr spc="-5" dirty="0"/>
              <a:t>if (s.gradYear == 2011)</a:t>
            </a:r>
            <a:r>
              <a:rPr spc="15" dirty="0"/>
              <a:t> </a:t>
            </a:r>
            <a:r>
              <a:rPr spc="-5" dirty="0"/>
              <a:t>{</a:t>
            </a:r>
          </a:p>
          <a:p>
            <a:pPr marL="744220" marR="5080" indent="-244475">
              <a:lnSpc>
                <a:spcPct val="141300"/>
              </a:lnSpc>
            </a:pPr>
            <a:r>
              <a:rPr spc="-5" dirty="0"/>
              <a:t>if (s.score &gt; highestScore) {  </a:t>
            </a:r>
            <a:r>
              <a:rPr spc="-5" dirty="0">
                <a:solidFill>
                  <a:srgbClr val="FF0000"/>
                </a:solidFill>
              </a:rPr>
              <a:t>highestScore =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s.score</a:t>
            </a:r>
            <a:r>
              <a:rPr spc="-5" dirty="0"/>
              <a:t>;</a:t>
            </a:r>
          </a:p>
          <a:p>
            <a:pPr marL="500380">
              <a:lnSpc>
                <a:spcPct val="100000"/>
              </a:lnSpc>
              <a:spcBef>
                <a:spcPts val="790"/>
              </a:spcBef>
            </a:pPr>
            <a:r>
              <a:rPr spc="-5" dirty="0"/>
              <a:t>}</a:t>
            </a:r>
          </a:p>
          <a:p>
            <a:pPr marL="256540">
              <a:lnSpc>
                <a:spcPct val="100000"/>
              </a:lnSpc>
              <a:spcBef>
                <a:spcPts val="795"/>
              </a:spcBef>
            </a:pPr>
            <a:r>
              <a:rPr spc="-5" dirty="0"/>
              <a:t>}</a:t>
            </a: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pc="-5" dirty="0"/>
              <a:t>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72634" y="1091332"/>
            <a:ext cx="3698875" cy="23895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5282A0"/>
              </a:buClr>
              <a:buSzPct val="85000"/>
              <a:buChar char="•"/>
              <a:tabLst>
                <a:tab pos="469265" algn="l"/>
                <a:tab pos="469900" algn="l"/>
              </a:tabLst>
            </a:pPr>
            <a:r>
              <a:rPr sz="2000" dirty="0">
                <a:latin typeface="Arial"/>
                <a:cs typeface="Arial"/>
              </a:rPr>
              <a:t>Client controls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iteration</a:t>
            </a:r>
            <a:endParaRPr sz="200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spcBef>
                <a:spcPts val="605"/>
              </a:spcBef>
              <a:buClr>
                <a:srgbClr val="5282A0"/>
              </a:buClr>
              <a:buSzPct val="85000"/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000" i="1" dirty="0">
                <a:latin typeface="Arial"/>
                <a:cs typeface="Arial"/>
              </a:rPr>
              <a:t>Inherently serial: </a:t>
            </a:r>
            <a:r>
              <a:rPr sz="2000" dirty="0">
                <a:latin typeface="Arial"/>
                <a:cs typeface="Arial"/>
              </a:rPr>
              <a:t>iterate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from  beginning to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end</a:t>
            </a:r>
            <a:endParaRPr sz="2000">
              <a:latin typeface="Arial"/>
              <a:cs typeface="Arial"/>
            </a:endParaRPr>
          </a:p>
          <a:p>
            <a:pPr marL="469900" marR="438150" indent="-45720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5000"/>
              <a:buChar char="•"/>
              <a:tabLst>
                <a:tab pos="469265" algn="l"/>
                <a:tab pos="469900" algn="l"/>
              </a:tabLst>
            </a:pPr>
            <a:r>
              <a:rPr sz="2000" dirty="0">
                <a:latin typeface="Arial"/>
                <a:cs typeface="Arial"/>
              </a:rPr>
              <a:t>Not thread-safe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because  business logic is stateful  (mutable accumulator  variable)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60883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Internal Iteration </a:t>
            </a:r>
            <a:r>
              <a:rPr spc="-10" dirty="0"/>
              <a:t>With </a:t>
            </a:r>
            <a:r>
              <a:rPr spc="-5" dirty="0"/>
              <a:t>Inner</a:t>
            </a:r>
            <a:r>
              <a:rPr spc="40" dirty="0"/>
              <a:t> </a:t>
            </a:r>
            <a:r>
              <a:rPr spc="-5" dirty="0"/>
              <a:t>Classes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7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11851" y="1134871"/>
            <a:ext cx="3495040" cy="3364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5282A0"/>
              </a:buClr>
              <a:buSzPct val="83333"/>
              <a:buFont typeface="Wingdings"/>
              <a:buChar char=""/>
              <a:tabLst>
                <a:tab pos="180340" algn="l"/>
              </a:tabLst>
            </a:pPr>
            <a:r>
              <a:rPr sz="1800" spc="-5" dirty="0">
                <a:latin typeface="Arial"/>
                <a:cs typeface="Arial"/>
              </a:rPr>
              <a:t>Iteration, filtering and  accumulation are handled by </a:t>
            </a:r>
            <a:r>
              <a:rPr sz="1800" dirty="0">
                <a:latin typeface="Arial"/>
                <a:cs typeface="Arial"/>
              </a:rPr>
              <a:t>the  </a:t>
            </a:r>
            <a:r>
              <a:rPr sz="1800" spc="-5" dirty="0">
                <a:latin typeface="Arial"/>
                <a:cs typeface="Arial"/>
              </a:rPr>
              <a:t>library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3333"/>
              <a:buFont typeface="Wingdings"/>
              <a:buChar char=""/>
              <a:tabLst>
                <a:tab pos="180340" algn="l"/>
              </a:tabLst>
            </a:pPr>
            <a:r>
              <a:rPr sz="1800" spc="-5" dirty="0">
                <a:latin typeface="Arial"/>
                <a:cs typeface="Arial"/>
              </a:rPr>
              <a:t>Not inherently serial </a:t>
            </a:r>
            <a:r>
              <a:rPr sz="1800" dirty="0">
                <a:latin typeface="Arial"/>
                <a:cs typeface="Arial"/>
              </a:rPr>
              <a:t>–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traversal</a:t>
            </a:r>
            <a:endParaRPr sz="1800">
              <a:latin typeface="Arial"/>
              <a:cs typeface="Arial"/>
            </a:endParaRPr>
          </a:p>
          <a:p>
            <a:pPr marL="179705">
              <a:lnSpc>
                <a:spcPct val="100000"/>
              </a:lnSpc>
            </a:pPr>
            <a:r>
              <a:rPr sz="1800" i="1" spc="-10" dirty="0">
                <a:latin typeface="Arial"/>
                <a:cs typeface="Arial"/>
              </a:rPr>
              <a:t>may </a:t>
            </a:r>
            <a:r>
              <a:rPr sz="1800" spc="-5" dirty="0">
                <a:latin typeface="Arial"/>
                <a:cs typeface="Arial"/>
              </a:rPr>
              <a:t>be done in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parallel</a:t>
            </a:r>
            <a:endParaRPr sz="1800">
              <a:latin typeface="Arial"/>
              <a:cs typeface="Arial"/>
            </a:endParaRPr>
          </a:p>
          <a:p>
            <a:pPr marL="180340" marR="21590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3333"/>
              <a:buFont typeface="Wingdings"/>
              <a:buChar char=""/>
              <a:tabLst>
                <a:tab pos="180340" algn="l"/>
              </a:tabLst>
            </a:pPr>
            <a:r>
              <a:rPr sz="1800" spc="-10" dirty="0">
                <a:latin typeface="Arial"/>
                <a:cs typeface="Arial"/>
              </a:rPr>
              <a:t>Traversal </a:t>
            </a:r>
            <a:r>
              <a:rPr sz="1800" i="1" spc="-10" dirty="0">
                <a:latin typeface="Arial"/>
                <a:cs typeface="Arial"/>
              </a:rPr>
              <a:t>may </a:t>
            </a:r>
            <a:r>
              <a:rPr sz="1800" spc="-5" dirty="0">
                <a:latin typeface="Arial"/>
                <a:cs typeface="Arial"/>
              </a:rPr>
              <a:t>be done lazily </a:t>
            </a:r>
            <a:r>
              <a:rPr sz="1800" dirty="0">
                <a:latin typeface="Arial"/>
                <a:cs typeface="Arial"/>
              </a:rPr>
              <a:t>–  </a:t>
            </a:r>
            <a:r>
              <a:rPr sz="1800" spc="-5" dirty="0">
                <a:latin typeface="Arial"/>
                <a:cs typeface="Arial"/>
              </a:rPr>
              <a:t>so one pass, rather than</a:t>
            </a:r>
            <a:r>
              <a:rPr sz="1800" spc="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three</a:t>
            </a:r>
            <a:endParaRPr sz="1800">
              <a:latin typeface="Arial"/>
              <a:cs typeface="Arial"/>
            </a:endParaRPr>
          </a:p>
          <a:p>
            <a:pPr marL="180340" marR="538480" indent="-167640">
              <a:lnSpc>
                <a:spcPct val="100000"/>
              </a:lnSpc>
              <a:spcBef>
                <a:spcPts val="605"/>
              </a:spcBef>
              <a:buClr>
                <a:srgbClr val="5282A0"/>
              </a:buClr>
              <a:buSzPct val="83333"/>
              <a:buFont typeface="Wingdings"/>
              <a:buChar char=""/>
              <a:tabLst>
                <a:tab pos="180340" algn="l"/>
              </a:tabLst>
            </a:pPr>
            <a:r>
              <a:rPr sz="1800" spc="-5" dirty="0">
                <a:latin typeface="Arial"/>
                <a:cs typeface="Arial"/>
              </a:rPr>
              <a:t>Thread </a:t>
            </a:r>
            <a:r>
              <a:rPr sz="1800" dirty="0">
                <a:latin typeface="Arial"/>
                <a:cs typeface="Arial"/>
              </a:rPr>
              <a:t>safe – </a:t>
            </a:r>
            <a:r>
              <a:rPr sz="1800" spc="-5" dirty="0">
                <a:latin typeface="Arial"/>
                <a:cs typeface="Arial"/>
              </a:rPr>
              <a:t>client logic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is  stateless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3333"/>
              <a:buFont typeface="Wingdings"/>
              <a:buChar char=""/>
              <a:tabLst>
                <a:tab pos="180340" algn="l"/>
              </a:tabLst>
            </a:pPr>
            <a:r>
              <a:rPr sz="1800" spc="-5" dirty="0">
                <a:latin typeface="Arial"/>
                <a:cs typeface="Arial"/>
              </a:rPr>
              <a:t>High barrier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use</a:t>
            </a:r>
            <a:endParaRPr sz="1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605"/>
              </a:spcBef>
              <a:tabLst>
                <a:tab pos="583565" algn="l"/>
              </a:tabLst>
            </a:pPr>
            <a:r>
              <a:rPr sz="1150" spc="15" dirty="0">
                <a:latin typeface="Arial"/>
                <a:cs typeface="Arial"/>
              </a:rPr>
              <a:t>–	</a:t>
            </a:r>
            <a:r>
              <a:rPr sz="1400" dirty="0">
                <a:latin typeface="Arial"/>
                <a:cs typeface="Arial"/>
              </a:rPr>
              <a:t>Syntactically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ugly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9298" y="1032484"/>
            <a:ext cx="5027295" cy="36322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List&lt;Student&gt; students </a:t>
            </a:r>
            <a:r>
              <a:rPr sz="1400" b="1" dirty="0">
                <a:solidFill>
                  <a:srgbClr val="006FC0"/>
                </a:solidFill>
                <a:latin typeface="Courier New"/>
                <a:cs typeface="Courier New"/>
              </a:rPr>
              <a:t>=</a:t>
            </a:r>
            <a:r>
              <a:rPr sz="1400" b="1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...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double highestScore </a:t>
            </a:r>
            <a:r>
              <a:rPr sz="1400" b="1" dirty="0">
                <a:solidFill>
                  <a:srgbClr val="006FC0"/>
                </a:solidFill>
                <a:latin typeface="Courier New"/>
                <a:cs typeface="Courier New"/>
              </a:rPr>
              <a:t>=</a:t>
            </a:r>
            <a:r>
              <a:rPr sz="1400" b="1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ourier New"/>
                <a:cs typeface="Courier New"/>
              </a:rPr>
              <a:t>students.stream().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505"/>
              </a:spcBef>
            </a:pPr>
            <a:r>
              <a:rPr sz="1400" b="1" spc="-10" dirty="0">
                <a:solidFill>
                  <a:srgbClr val="FF0000"/>
                </a:solidFill>
                <a:latin typeface="Courier New"/>
                <a:cs typeface="Courier New"/>
              </a:rPr>
              <a:t>filter</a:t>
            </a:r>
            <a:r>
              <a:rPr sz="1400" b="1" spc="-10" dirty="0">
                <a:solidFill>
                  <a:srgbClr val="006FC0"/>
                </a:solidFill>
                <a:latin typeface="Courier New"/>
                <a:cs typeface="Courier New"/>
              </a:rPr>
              <a:t>(new Predicate&lt;Student&gt;()</a:t>
            </a:r>
            <a:r>
              <a:rPr sz="1400" b="1" spc="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FC0"/>
                </a:solidFill>
                <a:latin typeface="Courier New"/>
                <a:cs typeface="Courier New"/>
              </a:rPr>
              <a:t>{</a:t>
            </a:r>
            <a:endParaRPr sz="1400" dirty="0">
              <a:latin typeface="Courier New"/>
              <a:cs typeface="Courier New"/>
            </a:endParaRPr>
          </a:p>
          <a:p>
            <a:pPr marL="652780" marR="1068705" indent="-213995">
              <a:lnSpc>
                <a:spcPct val="130000"/>
              </a:lnSpc>
            </a:pP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public boolean </a:t>
            </a:r>
            <a:r>
              <a:rPr sz="1400" b="1" spc="-10" dirty="0">
                <a:solidFill>
                  <a:srgbClr val="006FC0"/>
                </a:solidFill>
                <a:latin typeface="Courier New"/>
                <a:cs typeface="Courier New"/>
              </a:rPr>
              <a:t>test(Student 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s) </a:t>
            </a:r>
            <a:r>
              <a:rPr sz="1400" b="1" dirty="0">
                <a:solidFill>
                  <a:srgbClr val="006FC0"/>
                </a:solidFill>
                <a:latin typeface="Courier New"/>
                <a:cs typeface="Courier New"/>
              </a:rPr>
              <a:t>{  </a:t>
            </a:r>
            <a:r>
              <a:rPr sz="1400" b="1" spc="-10" dirty="0">
                <a:solidFill>
                  <a:srgbClr val="006FC0"/>
                </a:solidFill>
                <a:latin typeface="Courier New"/>
                <a:cs typeface="Courier New"/>
              </a:rPr>
              <a:t>return </a:t>
            </a: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s.getGradYear() ==</a:t>
            </a:r>
            <a:r>
              <a:rPr sz="1400" b="1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2011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;</a:t>
            </a:r>
            <a:endParaRPr sz="1400" dirty="0">
              <a:latin typeface="Courier New"/>
              <a:cs typeface="Courier New"/>
            </a:endParaRPr>
          </a:p>
          <a:p>
            <a:pPr marL="438784">
              <a:lnSpc>
                <a:spcPct val="100000"/>
              </a:lnSpc>
              <a:spcBef>
                <a:spcPts val="505"/>
              </a:spcBef>
            </a:pPr>
            <a:r>
              <a:rPr sz="1400" b="1" dirty="0">
                <a:solidFill>
                  <a:srgbClr val="006FC0"/>
                </a:solidFill>
                <a:latin typeface="Courier New"/>
                <a:cs typeface="Courier New"/>
              </a:rPr>
              <a:t>}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505"/>
              </a:spcBef>
            </a:pP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}).</a:t>
            </a:r>
            <a:endParaRPr sz="1400" dirty="0">
              <a:latin typeface="Courier New"/>
              <a:cs typeface="Courier New"/>
            </a:endParaRPr>
          </a:p>
          <a:p>
            <a:pPr marL="438784" marR="5080" indent="-213360">
              <a:lnSpc>
                <a:spcPct val="130000"/>
              </a:lnSpc>
              <a:spcBef>
                <a:spcPts val="5"/>
              </a:spcBef>
            </a:pP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mapToDouble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(new </a:t>
            </a:r>
            <a:r>
              <a:rPr sz="1400" b="1" spc="-10" dirty="0">
                <a:solidFill>
                  <a:srgbClr val="006FC0"/>
                </a:solidFill>
                <a:latin typeface="Courier New"/>
                <a:cs typeface="Courier New"/>
              </a:rPr>
              <a:t>ToDoubleFunction&lt;Student&gt;() </a:t>
            </a:r>
            <a:r>
              <a:rPr sz="1400" b="1" dirty="0">
                <a:solidFill>
                  <a:srgbClr val="006FC0"/>
                </a:solidFill>
                <a:latin typeface="Courier New"/>
                <a:cs typeface="Courier New"/>
              </a:rPr>
              <a:t>{  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public Double applyAsDouble(Student s)</a:t>
            </a:r>
            <a:r>
              <a:rPr sz="1400" b="1" spc="-10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FC0"/>
                </a:solidFill>
                <a:latin typeface="Courier New"/>
                <a:cs typeface="Courier New"/>
              </a:rPr>
              <a:t>{</a:t>
            </a:r>
            <a:endParaRPr sz="1400" dirty="0">
              <a:latin typeface="Courier New"/>
              <a:cs typeface="Courier New"/>
            </a:endParaRPr>
          </a:p>
          <a:p>
            <a:pPr marL="652780">
              <a:lnSpc>
                <a:spcPct val="100000"/>
              </a:lnSpc>
              <a:spcBef>
                <a:spcPts val="500"/>
              </a:spcBef>
            </a:pPr>
            <a:r>
              <a:rPr sz="1400" b="1" spc="-10" dirty="0">
                <a:solidFill>
                  <a:srgbClr val="006FC0"/>
                </a:solidFill>
                <a:latin typeface="Courier New"/>
                <a:cs typeface="Courier New"/>
              </a:rPr>
              <a:t>return </a:t>
            </a: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s.getScore()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;</a:t>
            </a:r>
            <a:endParaRPr sz="1400" dirty="0">
              <a:latin typeface="Courier New"/>
              <a:cs typeface="Courier New"/>
            </a:endParaRPr>
          </a:p>
          <a:p>
            <a:pPr marL="438784">
              <a:lnSpc>
                <a:spcPct val="100000"/>
              </a:lnSpc>
              <a:spcBef>
                <a:spcPts val="505"/>
              </a:spcBef>
            </a:pPr>
            <a:r>
              <a:rPr sz="1400" b="1" dirty="0">
                <a:solidFill>
                  <a:srgbClr val="006FC0"/>
                </a:solidFill>
                <a:latin typeface="Courier New"/>
                <a:cs typeface="Courier New"/>
              </a:rPr>
              <a:t>}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505"/>
              </a:spcBef>
            </a:pP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}).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505"/>
              </a:spcBef>
            </a:pP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max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();</a:t>
            </a:r>
            <a:endParaRPr sz="1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5335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Internal Iteration </a:t>
            </a:r>
            <a:r>
              <a:rPr spc="-10" dirty="0"/>
              <a:t>With</a:t>
            </a:r>
            <a:r>
              <a:rPr spc="5" dirty="0"/>
              <a:t> </a:t>
            </a:r>
            <a:r>
              <a:rPr spc="-5" dirty="0"/>
              <a:t>Lambdas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8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3204" y="947520"/>
            <a:ext cx="6010910" cy="14033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600" b="1" spc="-5" dirty="0">
                <a:solidFill>
                  <a:srgbClr val="006FC0"/>
                </a:solidFill>
                <a:latin typeface="Courier New"/>
                <a:cs typeface="Courier New"/>
              </a:rPr>
              <a:t>SomeList&lt;Student&gt; students =</a:t>
            </a:r>
            <a:r>
              <a:rPr sz="1600" b="1" spc="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  <a:p>
            <a:pPr marL="500380" marR="5080" indent="-487680">
              <a:lnSpc>
                <a:spcPct val="141300"/>
              </a:lnSpc>
            </a:pPr>
            <a:r>
              <a:rPr sz="1600" b="1" spc="-5" dirty="0">
                <a:solidFill>
                  <a:srgbClr val="006FC0"/>
                </a:solidFill>
                <a:latin typeface="Courier New"/>
                <a:cs typeface="Courier New"/>
              </a:rPr>
              <a:t>double highestScore = students.stream().  </a:t>
            </a: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filter</a:t>
            </a:r>
            <a:r>
              <a:rPr sz="1600" b="1" spc="-5" dirty="0">
                <a:solidFill>
                  <a:srgbClr val="006FC0"/>
                </a:solidFill>
                <a:latin typeface="Courier New"/>
                <a:cs typeface="Courier New"/>
              </a:rPr>
              <a:t>(Student s -&gt; s.getGradYear() == 2011).  </a:t>
            </a: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mapToDouble</a:t>
            </a:r>
            <a:r>
              <a:rPr sz="1600" b="1" spc="-5" dirty="0">
                <a:solidFill>
                  <a:srgbClr val="006FC0"/>
                </a:solidFill>
                <a:latin typeface="Courier New"/>
                <a:cs typeface="Courier New"/>
              </a:rPr>
              <a:t>(Student s -&gt;</a:t>
            </a:r>
            <a:r>
              <a:rPr sz="1600" b="1" spc="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ourier New"/>
                <a:cs typeface="Courier New"/>
              </a:rPr>
              <a:t>s.getScore()).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0883" y="2426334"/>
            <a:ext cx="758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max</a:t>
            </a:r>
            <a:r>
              <a:rPr sz="1600" b="1" spc="-5" dirty="0">
                <a:solidFill>
                  <a:srgbClr val="006FC0"/>
                </a:solidFill>
                <a:latin typeface="Courier New"/>
                <a:cs typeface="Courier New"/>
              </a:rPr>
              <a:t>();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73065" y="2426589"/>
            <a:ext cx="3101340" cy="17786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00"/>
              </a:spcBef>
              <a:buClr>
                <a:srgbClr val="5282A0"/>
              </a:buClr>
              <a:buSzPct val="83333"/>
              <a:buChar char="•"/>
              <a:tabLst>
                <a:tab pos="180340" algn="l"/>
              </a:tabLst>
            </a:pPr>
            <a:r>
              <a:rPr sz="1800" spc="-5" dirty="0">
                <a:latin typeface="Arial"/>
                <a:cs typeface="Arial"/>
              </a:rPr>
              <a:t>More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readable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3333"/>
              <a:buChar char="•"/>
              <a:tabLst>
                <a:tab pos="180340" algn="l"/>
              </a:tabLst>
            </a:pPr>
            <a:r>
              <a:rPr sz="1800" spc="-5" dirty="0">
                <a:latin typeface="Arial"/>
                <a:cs typeface="Arial"/>
              </a:rPr>
              <a:t>More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abstract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3333"/>
              <a:buChar char="•"/>
              <a:tabLst>
                <a:tab pos="180340" algn="l"/>
              </a:tabLst>
            </a:pPr>
            <a:r>
              <a:rPr sz="1800" spc="-5" dirty="0">
                <a:latin typeface="Arial"/>
                <a:cs typeface="Arial"/>
              </a:rPr>
              <a:t>Less error-prone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3333"/>
              <a:buChar char="•"/>
              <a:tabLst>
                <a:tab pos="180340" algn="l"/>
              </a:tabLst>
            </a:pPr>
            <a:r>
              <a:rPr sz="1800" spc="-5" dirty="0">
                <a:latin typeface="Arial"/>
                <a:cs typeface="Arial"/>
              </a:rPr>
              <a:t>No reliance on mutable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state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3333"/>
              <a:buChar char="•"/>
              <a:tabLst>
                <a:tab pos="180340" algn="l"/>
              </a:tabLst>
            </a:pPr>
            <a:r>
              <a:rPr sz="1800" spc="-5" dirty="0">
                <a:latin typeface="Arial"/>
                <a:cs typeface="Arial"/>
              </a:rPr>
              <a:t>Easier to make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parallel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360108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Lambda</a:t>
            </a:r>
            <a:r>
              <a:rPr spc="-35" dirty="0"/>
              <a:t> </a:t>
            </a:r>
            <a:r>
              <a:rPr spc="-5" dirty="0"/>
              <a:t>Expressions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Some</a:t>
            </a:r>
            <a:r>
              <a:rPr sz="2000" b="0" spc="-2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Details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6790" y="1415679"/>
            <a:ext cx="7806690" cy="262509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45745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246379" algn="l"/>
              </a:tabLst>
            </a:pPr>
            <a:r>
              <a:rPr sz="2000" dirty="0">
                <a:latin typeface="Arial"/>
                <a:cs typeface="Arial"/>
              </a:rPr>
              <a:t>Lambda expressions represent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anonymous</a:t>
            </a:r>
            <a:r>
              <a:rPr sz="2000" spc="-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functions</a:t>
            </a:r>
            <a:endParaRPr sz="2000">
              <a:latin typeface="Arial"/>
              <a:cs typeface="Arial"/>
            </a:endParaRPr>
          </a:p>
          <a:p>
            <a:pPr marL="650240" marR="508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650875" algn="l"/>
              </a:tabLst>
            </a:pPr>
            <a:r>
              <a:rPr sz="1800" spc="-5" dirty="0">
                <a:latin typeface="Arial"/>
                <a:cs typeface="Arial"/>
              </a:rPr>
              <a:t>Like a method, has a </a:t>
            </a:r>
            <a:r>
              <a:rPr sz="1800" spc="-10" dirty="0">
                <a:latin typeface="Arial"/>
                <a:cs typeface="Arial"/>
              </a:rPr>
              <a:t>typed </a:t>
            </a:r>
            <a:r>
              <a:rPr sz="1800" spc="-5" dirty="0">
                <a:latin typeface="Arial"/>
                <a:cs typeface="Arial"/>
              </a:rPr>
              <a:t>argument list, a return </a:t>
            </a:r>
            <a:r>
              <a:rPr sz="1800" spc="-10" dirty="0">
                <a:latin typeface="Arial"/>
                <a:cs typeface="Arial"/>
              </a:rPr>
              <a:t>type, </a:t>
            </a:r>
            <a:r>
              <a:rPr sz="1800" spc="-5" dirty="0">
                <a:latin typeface="Arial"/>
                <a:cs typeface="Arial"/>
              </a:rPr>
              <a:t>a set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10" dirty="0">
                <a:latin typeface="Arial"/>
                <a:cs typeface="Arial"/>
              </a:rPr>
              <a:t>thrown  </a:t>
            </a:r>
            <a:r>
              <a:rPr sz="1800" spc="-5" dirty="0">
                <a:latin typeface="Arial"/>
                <a:cs typeface="Arial"/>
              </a:rPr>
              <a:t>exceptions, and a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body</a:t>
            </a:r>
            <a:endParaRPr sz="1800">
              <a:latin typeface="Arial"/>
              <a:cs typeface="Arial"/>
            </a:endParaRPr>
          </a:p>
          <a:p>
            <a:pPr marL="65024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650875" algn="l"/>
              </a:tabLst>
            </a:pPr>
            <a:r>
              <a:rPr sz="1800" spc="-5" dirty="0">
                <a:latin typeface="Arial"/>
                <a:cs typeface="Arial"/>
              </a:rPr>
              <a:t>Not associated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class</a:t>
            </a:r>
            <a:endParaRPr sz="1800">
              <a:latin typeface="Arial"/>
              <a:cs typeface="Arial"/>
            </a:endParaRPr>
          </a:p>
          <a:p>
            <a:pPr marL="245745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246379" algn="l"/>
              </a:tabLst>
            </a:pPr>
            <a:r>
              <a:rPr sz="2000" spc="-15" dirty="0">
                <a:latin typeface="Arial"/>
                <a:cs typeface="Arial"/>
              </a:rPr>
              <a:t>We </a:t>
            </a:r>
            <a:r>
              <a:rPr sz="2000" dirty="0">
                <a:latin typeface="Arial"/>
                <a:cs typeface="Arial"/>
              </a:rPr>
              <a:t>now have parameterized </a:t>
            </a:r>
            <a:r>
              <a:rPr sz="2000" spc="-10" dirty="0">
                <a:latin typeface="Arial"/>
                <a:cs typeface="Arial"/>
              </a:rPr>
              <a:t>behaviour, </a:t>
            </a:r>
            <a:r>
              <a:rPr sz="2000" dirty="0">
                <a:latin typeface="Arial"/>
                <a:cs typeface="Arial"/>
              </a:rPr>
              <a:t>not just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values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006FC0"/>
                </a:solidFill>
                <a:latin typeface="Courier New"/>
                <a:cs typeface="Courier New"/>
              </a:rPr>
              <a:t>double highestScore =</a:t>
            </a:r>
            <a:r>
              <a:rPr sz="1600" b="1" spc="5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ourier New"/>
                <a:cs typeface="Courier New"/>
              </a:rPr>
              <a:t>students.stream().</a:t>
            </a:r>
            <a:endParaRPr sz="1600">
              <a:latin typeface="Courier New"/>
              <a:cs typeface="Courier New"/>
            </a:endParaRPr>
          </a:p>
          <a:p>
            <a:pPr marL="1233170">
              <a:lnSpc>
                <a:spcPct val="100000"/>
              </a:lnSpc>
              <a:spcBef>
                <a:spcPts val="190"/>
              </a:spcBef>
            </a:pPr>
            <a:r>
              <a:rPr sz="1600" b="1" spc="-5" dirty="0">
                <a:solidFill>
                  <a:srgbClr val="006FC0"/>
                </a:solidFill>
                <a:latin typeface="Courier New"/>
                <a:cs typeface="Courier New"/>
              </a:rPr>
              <a:t>filter(</a:t>
            </a: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Student s -&gt; s.getGradYear() ==</a:t>
            </a:r>
            <a:r>
              <a:rPr sz="1600" b="1" spc="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2011</a:t>
            </a:r>
            <a:r>
              <a:rPr sz="1600" b="1" spc="-5" dirty="0">
                <a:solidFill>
                  <a:srgbClr val="006FC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2475" y="3991152"/>
            <a:ext cx="6203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What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7870" y="4015232"/>
            <a:ext cx="4667885" cy="1011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006FC0"/>
                </a:solidFill>
                <a:latin typeface="Courier New"/>
                <a:cs typeface="Courier New"/>
              </a:rPr>
              <a:t>mapToDouble(</a:t>
            </a: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Student s -&gt; s.getScore()</a:t>
            </a:r>
            <a:r>
              <a:rPr sz="1600" b="1" spc="-5" dirty="0">
                <a:solidFill>
                  <a:srgbClr val="006FC0"/>
                </a:solidFill>
                <a:latin typeface="Courier New"/>
                <a:cs typeface="Courier New"/>
              </a:rPr>
              <a:t>)  max();</a:t>
            </a:r>
            <a:endParaRPr sz="1600">
              <a:latin typeface="Courier New"/>
              <a:cs typeface="Courier New"/>
            </a:endParaRPr>
          </a:p>
          <a:p>
            <a:pPr marR="447040" algn="r">
              <a:lnSpc>
                <a:spcPct val="100000"/>
              </a:lnSpc>
              <a:spcBef>
                <a:spcPts val="1380"/>
              </a:spcBef>
            </a:pP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H</a:t>
            </a:r>
            <a:r>
              <a:rPr sz="1800" spc="-15" dirty="0">
                <a:solidFill>
                  <a:srgbClr val="424545"/>
                </a:solidFill>
                <a:latin typeface="Arial"/>
                <a:cs typeface="Arial"/>
              </a:rPr>
              <a:t>o</a:t>
            </a: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w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06780" y="3800855"/>
            <a:ext cx="1199388" cy="4404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8855" y="3903090"/>
            <a:ext cx="999490" cy="276225"/>
          </a:xfrm>
          <a:custGeom>
            <a:avLst/>
            <a:gdLst/>
            <a:ahLst/>
            <a:cxnLst/>
            <a:rect l="l" t="t" r="r" b="b"/>
            <a:pathLst>
              <a:path w="999489" h="276225">
                <a:moveTo>
                  <a:pt x="924276" y="39437"/>
                </a:moveTo>
                <a:lnTo>
                  <a:pt x="0" y="250520"/>
                </a:lnTo>
                <a:lnTo>
                  <a:pt x="5765" y="275780"/>
                </a:lnTo>
                <a:lnTo>
                  <a:pt x="930000" y="64695"/>
                </a:lnTo>
                <a:lnTo>
                  <a:pt x="948798" y="47120"/>
                </a:lnTo>
                <a:lnTo>
                  <a:pt x="924276" y="39437"/>
                </a:lnTo>
                <a:close/>
              </a:path>
              <a:path w="999489" h="276225">
                <a:moveTo>
                  <a:pt x="976881" y="28765"/>
                </a:moveTo>
                <a:lnTo>
                  <a:pt x="971003" y="28765"/>
                </a:lnTo>
                <a:lnTo>
                  <a:pt x="976718" y="54025"/>
                </a:lnTo>
                <a:lnTo>
                  <a:pt x="930000" y="64695"/>
                </a:lnTo>
                <a:lnTo>
                  <a:pt x="894041" y="98336"/>
                </a:lnTo>
                <a:lnTo>
                  <a:pt x="893787" y="106540"/>
                </a:lnTo>
                <a:lnTo>
                  <a:pt x="898740" y="111760"/>
                </a:lnTo>
                <a:lnTo>
                  <a:pt x="903566" y="116979"/>
                </a:lnTo>
                <a:lnTo>
                  <a:pt x="911821" y="117246"/>
                </a:lnTo>
                <a:lnTo>
                  <a:pt x="998943" y="35674"/>
                </a:lnTo>
                <a:lnTo>
                  <a:pt x="976881" y="28765"/>
                </a:lnTo>
                <a:close/>
              </a:path>
              <a:path w="999489" h="276225">
                <a:moveTo>
                  <a:pt x="948798" y="47120"/>
                </a:moveTo>
                <a:lnTo>
                  <a:pt x="930000" y="64695"/>
                </a:lnTo>
                <a:lnTo>
                  <a:pt x="976718" y="54025"/>
                </a:lnTo>
                <a:lnTo>
                  <a:pt x="976658" y="53759"/>
                </a:lnTo>
                <a:lnTo>
                  <a:pt x="969987" y="53759"/>
                </a:lnTo>
                <a:lnTo>
                  <a:pt x="948798" y="47120"/>
                </a:lnTo>
                <a:close/>
              </a:path>
              <a:path w="999489" h="276225">
                <a:moveTo>
                  <a:pt x="965034" y="31940"/>
                </a:moveTo>
                <a:lnTo>
                  <a:pt x="948798" y="47120"/>
                </a:lnTo>
                <a:lnTo>
                  <a:pt x="969987" y="53759"/>
                </a:lnTo>
                <a:lnTo>
                  <a:pt x="965034" y="31940"/>
                </a:lnTo>
                <a:close/>
              </a:path>
              <a:path w="999489" h="276225">
                <a:moveTo>
                  <a:pt x="971722" y="31940"/>
                </a:moveTo>
                <a:lnTo>
                  <a:pt x="965034" y="31940"/>
                </a:lnTo>
                <a:lnTo>
                  <a:pt x="969987" y="53759"/>
                </a:lnTo>
                <a:lnTo>
                  <a:pt x="976658" y="53759"/>
                </a:lnTo>
                <a:lnTo>
                  <a:pt x="971722" y="31940"/>
                </a:lnTo>
                <a:close/>
              </a:path>
              <a:path w="999489" h="276225">
                <a:moveTo>
                  <a:pt x="971003" y="28765"/>
                </a:moveTo>
                <a:lnTo>
                  <a:pt x="924276" y="39437"/>
                </a:lnTo>
                <a:lnTo>
                  <a:pt x="948798" y="47120"/>
                </a:lnTo>
                <a:lnTo>
                  <a:pt x="965034" y="31940"/>
                </a:lnTo>
                <a:lnTo>
                  <a:pt x="971722" y="31940"/>
                </a:lnTo>
                <a:lnTo>
                  <a:pt x="971003" y="28765"/>
                </a:lnTo>
                <a:close/>
              </a:path>
              <a:path w="999489" h="276225">
                <a:moveTo>
                  <a:pt x="885024" y="0"/>
                </a:moveTo>
                <a:lnTo>
                  <a:pt x="877785" y="3797"/>
                </a:lnTo>
                <a:lnTo>
                  <a:pt x="873467" y="17462"/>
                </a:lnTo>
                <a:lnTo>
                  <a:pt x="877277" y="24726"/>
                </a:lnTo>
                <a:lnTo>
                  <a:pt x="924276" y="39437"/>
                </a:lnTo>
                <a:lnTo>
                  <a:pt x="971003" y="28765"/>
                </a:lnTo>
                <a:lnTo>
                  <a:pt x="976881" y="28765"/>
                </a:lnTo>
                <a:lnTo>
                  <a:pt x="885024" y="0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05255" y="4082796"/>
            <a:ext cx="1191768" cy="3169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48042" y="4156265"/>
            <a:ext cx="990600" cy="120650"/>
          </a:xfrm>
          <a:custGeom>
            <a:avLst/>
            <a:gdLst/>
            <a:ahLst/>
            <a:cxnLst/>
            <a:rect l="l" t="t" r="r" b="b"/>
            <a:pathLst>
              <a:path w="990600" h="120650">
                <a:moveTo>
                  <a:pt x="916324" y="74471"/>
                </a:moveTo>
                <a:lnTo>
                  <a:pt x="872629" y="97116"/>
                </a:lnTo>
                <a:lnTo>
                  <a:pt x="870089" y="104927"/>
                </a:lnTo>
                <a:lnTo>
                  <a:pt x="876693" y="117640"/>
                </a:lnTo>
                <a:lnTo>
                  <a:pt x="884440" y="120116"/>
                </a:lnTo>
                <a:lnTo>
                  <a:pt x="967991" y="76860"/>
                </a:lnTo>
                <a:lnTo>
                  <a:pt x="964069" y="76860"/>
                </a:lnTo>
                <a:lnTo>
                  <a:pt x="916324" y="74471"/>
                </a:lnTo>
                <a:close/>
              </a:path>
              <a:path w="990600" h="120650">
                <a:moveTo>
                  <a:pt x="939125" y="62654"/>
                </a:moveTo>
                <a:lnTo>
                  <a:pt x="916324" y="74471"/>
                </a:lnTo>
                <a:lnTo>
                  <a:pt x="964069" y="76860"/>
                </a:lnTo>
                <a:lnTo>
                  <a:pt x="964182" y="74777"/>
                </a:lnTo>
                <a:lnTo>
                  <a:pt x="957719" y="74777"/>
                </a:lnTo>
                <a:lnTo>
                  <a:pt x="939125" y="62654"/>
                </a:lnTo>
                <a:close/>
              </a:path>
              <a:path w="990600" h="120650">
                <a:moveTo>
                  <a:pt x="890536" y="0"/>
                </a:moveTo>
                <a:lnTo>
                  <a:pt x="882535" y="1689"/>
                </a:lnTo>
                <a:lnTo>
                  <a:pt x="874661" y="13677"/>
                </a:lnTo>
                <a:lnTo>
                  <a:pt x="876312" y="21704"/>
                </a:lnTo>
                <a:lnTo>
                  <a:pt x="917556" y="48593"/>
                </a:lnTo>
                <a:lnTo>
                  <a:pt x="965466" y="50990"/>
                </a:lnTo>
                <a:lnTo>
                  <a:pt x="964069" y="76860"/>
                </a:lnTo>
                <a:lnTo>
                  <a:pt x="967991" y="76860"/>
                </a:lnTo>
                <a:lnTo>
                  <a:pt x="990485" y="65214"/>
                </a:lnTo>
                <a:lnTo>
                  <a:pt x="890536" y="0"/>
                </a:lnTo>
                <a:close/>
              </a:path>
              <a:path w="990600" h="120650">
                <a:moveTo>
                  <a:pt x="958862" y="52425"/>
                </a:moveTo>
                <a:lnTo>
                  <a:pt x="939125" y="62654"/>
                </a:lnTo>
                <a:lnTo>
                  <a:pt x="957719" y="74777"/>
                </a:lnTo>
                <a:lnTo>
                  <a:pt x="958862" y="52425"/>
                </a:lnTo>
                <a:close/>
              </a:path>
              <a:path w="990600" h="120650">
                <a:moveTo>
                  <a:pt x="965389" y="52425"/>
                </a:moveTo>
                <a:lnTo>
                  <a:pt x="958862" y="52425"/>
                </a:lnTo>
                <a:lnTo>
                  <a:pt x="957719" y="74777"/>
                </a:lnTo>
                <a:lnTo>
                  <a:pt x="964182" y="74777"/>
                </a:lnTo>
                <a:lnTo>
                  <a:pt x="965389" y="52425"/>
                </a:lnTo>
                <a:close/>
              </a:path>
              <a:path w="990600" h="120650">
                <a:moveTo>
                  <a:pt x="1295" y="2743"/>
                </a:moveTo>
                <a:lnTo>
                  <a:pt x="0" y="28625"/>
                </a:lnTo>
                <a:lnTo>
                  <a:pt x="916324" y="74471"/>
                </a:lnTo>
                <a:lnTo>
                  <a:pt x="939125" y="62654"/>
                </a:lnTo>
                <a:lnTo>
                  <a:pt x="917556" y="48593"/>
                </a:lnTo>
                <a:lnTo>
                  <a:pt x="1295" y="2743"/>
                </a:lnTo>
                <a:close/>
              </a:path>
              <a:path w="990600" h="120650">
                <a:moveTo>
                  <a:pt x="917556" y="48593"/>
                </a:moveTo>
                <a:lnTo>
                  <a:pt x="939125" y="62654"/>
                </a:lnTo>
                <a:lnTo>
                  <a:pt x="958862" y="52425"/>
                </a:lnTo>
                <a:lnTo>
                  <a:pt x="965389" y="52425"/>
                </a:lnTo>
                <a:lnTo>
                  <a:pt x="965466" y="50990"/>
                </a:lnTo>
                <a:lnTo>
                  <a:pt x="917556" y="48593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9160" y="4151376"/>
            <a:ext cx="1207008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41933" y="4174781"/>
            <a:ext cx="1005840" cy="339725"/>
          </a:xfrm>
          <a:custGeom>
            <a:avLst/>
            <a:gdLst/>
            <a:ahLst/>
            <a:cxnLst/>
            <a:rect l="l" t="t" r="r" b="b"/>
            <a:pathLst>
              <a:path w="1005839" h="339725">
                <a:moveTo>
                  <a:pt x="931343" y="302868"/>
                </a:moveTo>
                <a:lnTo>
                  <a:pt x="883437" y="314477"/>
                </a:lnTo>
                <a:lnTo>
                  <a:pt x="879246" y="321475"/>
                </a:lnTo>
                <a:lnTo>
                  <a:pt x="882548" y="335381"/>
                </a:lnTo>
                <a:lnTo>
                  <a:pt x="889660" y="339661"/>
                </a:lnTo>
                <a:lnTo>
                  <a:pt x="984756" y="316585"/>
                </a:lnTo>
                <a:lnTo>
                  <a:pt x="977290" y="316585"/>
                </a:lnTo>
                <a:lnTo>
                  <a:pt x="931343" y="302868"/>
                </a:lnTo>
                <a:close/>
              </a:path>
              <a:path w="1005839" h="339725">
                <a:moveTo>
                  <a:pt x="956283" y="296824"/>
                </a:moveTo>
                <a:lnTo>
                  <a:pt x="931343" y="302868"/>
                </a:lnTo>
                <a:lnTo>
                  <a:pt x="977290" y="316585"/>
                </a:lnTo>
                <a:lnTo>
                  <a:pt x="978345" y="313029"/>
                </a:lnTo>
                <a:lnTo>
                  <a:pt x="971448" y="313029"/>
                </a:lnTo>
                <a:lnTo>
                  <a:pt x="956283" y="296824"/>
                </a:lnTo>
                <a:close/>
              </a:path>
              <a:path w="1005839" h="339725">
                <a:moveTo>
                  <a:pt x="915822" y="224142"/>
                </a:moveTo>
                <a:lnTo>
                  <a:pt x="905408" y="233921"/>
                </a:lnTo>
                <a:lnTo>
                  <a:pt x="905154" y="242125"/>
                </a:lnTo>
                <a:lnTo>
                  <a:pt x="909980" y="247345"/>
                </a:lnTo>
                <a:lnTo>
                  <a:pt x="938702" y="278037"/>
                </a:lnTo>
                <a:lnTo>
                  <a:pt x="984656" y="291757"/>
                </a:lnTo>
                <a:lnTo>
                  <a:pt x="977290" y="316585"/>
                </a:lnTo>
                <a:lnTo>
                  <a:pt x="984756" y="316585"/>
                </a:lnTo>
                <a:lnTo>
                  <a:pt x="1005611" y="311530"/>
                </a:lnTo>
                <a:lnTo>
                  <a:pt x="928903" y="229641"/>
                </a:lnTo>
                <a:lnTo>
                  <a:pt x="923950" y="224421"/>
                </a:lnTo>
                <a:lnTo>
                  <a:pt x="915822" y="224142"/>
                </a:lnTo>
                <a:close/>
              </a:path>
              <a:path w="1005839" h="339725">
                <a:moveTo>
                  <a:pt x="977925" y="291579"/>
                </a:moveTo>
                <a:lnTo>
                  <a:pt x="956283" y="296824"/>
                </a:lnTo>
                <a:lnTo>
                  <a:pt x="971448" y="313029"/>
                </a:lnTo>
                <a:lnTo>
                  <a:pt x="977925" y="291579"/>
                </a:lnTo>
                <a:close/>
              </a:path>
              <a:path w="1005839" h="339725">
                <a:moveTo>
                  <a:pt x="984060" y="291579"/>
                </a:moveTo>
                <a:lnTo>
                  <a:pt x="977925" y="291579"/>
                </a:lnTo>
                <a:lnTo>
                  <a:pt x="971448" y="313029"/>
                </a:lnTo>
                <a:lnTo>
                  <a:pt x="978345" y="313029"/>
                </a:lnTo>
                <a:lnTo>
                  <a:pt x="984656" y="291757"/>
                </a:lnTo>
                <a:lnTo>
                  <a:pt x="984060" y="291579"/>
                </a:lnTo>
                <a:close/>
              </a:path>
              <a:path w="1005839" h="339725">
                <a:moveTo>
                  <a:pt x="7416" y="0"/>
                </a:moveTo>
                <a:lnTo>
                  <a:pt x="0" y="24815"/>
                </a:lnTo>
                <a:lnTo>
                  <a:pt x="931343" y="302868"/>
                </a:lnTo>
                <a:lnTo>
                  <a:pt x="956283" y="296824"/>
                </a:lnTo>
                <a:lnTo>
                  <a:pt x="938702" y="278037"/>
                </a:lnTo>
                <a:lnTo>
                  <a:pt x="7416" y="0"/>
                </a:lnTo>
                <a:close/>
              </a:path>
              <a:path w="1005839" h="339725">
                <a:moveTo>
                  <a:pt x="938702" y="278037"/>
                </a:moveTo>
                <a:lnTo>
                  <a:pt x="956283" y="296824"/>
                </a:lnTo>
                <a:lnTo>
                  <a:pt x="977925" y="291579"/>
                </a:lnTo>
                <a:lnTo>
                  <a:pt x="984060" y="291579"/>
                </a:lnTo>
                <a:lnTo>
                  <a:pt x="938702" y="278037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48171" y="3928871"/>
            <a:ext cx="542544" cy="8397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90844" y="4066743"/>
            <a:ext cx="347345" cy="639445"/>
          </a:xfrm>
          <a:custGeom>
            <a:avLst/>
            <a:gdLst/>
            <a:ahLst/>
            <a:cxnLst/>
            <a:rect l="l" t="t" r="r" b="b"/>
            <a:pathLst>
              <a:path w="347345" h="639445">
                <a:moveTo>
                  <a:pt x="317899" y="45587"/>
                </a:moveTo>
                <a:lnTo>
                  <a:pt x="296079" y="59334"/>
                </a:lnTo>
                <a:lnTo>
                  <a:pt x="0" y="627049"/>
                </a:lnTo>
                <a:lnTo>
                  <a:pt x="22859" y="639038"/>
                </a:lnTo>
                <a:lnTo>
                  <a:pt x="319095" y="71240"/>
                </a:lnTo>
                <a:lnTo>
                  <a:pt x="317899" y="45587"/>
                </a:lnTo>
                <a:close/>
              </a:path>
              <a:path w="347345" h="639445">
                <a:moveTo>
                  <a:pt x="342429" y="16802"/>
                </a:moveTo>
                <a:lnTo>
                  <a:pt x="318261" y="16802"/>
                </a:lnTo>
                <a:lnTo>
                  <a:pt x="341248" y="28778"/>
                </a:lnTo>
                <a:lnTo>
                  <a:pt x="319095" y="71240"/>
                </a:lnTo>
                <a:lnTo>
                  <a:pt x="321055" y="113283"/>
                </a:lnTo>
                <a:lnTo>
                  <a:pt x="321436" y="120434"/>
                </a:lnTo>
                <a:lnTo>
                  <a:pt x="327532" y="125945"/>
                </a:lnTo>
                <a:lnTo>
                  <a:pt x="341756" y="125272"/>
                </a:lnTo>
                <a:lnTo>
                  <a:pt x="347344" y="119202"/>
                </a:lnTo>
                <a:lnTo>
                  <a:pt x="346963" y="112064"/>
                </a:lnTo>
                <a:lnTo>
                  <a:pt x="342429" y="16802"/>
                </a:lnTo>
                <a:close/>
              </a:path>
              <a:path w="347345" h="639445">
                <a:moveTo>
                  <a:pt x="341629" y="0"/>
                </a:moveTo>
                <a:lnTo>
                  <a:pt x="240664" y="63576"/>
                </a:lnTo>
                <a:lnTo>
                  <a:pt x="238886" y="71577"/>
                </a:lnTo>
                <a:lnTo>
                  <a:pt x="246506" y="83680"/>
                </a:lnTo>
                <a:lnTo>
                  <a:pt x="254507" y="85509"/>
                </a:lnTo>
                <a:lnTo>
                  <a:pt x="296079" y="59334"/>
                </a:lnTo>
                <a:lnTo>
                  <a:pt x="318261" y="16802"/>
                </a:lnTo>
                <a:lnTo>
                  <a:pt x="342429" y="16802"/>
                </a:lnTo>
                <a:lnTo>
                  <a:pt x="341629" y="0"/>
                </a:lnTo>
                <a:close/>
              </a:path>
              <a:path w="347345" h="639445">
                <a:moveTo>
                  <a:pt x="330937" y="23406"/>
                </a:moveTo>
                <a:lnTo>
                  <a:pt x="316864" y="23406"/>
                </a:lnTo>
                <a:lnTo>
                  <a:pt x="336676" y="33756"/>
                </a:lnTo>
                <a:lnTo>
                  <a:pt x="317899" y="45587"/>
                </a:lnTo>
                <a:lnTo>
                  <a:pt x="319095" y="71240"/>
                </a:lnTo>
                <a:lnTo>
                  <a:pt x="341248" y="28778"/>
                </a:lnTo>
                <a:lnTo>
                  <a:pt x="330937" y="23406"/>
                </a:lnTo>
                <a:close/>
              </a:path>
              <a:path w="347345" h="639445">
                <a:moveTo>
                  <a:pt x="318261" y="16802"/>
                </a:moveTo>
                <a:lnTo>
                  <a:pt x="296079" y="59334"/>
                </a:lnTo>
                <a:lnTo>
                  <a:pt x="317899" y="45587"/>
                </a:lnTo>
                <a:lnTo>
                  <a:pt x="316864" y="23406"/>
                </a:lnTo>
                <a:lnTo>
                  <a:pt x="330937" y="23406"/>
                </a:lnTo>
                <a:lnTo>
                  <a:pt x="318261" y="16802"/>
                </a:lnTo>
                <a:close/>
              </a:path>
              <a:path w="347345" h="639445">
                <a:moveTo>
                  <a:pt x="316864" y="23406"/>
                </a:moveTo>
                <a:lnTo>
                  <a:pt x="317899" y="45587"/>
                </a:lnTo>
                <a:lnTo>
                  <a:pt x="336676" y="33756"/>
                </a:lnTo>
                <a:lnTo>
                  <a:pt x="316864" y="23406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175503" y="4218432"/>
            <a:ext cx="876300" cy="5349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33238" y="4346879"/>
            <a:ext cx="675640" cy="344170"/>
          </a:xfrm>
          <a:custGeom>
            <a:avLst/>
            <a:gdLst/>
            <a:ahLst/>
            <a:cxnLst/>
            <a:rect l="l" t="t" r="r" b="b"/>
            <a:pathLst>
              <a:path w="675639" h="344170">
                <a:moveTo>
                  <a:pt x="71877" y="29724"/>
                </a:moveTo>
                <a:lnTo>
                  <a:pt x="46224" y="31761"/>
                </a:lnTo>
                <a:lnTo>
                  <a:pt x="60597" y="53016"/>
                </a:lnTo>
                <a:lnTo>
                  <a:pt x="664337" y="343814"/>
                </a:lnTo>
                <a:lnTo>
                  <a:pt x="675513" y="320471"/>
                </a:lnTo>
                <a:lnTo>
                  <a:pt x="71877" y="29724"/>
                </a:lnTo>
                <a:close/>
              </a:path>
              <a:path w="675639" h="344170">
                <a:moveTo>
                  <a:pt x="118872" y="0"/>
                </a:moveTo>
                <a:lnTo>
                  <a:pt x="0" y="9448"/>
                </a:lnTo>
                <a:lnTo>
                  <a:pt x="62737" y="102425"/>
                </a:lnTo>
                <a:lnTo>
                  <a:pt x="66675" y="108356"/>
                </a:lnTo>
                <a:lnTo>
                  <a:pt x="74802" y="109918"/>
                </a:lnTo>
                <a:lnTo>
                  <a:pt x="80645" y="105917"/>
                </a:lnTo>
                <a:lnTo>
                  <a:pt x="86613" y="101904"/>
                </a:lnTo>
                <a:lnTo>
                  <a:pt x="88137" y="93853"/>
                </a:lnTo>
                <a:lnTo>
                  <a:pt x="84200" y="87922"/>
                </a:lnTo>
                <a:lnTo>
                  <a:pt x="60597" y="53016"/>
                </a:lnTo>
                <a:lnTo>
                  <a:pt x="17525" y="32270"/>
                </a:lnTo>
                <a:lnTo>
                  <a:pt x="28701" y="8928"/>
                </a:lnTo>
                <a:lnTo>
                  <a:pt x="125415" y="8928"/>
                </a:lnTo>
                <a:lnTo>
                  <a:pt x="125095" y="5321"/>
                </a:lnTo>
                <a:lnTo>
                  <a:pt x="118872" y="0"/>
                </a:lnTo>
                <a:close/>
              </a:path>
              <a:path w="675639" h="344170">
                <a:moveTo>
                  <a:pt x="28701" y="8928"/>
                </a:moveTo>
                <a:lnTo>
                  <a:pt x="17525" y="32270"/>
                </a:lnTo>
                <a:lnTo>
                  <a:pt x="60597" y="53016"/>
                </a:lnTo>
                <a:lnTo>
                  <a:pt x="47410" y="33515"/>
                </a:lnTo>
                <a:lnTo>
                  <a:pt x="24129" y="33515"/>
                </a:lnTo>
                <a:lnTo>
                  <a:pt x="33782" y="13360"/>
                </a:lnTo>
                <a:lnTo>
                  <a:pt x="37904" y="13360"/>
                </a:lnTo>
                <a:lnTo>
                  <a:pt x="28701" y="8928"/>
                </a:lnTo>
                <a:close/>
              </a:path>
              <a:path w="675639" h="344170">
                <a:moveTo>
                  <a:pt x="33782" y="13360"/>
                </a:moveTo>
                <a:lnTo>
                  <a:pt x="24129" y="33515"/>
                </a:lnTo>
                <a:lnTo>
                  <a:pt x="46224" y="31761"/>
                </a:lnTo>
                <a:lnTo>
                  <a:pt x="33782" y="13360"/>
                </a:lnTo>
                <a:close/>
              </a:path>
              <a:path w="675639" h="344170">
                <a:moveTo>
                  <a:pt x="46224" y="31761"/>
                </a:moveTo>
                <a:lnTo>
                  <a:pt x="24129" y="33515"/>
                </a:lnTo>
                <a:lnTo>
                  <a:pt x="47410" y="33515"/>
                </a:lnTo>
                <a:lnTo>
                  <a:pt x="46224" y="31761"/>
                </a:lnTo>
                <a:close/>
              </a:path>
              <a:path w="675639" h="344170">
                <a:moveTo>
                  <a:pt x="37904" y="13360"/>
                </a:moveTo>
                <a:lnTo>
                  <a:pt x="33782" y="13360"/>
                </a:lnTo>
                <a:lnTo>
                  <a:pt x="46224" y="31761"/>
                </a:lnTo>
                <a:lnTo>
                  <a:pt x="71877" y="29724"/>
                </a:lnTo>
                <a:lnTo>
                  <a:pt x="37904" y="13360"/>
                </a:lnTo>
                <a:close/>
              </a:path>
              <a:path w="675639" h="344170">
                <a:moveTo>
                  <a:pt x="125415" y="8928"/>
                </a:moveTo>
                <a:lnTo>
                  <a:pt x="28701" y="8928"/>
                </a:lnTo>
                <a:lnTo>
                  <a:pt x="71877" y="29724"/>
                </a:lnTo>
                <a:lnTo>
                  <a:pt x="120903" y="25831"/>
                </a:lnTo>
                <a:lnTo>
                  <a:pt x="126237" y="19583"/>
                </a:lnTo>
                <a:lnTo>
                  <a:pt x="125729" y="12458"/>
                </a:lnTo>
                <a:lnTo>
                  <a:pt x="125415" y="8928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9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415679"/>
            <a:ext cx="7781290" cy="326961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Definition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dirty="0">
                <a:latin typeface="Arial"/>
                <a:cs typeface="Arial"/>
              </a:rPr>
              <a:t>A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functional interface </a:t>
            </a:r>
            <a:r>
              <a:rPr sz="1800" spc="-5" dirty="0">
                <a:latin typeface="Arial"/>
                <a:cs typeface="Arial"/>
              </a:rPr>
              <a:t>is an interface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only one abstract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25" dirty="0">
                <a:latin typeface="Arial"/>
                <a:cs typeface="Arial"/>
              </a:rPr>
              <a:t>However,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interface may have more than one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Identified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structurally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30" dirty="0">
                <a:latin typeface="Arial"/>
                <a:cs typeface="Arial"/>
              </a:rPr>
              <a:t>Type </a:t>
            </a:r>
            <a:r>
              <a:rPr sz="1800" spc="-5" dirty="0">
                <a:latin typeface="Arial"/>
                <a:cs typeface="Arial"/>
              </a:rPr>
              <a:t>is inferred </a:t>
            </a:r>
            <a:r>
              <a:rPr sz="1800" dirty="0">
                <a:latin typeface="Arial"/>
                <a:cs typeface="Arial"/>
              </a:rPr>
              <a:t>from the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context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10" dirty="0">
                <a:latin typeface="Arial"/>
                <a:cs typeface="Arial"/>
              </a:rPr>
              <a:t>Works </a:t>
            </a:r>
            <a:r>
              <a:rPr sz="1800" spc="-5" dirty="0">
                <a:latin typeface="Arial"/>
                <a:cs typeface="Arial"/>
              </a:rPr>
              <a:t>for both assignment and method parameter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contexts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The type of a Lambda expression is a 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functional</a:t>
            </a:r>
            <a:r>
              <a:rPr sz="2000" i="1" spc="-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Instances of functional interfaces are created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Lambda</a:t>
            </a:r>
            <a:r>
              <a:rPr sz="1800" spc="1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expressions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480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solidFill>
                  <a:srgbClr val="3D6179"/>
                </a:solidFill>
                <a:latin typeface="Courier New"/>
                <a:cs typeface="Courier New"/>
              </a:rPr>
              <a:t>@FunctionalInterface</a:t>
            </a:r>
            <a:r>
              <a:rPr sz="1800" b="1" spc="-625" dirty="0">
                <a:solidFill>
                  <a:srgbClr val="3D617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annotation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10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360108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Lambda</a:t>
            </a:r>
            <a:r>
              <a:rPr spc="-35" dirty="0"/>
              <a:t> </a:t>
            </a:r>
            <a:r>
              <a:rPr spc="-5" dirty="0"/>
              <a:t>Expressions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Functional</a:t>
            </a:r>
            <a:r>
              <a:rPr sz="2000" b="0" spc="-2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Interfaces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5335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Internal Iteration </a:t>
            </a:r>
            <a:r>
              <a:rPr spc="-10" dirty="0"/>
              <a:t>With</a:t>
            </a:r>
            <a:r>
              <a:rPr spc="5" dirty="0"/>
              <a:t> </a:t>
            </a:r>
            <a:r>
              <a:rPr spc="-5" dirty="0"/>
              <a:t>Lambdas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3204" y="898516"/>
            <a:ext cx="8110220" cy="134493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400" b="1" spc="-10" dirty="0">
                <a:solidFill>
                  <a:srgbClr val="FF0000"/>
                </a:solidFill>
                <a:latin typeface="Courier New"/>
                <a:cs typeface="Courier New"/>
              </a:rPr>
              <a:t>filter</a:t>
            </a:r>
            <a:r>
              <a:rPr sz="2400" b="1" spc="-10" dirty="0">
                <a:solidFill>
                  <a:srgbClr val="006FC0"/>
                </a:solidFill>
                <a:latin typeface="Courier New"/>
                <a:cs typeface="Courier New"/>
              </a:rPr>
              <a:t>(Student </a:t>
            </a:r>
            <a:r>
              <a:rPr sz="2400" b="1" dirty="0">
                <a:solidFill>
                  <a:srgbClr val="006FC0"/>
                </a:solidFill>
                <a:latin typeface="Courier New"/>
                <a:cs typeface="Courier New"/>
              </a:rPr>
              <a:t>s </a:t>
            </a:r>
            <a:r>
              <a:rPr sz="2400" b="1" spc="-5" dirty="0">
                <a:solidFill>
                  <a:srgbClr val="006FC0"/>
                </a:solidFill>
                <a:latin typeface="Courier New"/>
                <a:cs typeface="Courier New"/>
              </a:rPr>
              <a:t>-&gt; </a:t>
            </a:r>
            <a:r>
              <a:rPr sz="2400" b="1" spc="-10" dirty="0">
                <a:solidFill>
                  <a:srgbClr val="006FC0"/>
                </a:solidFill>
                <a:latin typeface="Courier New"/>
                <a:cs typeface="Courier New"/>
              </a:rPr>
              <a:t>s.getGradYear() </a:t>
            </a:r>
            <a:r>
              <a:rPr sz="2400" b="1" dirty="0">
                <a:solidFill>
                  <a:srgbClr val="006FC0"/>
                </a:solidFill>
                <a:latin typeface="Courier New"/>
                <a:cs typeface="Courier New"/>
              </a:rPr>
              <a:t>== </a:t>
            </a:r>
            <a:r>
              <a:rPr sz="2400" b="1" spc="-10" dirty="0">
                <a:solidFill>
                  <a:srgbClr val="006FC0"/>
                </a:solidFill>
                <a:latin typeface="Courier New"/>
                <a:cs typeface="Courier New"/>
              </a:rPr>
              <a:t>2011)</a:t>
            </a:r>
            <a:endParaRPr sz="2400">
              <a:latin typeface="Courier New"/>
              <a:cs typeface="Courier New"/>
            </a:endParaRPr>
          </a:p>
          <a:p>
            <a:pPr marL="381000" indent="-167640">
              <a:lnSpc>
                <a:spcPct val="100000"/>
              </a:lnSpc>
              <a:spcBef>
                <a:spcPts val="96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381635" algn="l"/>
              </a:tabLst>
            </a:pPr>
            <a:r>
              <a:rPr sz="2000" dirty="0">
                <a:latin typeface="Arial"/>
                <a:cs typeface="Arial"/>
              </a:rPr>
              <a:t>The </a:t>
            </a:r>
            <a:r>
              <a:rPr sz="2000" spc="-5" dirty="0">
                <a:latin typeface="Arial"/>
                <a:cs typeface="Arial"/>
              </a:rPr>
              <a:t>type </a:t>
            </a:r>
            <a:r>
              <a:rPr sz="2000" dirty="0">
                <a:latin typeface="Arial"/>
                <a:cs typeface="Arial"/>
              </a:rPr>
              <a:t>of </a:t>
            </a:r>
            <a:r>
              <a:rPr sz="2000" spc="-5" dirty="0">
                <a:latin typeface="Arial"/>
                <a:cs typeface="Arial"/>
              </a:rPr>
              <a:t>this </a:t>
            </a:r>
            <a:r>
              <a:rPr sz="2000" dirty="0">
                <a:latin typeface="Arial"/>
                <a:cs typeface="Arial"/>
              </a:rPr>
              <a:t>lambda is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Courier New"/>
                <a:cs typeface="Courier New"/>
              </a:rPr>
              <a:t>Predicate</a:t>
            </a:r>
            <a:r>
              <a:rPr sz="2000" b="1" spc="-740" dirty="0"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functional interface</a:t>
            </a:r>
            <a:endParaRPr sz="2000">
              <a:latin typeface="Arial"/>
              <a:cs typeface="Arial"/>
            </a:endParaRPr>
          </a:p>
          <a:p>
            <a:pPr marL="38100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381635" algn="l"/>
              </a:tabLst>
            </a:pPr>
            <a:r>
              <a:rPr sz="2000" dirty="0">
                <a:latin typeface="Arial"/>
                <a:cs typeface="Arial"/>
              </a:rPr>
              <a:t>The lambda expression is an implementation of the </a:t>
            </a:r>
            <a:r>
              <a:rPr sz="2000" b="1" spc="-5" dirty="0">
                <a:latin typeface="Courier New"/>
                <a:cs typeface="Courier New"/>
              </a:rPr>
              <a:t>test()</a:t>
            </a:r>
            <a:r>
              <a:rPr sz="2000" b="1" spc="-790" dirty="0"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method.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50036" y="3060192"/>
            <a:ext cx="6576059" cy="14630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50036" y="2563367"/>
            <a:ext cx="1908699" cy="289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11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26473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Type</a:t>
            </a:r>
            <a:r>
              <a:rPr spc="-5" dirty="0"/>
              <a:t> Inferrence</a:t>
            </a:r>
          </a:p>
        </p:txBody>
      </p:sp>
      <p:sp>
        <p:nvSpPr>
          <p:cNvPr id="6" name="object 6"/>
          <p:cNvSpPr/>
          <p:nvPr/>
        </p:nvSpPr>
        <p:spPr>
          <a:xfrm>
            <a:off x="626363" y="3244595"/>
            <a:ext cx="7709916" cy="621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8744" y="4197096"/>
            <a:ext cx="6213348" cy="4069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58540" y="3892296"/>
            <a:ext cx="180340" cy="318770"/>
          </a:xfrm>
          <a:custGeom>
            <a:avLst/>
            <a:gdLst/>
            <a:ahLst/>
            <a:cxnLst/>
            <a:rect l="l" t="t" r="r" b="b"/>
            <a:pathLst>
              <a:path w="180339" h="318770">
                <a:moveTo>
                  <a:pt x="179832" y="228599"/>
                </a:moveTo>
                <a:lnTo>
                  <a:pt x="0" y="228599"/>
                </a:lnTo>
                <a:lnTo>
                  <a:pt x="89915" y="318515"/>
                </a:lnTo>
                <a:lnTo>
                  <a:pt x="179832" y="228599"/>
                </a:lnTo>
                <a:close/>
              </a:path>
              <a:path w="180339" h="318770">
                <a:moveTo>
                  <a:pt x="134874" y="0"/>
                </a:moveTo>
                <a:lnTo>
                  <a:pt x="44958" y="0"/>
                </a:lnTo>
                <a:lnTo>
                  <a:pt x="44958" y="228599"/>
                </a:lnTo>
                <a:lnTo>
                  <a:pt x="134874" y="228599"/>
                </a:lnTo>
                <a:lnTo>
                  <a:pt x="134874" y="0"/>
                </a:lnTo>
                <a:close/>
              </a:path>
            </a:pathLst>
          </a:custGeom>
          <a:solidFill>
            <a:srgbClr val="006FC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68" y="2685288"/>
            <a:ext cx="6213348" cy="4084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01446" y="961918"/>
            <a:ext cx="8117205" cy="354202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167640">
              <a:lnSpc>
                <a:spcPct val="100000"/>
              </a:lnSpc>
              <a:spcBef>
                <a:spcPts val="70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287655" algn="l"/>
              </a:tabLst>
            </a:pPr>
            <a:r>
              <a:rPr sz="2000" dirty="0">
                <a:latin typeface="Arial"/>
                <a:cs typeface="Arial"/>
              </a:rPr>
              <a:t>The compiler can </a:t>
            </a:r>
            <a:r>
              <a:rPr sz="2000" spc="-5" dirty="0">
                <a:latin typeface="Arial"/>
                <a:cs typeface="Arial"/>
              </a:rPr>
              <a:t>often </a:t>
            </a:r>
            <a:r>
              <a:rPr sz="2000" dirty="0">
                <a:latin typeface="Arial"/>
                <a:cs typeface="Arial"/>
              </a:rPr>
              <a:t>infer parameter types in a Lambda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expression</a:t>
            </a:r>
            <a:endParaRPr sz="2000">
              <a:latin typeface="Arial"/>
              <a:cs typeface="Arial"/>
            </a:endParaRPr>
          </a:p>
          <a:p>
            <a:pPr marL="28702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287655" algn="l"/>
              </a:tabLst>
            </a:pPr>
            <a:r>
              <a:rPr sz="2000" spc="-5" dirty="0">
                <a:latin typeface="Arial"/>
                <a:cs typeface="Arial"/>
              </a:rPr>
              <a:t>Inferrence uses </a:t>
            </a:r>
            <a:r>
              <a:rPr sz="2000" dirty="0">
                <a:latin typeface="Arial"/>
                <a:cs typeface="Arial"/>
              </a:rPr>
              <a:t>the target functional </a:t>
            </a:r>
            <a:r>
              <a:rPr sz="2000" spc="-10" dirty="0">
                <a:latin typeface="Arial"/>
                <a:cs typeface="Arial"/>
              </a:rPr>
              <a:t>interface’s </a:t>
            </a:r>
            <a:r>
              <a:rPr sz="2000" spc="-5" dirty="0">
                <a:latin typeface="Arial"/>
                <a:cs typeface="Arial"/>
              </a:rPr>
              <a:t>method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signature</a:t>
            </a:r>
            <a:endParaRPr sz="2000">
              <a:latin typeface="Arial"/>
              <a:cs typeface="Arial"/>
            </a:endParaRPr>
          </a:p>
          <a:p>
            <a:pPr marL="28702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287655" algn="l"/>
              </a:tabLst>
            </a:pPr>
            <a:r>
              <a:rPr sz="2000" dirty="0">
                <a:latin typeface="Arial"/>
                <a:cs typeface="Arial"/>
              </a:rPr>
              <a:t>Fully statically </a:t>
            </a:r>
            <a:r>
              <a:rPr sz="2000" spc="-5" dirty="0">
                <a:latin typeface="Arial"/>
                <a:cs typeface="Arial"/>
              </a:rPr>
              <a:t>typed </a:t>
            </a:r>
            <a:r>
              <a:rPr sz="2000" dirty="0">
                <a:latin typeface="Arial"/>
                <a:cs typeface="Arial"/>
              </a:rPr>
              <a:t>(no dynamic </a:t>
            </a:r>
            <a:r>
              <a:rPr sz="2000" spc="-5" dirty="0">
                <a:latin typeface="Arial"/>
                <a:cs typeface="Arial"/>
              </a:rPr>
              <a:t>typing </a:t>
            </a:r>
            <a:r>
              <a:rPr sz="2000" dirty="0">
                <a:latin typeface="Arial"/>
                <a:cs typeface="Arial"/>
              </a:rPr>
              <a:t>sneaking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in)</a:t>
            </a:r>
            <a:endParaRPr sz="20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10"/>
              </a:spcBef>
            </a:pPr>
            <a:r>
              <a:rPr sz="1500" spc="15" dirty="0">
                <a:latin typeface="Arial"/>
                <a:cs typeface="Arial"/>
              </a:rPr>
              <a:t>– </a:t>
            </a:r>
            <a:r>
              <a:rPr sz="1800" spc="-5" dirty="0">
                <a:latin typeface="Arial"/>
                <a:cs typeface="Arial"/>
              </a:rPr>
              <a:t>More </a:t>
            </a:r>
            <a:r>
              <a:rPr sz="1800" spc="-10" dirty="0">
                <a:latin typeface="Arial"/>
                <a:cs typeface="Arial"/>
              </a:rPr>
              <a:t>typing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less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typing</a:t>
            </a:r>
            <a:endParaRPr sz="1800">
              <a:latin typeface="Arial"/>
              <a:cs typeface="Arial"/>
            </a:endParaRPr>
          </a:p>
          <a:p>
            <a:pPr marL="19685" marR="2243455" indent="-6350">
              <a:lnSpc>
                <a:spcPts val="4360"/>
              </a:lnSpc>
              <a:spcBef>
                <a:spcPts val="240"/>
              </a:spcBef>
            </a:pP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static </a:t>
            </a:r>
            <a:r>
              <a:rPr sz="1400" b="1" dirty="0">
                <a:solidFill>
                  <a:srgbClr val="006FC0"/>
                </a:solidFill>
                <a:latin typeface="Courier New"/>
                <a:cs typeface="Courier New"/>
              </a:rPr>
              <a:t>T </a:t>
            </a:r>
            <a:r>
              <a:rPr sz="1400" b="1" spc="-10" dirty="0">
                <a:solidFill>
                  <a:srgbClr val="006FC0"/>
                </a:solidFill>
                <a:latin typeface="Courier New"/>
                <a:cs typeface="Courier New"/>
              </a:rPr>
              <a:t>void sort(List&lt;T&gt; l, </a:t>
            </a: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Comparator&lt;? super T&gt; </a:t>
            </a:r>
            <a:r>
              <a:rPr sz="1400" b="1" spc="-10" dirty="0">
                <a:solidFill>
                  <a:srgbClr val="FF0000"/>
                </a:solidFill>
                <a:latin typeface="Courier New"/>
                <a:cs typeface="Courier New"/>
              </a:rPr>
              <a:t>c</a:t>
            </a:r>
            <a:r>
              <a:rPr sz="1400" b="1" spc="-10" dirty="0">
                <a:solidFill>
                  <a:srgbClr val="006FC0"/>
                </a:solidFill>
                <a:latin typeface="Courier New"/>
                <a:cs typeface="Courier New"/>
              </a:rPr>
              <a:t>);  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List&lt;</a:t>
            </a: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String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&gt; </a:t>
            </a:r>
            <a:r>
              <a:rPr sz="1400" b="1" spc="-10" dirty="0">
                <a:solidFill>
                  <a:srgbClr val="006FC0"/>
                </a:solidFill>
                <a:latin typeface="Courier New"/>
                <a:cs typeface="Courier New"/>
              </a:rPr>
              <a:t>ls </a:t>
            </a:r>
            <a:r>
              <a:rPr sz="1400" b="1" dirty="0">
                <a:solidFill>
                  <a:srgbClr val="006FC0"/>
                </a:solidFill>
                <a:latin typeface="Courier New"/>
                <a:cs typeface="Courier New"/>
              </a:rPr>
              <a:t>=</a:t>
            </a:r>
            <a:r>
              <a:rPr sz="1400" b="1" spc="-1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getList();</a:t>
            </a:r>
            <a:endParaRPr sz="1400">
              <a:latin typeface="Courier New"/>
              <a:cs typeface="Courier New"/>
            </a:endParaRPr>
          </a:p>
          <a:p>
            <a:pPr marL="19685">
              <a:lnSpc>
                <a:spcPts val="1125"/>
              </a:lnSpc>
            </a:pP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Collections.sort(ls, </a:t>
            </a: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(String x, String y) -&gt; </a:t>
            </a:r>
            <a:r>
              <a:rPr sz="1400" b="1" spc="-10" dirty="0">
                <a:solidFill>
                  <a:srgbClr val="FF0000"/>
                </a:solidFill>
                <a:latin typeface="Courier New"/>
                <a:cs typeface="Courier New"/>
              </a:rPr>
              <a:t>x.length()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-</a:t>
            </a:r>
            <a:r>
              <a:rPr sz="1400" b="1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y.length()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Collections.sort(ls, </a:t>
            </a: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(x, y) -&gt; </a:t>
            </a:r>
            <a:r>
              <a:rPr sz="1400" b="1" spc="-10" dirty="0">
                <a:solidFill>
                  <a:srgbClr val="FF0000"/>
                </a:solidFill>
                <a:latin typeface="Courier New"/>
                <a:cs typeface="Courier New"/>
              </a:rPr>
              <a:t>x.length()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-</a:t>
            </a:r>
            <a:r>
              <a:rPr sz="1400" b="1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y.length()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12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1667" y="1501851"/>
            <a:ext cx="8058784" cy="2405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5282A0"/>
              </a:buClr>
              <a:buSzPct val="85000"/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Lambda expressions can refer to 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effectively final </a:t>
            </a:r>
            <a:r>
              <a:rPr sz="2000" dirty="0">
                <a:latin typeface="Arial"/>
                <a:cs typeface="Arial"/>
              </a:rPr>
              <a:t>local variables</a:t>
            </a:r>
            <a:r>
              <a:rPr sz="2000" spc="-1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the enclosing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scope</a:t>
            </a:r>
            <a:endParaRPr sz="2000">
              <a:latin typeface="Arial"/>
              <a:cs typeface="Arial"/>
            </a:endParaRPr>
          </a:p>
          <a:p>
            <a:pPr marL="64516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645795" algn="l"/>
              </a:tabLst>
            </a:pPr>
            <a:r>
              <a:rPr sz="1800" spc="-5" dirty="0">
                <a:latin typeface="Arial"/>
                <a:cs typeface="Arial"/>
              </a:rPr>
              <a:t>This means a variable behaves as </a:t>
            </a:r>
            <a:r>
              <a:rPr sz="1800" dirty="0">
                <a:latin typeface="Arial"/>
                <a:cs typeface="Arial"/>
              </a:rPr>
              <a:t>if it </a:t>
            </a:r>
            <a:r>
              <a:rPr sz="1800" spc="-5" dirty="0">
                <a:latin typeface="Arial"/>
                <a:cs typeface="Arial"/>
              </a:rPr>
              <a:t>is marked final (even </a:t>
            </a:r>
            <a:r>
              <a:rPr sz="1800" dirty="0">
                <a:latin typeface="Arial"/>
                <a:cs typeface="Arial"/>
              </a:rPr>
              <a:t>if it </a:t>
            </a:r>
            <a:r>
              <a:rPr sz="1800" spc="-10" dirty="0">
                <a:latin typeface="Arial"/>
                <a:cs typeface="Arial"/>
              </a:rPr>
              <a:t>is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not)</a:t>
            </a:r>
            <a:endParaRPr sz="1800">
              <a:latin typeface="Arial"/>
              <a:cs typeface="Arial"/>
            </a:endParaRPr>
          </a:p>
          <a:p>
            <a:pPr marL="64516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645795" algn="l"/>
              </a:tabLst>
            </a:pPr>
            <a:r>
              <a:rPr sz="1800" spc="-5" dirty="0">
                <a:latin typeface="Arial"/>
                <a:cs typeface="Arial"/>
              </a:rPr>
              <a:t>The variable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10" dirty="0">
                <a:latin typeface="Arial"/>
                <a:cs typeface="Arial"/>
              </a:rPr>
              <a:t>assigned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once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Lambda expressions are anonymous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functions</a:t>
            </a:r>
            <a:endParaRPr sz="2000">
              <a:latin typeface="Arial"/>
              <a:cs typeface="Arial"/>
            </a:endParaRPr>
          </a:p>
          <a:p>
            <a:pPr marL="64516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645795" algn="l"/>
              </a:tabLst>
            </a:pPr>
            <a:r>
              <a:rPr sz="1800" spc="-5" dirty="0">
                <a:latin typeface="Arial"/>
                <a:cs typeface="Arial"/>
              </a:rPr>
              <a:t>They are not associated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an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object</a:t>
            </a:r>
            <a:endParaRPr sz="1800">
              <a:latin typeface="Arial"/>
              <a:cs typeface="Arial"/>
            </a:endParaRPr>
          </a:p>
          <a:p>
            <a:pPr marL="645160" lvl="1" indent="-228600">
              <a:lnSpc>
                <a:spcPct val="100000"/>
              </a:lnSpc>
              <a:spcBef>
                <a:spcPts val="480"/>
              </a:spcBef>
              <a:buSzPct val="83333"/>
              <a:buFont typeface="Arial"/>
              <a:buChar char="–"/>
              <a:tabLst>
                <a:tab pos="645795" algn="l"/>
              </a:tabLst>
            </a:pPr>
            <a:r>
              <a:rPr sz="1800" b="1" spc="-5" dirty="0">
                <a:latin typeface="Courier New"/>
                <a:cs typeface="Courier New"/>
              </a:rPr>
              <a:t>this</a:t>
            </a:r>
            <a:r>
              <a:rPr sz="1800" b="1" spc="-535" dirty="0">
                <a:latin typeface="Courier New"/>
                <a:cs typeface="Courier New"/>
              </a:rPr>
              <a:t> </a:t>
            </a:r>
            <a:r>
              <a:rPr sz="1800" spc="-15" dirty="0">
                <a:latin typeface="Arial"/>
                <a:cs typeface="Arial"/>
              </a:rPr>
              <a:t>will </a:t>
            </a:r>
            <a:r>
              <a:rPr sz="1800" spc="-5" dirty="0">
                <a:latin typeface="Arial"/>
                <a:cs typeface="Arial"/>
              </a:rPr>
              <a:t>refer </a:t>
            </a:r>
            <a:r>
              <a:rPr sz="1800" dirty="0">
                <a:latin typeface="Arial"/>
                <a:cs typeface="Arial"/>
              </a:rPr>
              <a:t>to the </a:t>
            </a:r>
            <a:r>
              <a:rPr sz="1800" spc="-5" dirty="0">
                <a:latin typeface="Arial"/>
                <a:cs typeface="Arial"/>
              </a:rPr>
              <a:t>object </a:t>
            </a:r>
            <a:r>
              <a:rPr sz="1800" dirty="0">
                <a:latin typeface="Arial"/>
                <a:cs typeface="Arial"/>
              </a:rPr>
              <a:t>in the </a:t>
            </a:r>
            <a:r>
              <a:rPr sz="1800" spc="-5" dirty="0">
                <a:latin typeface="Arial"/>
                <a:cs typeface="Arial"/>
              </a:rPr>
              <a:t>surrounding scope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13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4681220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Lambda</a:t>
            </a:r>
            <a:r>
              <a:rPr spc="10" dirty="0"/>
              <a:t> </a:t>
            </a:r>
            <a:r>
              <a:rPr spc="-5" dirty="0"/>
              <a:t>Epressions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Local </a:t>
            </a:r>
            <a:r>
              <a:rPr sz="2000" b="0" spc="-20" dirty="0">
                <a:solidFill>
                  <a:srgbClr val="5282A0"/>
                </a:solidFill>
                <a:latin typeface="Arial"/>
                <a:cs typeface="Arial"/>
              </a:rPr>
              <a:t>Variable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Capture &amp; Lexical</a:t>
            </a:r>
            <a:r>
              <a:rPr sz="2000" b="0" spc="-90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Scoping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7408" y="4948428"/>
            <a:ext cx="1905" cy="97790"/>
          </a:xfrm>
          <a:custGeom>
            <a:avLst/>
            <a:gdLst/>
            <a:ahLst/>
            <a:cxnLst/>
            <a:rect l="l" t="t" r="r" b="b"/>
            <a:pathLst>
              <a:path w="1904" h="97789">
                <a:moveTo>
                  <a:pt x="1523" y="0"/>
                </a:moveTo>
                <a:lnTo>
                  <a:pt x="0" y="97536"/>
                </a:lnTo>
              </a:path>
            </a:pathLst>
          </a:custGeom>
          <a:ln w="6096">
            <a:solidFill>
              <a:srgbClr val="3434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7236" y="1530858"/>
            <a:ext cx="68694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void createUI() {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Button button = </a:t>
            </a:r>
            <a:r>
              <a:rPr sz="1600" b="1" spc="-5" dirty="0">
                <a:solidFill>
                  <a:srgbClr val="336D8D"/>
                </a:solidFill>
                <a:latin typeface="Courier New"/>
                <a:cs typeface="Courier New"/>
              </a:rPr>
              <a:t>new </a:t>
            </a:r>
            <a:r>
              <a:rPr sz="1600" b="1" spc="-5" dirty="0">
                <a:latin typeface="Courier New"/>
                <a:cs typeface="Courier New"/>
              </a:rPr>
              <a:t>Button(</a:t>
            </a:r>
            <a:r>
              <a:rPr sz="1600" b="1" spc="-5" dirty="0">
                <a:solidFill>
                  <a:srgbClr val="16AC56"/>
                </a:solidFill>
                <a:latin typeface="Courier New"/>
                <a:cs typeface="Courier New"/>
              </a:rPr>
              <a:t>"Guess What I'm</a:t>
            </a:r>
            <a:r>
              <a:rPr sz="1600" b="1" spc="125" dirty="0">
                <a:solidFill>
                  <a:srgbClr val="16AC56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16AC56"/>
                </a:solidFill>
                <a:latin typeface="Courier New"/>
                <a:cs typeface="Courier New"/>
              </a:rPr>
              <a:t>Thinking"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19" y="4924048"/>
            <a:ext cx="151765" cy="249554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520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  <a:p>
            <a:pPr marL="98425">
              <a:lnSpc>
                <a:spcPct val="100000"/>
              </a:lnSpc>
              <a:spcBef>
                <a:spcPts val="10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8</a:t>
            </a:r>
            <a:endParaRPr sz="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80228" y="2018537"/>
            <a:ext cx="35636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// lambda only calls a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method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236" y="2018537"/>
            <a:ext cx="44227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button.setOnAction(</a:t>
            </a: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e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-&gt;</a:t>
            </a:r>
            <a:r>
              <a:rPr sz="1600" b="1" spc="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guess(e)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7236" y="2994151"/>
            <a:ext cx="552259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void guess(ActionEvent event)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Button button = (Button)</a:t>
            </a:r>
            <a:r>
              <a:rPr sz="1600" b="1" spc="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event.getSource();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button.setText(</a:t>
            </a:r>
            <a:r>
              <a:rPr sz="1600" b="1" spc="-5" dirty="0">
                <a:solidFill>
                  <a:srgbClr val="16AC56"/>
                </a:solidFill>
                <a:latin typeface="Courier New"/>
                <a:cs typeface="Courier New"/>
              </a:rPr>
              <a:t>"You love</a:t>
            </a:r>
            <a:r>
              <a:rPr sz="1600" b="1" spc="0" dirty="0">
                <a:solidFill>
                  <a:srgbClr val="16AC56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16AC56"/>
                </a:solidFill>
                <a:latin typeface="Courier New"/>
                <a:cs typeface="Courier New"/>
              </a:rPr>
              <a:t>Lambda!"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8876" y="898016"/>
            <a:ext cx="4617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If a </a:t>
            </a:r>
            <a:r>
              <a:rPr sz="2400" spc="-5" dirty="0">
                <a:latin typeface="Arial"/>
                <a:cs typeface="Arial"/>
              </a:rPr>
              <a:t>lambda only </a:t>
            </a:r>
            <a:r>
              <a:rPr sz="2400" dirty="0">
                <a:latin typeface="Arial"/>
                <a:cs typeface="Arial"/>
              </a:rPr>
              <a:t>calls a </a:t>
            </a:r>
            <a:r>
              <a:rPr sz="2400" spc="-5" dirty="0">
                <a:latin typeface="Arial"/>
                <a:cs typeface="Arial"/>
              </a:rPr>
              <a:t>method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33070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Method</a:t>
            </a:r>
            <a:r>
              <a:rPr spc="-15" dirty="0"/>
              <a:t> </a:t>
            </a:r>
            <a:r>
              <a:rPr spc="-5" dirty="0"/>
              <a:t>References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7408" y="4948428"/>
            <a:ext cx="1905" cy="97790"/>
          </a:xfrm>
          <a:custGeom>
            <a:avLst/>
            <a:gdLst/>
            <a:ahLst/>
            <a:cxnLst/>
            <a:rect l="l" t="t" r="r" b="b"/>
            <a:pathLst>
              <a:path w="1904" h="97789">
                <a:moveTo>
                  <a:pt x="1523" y="0"/>
                </a:moveTo>
                <a:lnTo>
                  <a:pt x="0" y="97536"/>
                </a:lnTo>
              </a:path>
            </a:pathLst>
          </a:custGeom>
          <a:ln w="6096">
            <a:solidFill>
              <a:srgbClr val="3434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33070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Method</a:t>
            </a:r>
            <a:r>
              <a:rPr spc="-15" dirty="0"/>
              <a:t> </a:t>
            </a:r>
            <a:r>
              <a:rPr spc="-5" dirty="0"/>
              <a:t>References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33019" y="4924048"/>
            <a:ext cx="151765" cy="249554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520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  <a:p>
            <a:pPr marL="98425">
              <a:lnSpc>
                <a:spcPct val="100000"/>
              </a:lnSpc>
              <a:spcBef>
                <a:spcPts val="10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9</a:t>
            </a:r>
            <a:endParaRPr sz="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236" y="884631"/>
            <a:ext cx="8785225" cy="3110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sz="3600" baseline="-2314" dirty="0">
                <a:latin typeface="Arial"/>
                <a:cs typeface="Arial"/>
              </a:rPr>
              <a:t>If </a:t>
            </a:r>
            <a:r>
              <a:rPr sz="3600" spc="-7" baseline="-2314" dirty="0">
                <a:latin typeface="Arial"/>
                <a:cs typeface="Arial"/>
              </a:rPr>
              <a:t>a lambda only calls a </a:t>
            </a:r>
            <a:r>
              <a:rPr sz="3600" spc="-457" baseline="-2314" dirty="0">
                <a:latin typeface="Arial"/>
                <a:cs typeface="Arial"/>
              </a:rPr>
              <a:t>metho</a:t>
            </a:r>
            <a:r>
              <a:rPr sz="2400" spc="-305" dirty="0">
                <a:latin typeface="Arial"/>
                <a:cs typeface="Arial"/>
              </a:rPr>
              <a:t>…</a:t>
            </a:r>
            <a:r>
              <a:rPr sz="3600" spc="-457" baseline="-2314" dirty="0">
                <a:latin typeface="Arial"/>
                <a:cs typeface="Arial"/>
              </a:rPr>
              <a:t>d, </a:t>
            </a:r>
            <a:r>
              <a:rPr sz="2400" dirty="0">
                <a:latin typeface="Arial"/>
                <a:cs typeface="Arial"/>
              </a:rPr>
              <a:t>you </a:t>
            </a:r>
            <a:r>
              <a:rPr sz="2400" spc="-5" dirty="0">
                <a:latin typeface="Arial"/>
                <a:cs typeface="Arial"/>
              </a:rPr>
              <a:t>can use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method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reference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sz="1600" b="1" spc="-5" dirty="0">
                <a:latin typeface="Courier New"/>
                <a:cs typeface="Courier New"/>
              </a:rPr>
              <a:t>void createUI() {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Button button = </a:t>
            </a:r>
            <a:r>
              <a:rPr sz="1600" b="1" spc="-5" dirty="0">
                <a:solidFill>
                  <a:srgbClr val="336D8D"/>
                </a:solidFill>
                <a:latin typeface="Courier New"/>
                <a:cs typeface="Courier New"/>
              </a:rPr>
              <a:t>new </a:t>
            </a:r>
            <a:r>
              <a:rPr sz="1600" b="1" spc="-5" dirty="0">
                <a:latin typeface="Courier New"/>
                <a:cs typeface="Courier New"/>
              </a:rPr>
              <a:t>Button(</a:t>
            </a:r>
            <a:r>
              <a:rPr sz="1600" b="1" spc="-5" dirty="0">
                <a:solidFill>
                  <a:srgbClr val="16AC56"/>
                </a:solidFill>
                <a:latin typeface="Courier New"/>
                <a:cs typeface="Courier New"/>
              </a:rPr>
              <a:t>"Guess What I'm</a:t>
            </a:r>
            <a:r>
              <a:rPr sz="1600" b="1" spc="50" dirty="0">
                <a:solidFill>
                  <a:srgbClr val="16AC56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16AC56"/>
                </a:solidFill>
                <a:latin typeface="Courier New"/>
                <a:cs typeface="Courier New"/>
              </a:rPr>
              <a:t>Thinking"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tabLst>
                <a:tab pos="4410710" algn="l"/>
              </a:tabLst>
            </a:pPr>
            <a:r>
              <a:rPr sz="1600" b="1" spc="-5" dirty="0">
                <a:latin typeface="Courier New"/>
                <a:cs typeface="Courier New"/>
              </a:rPr>
              <a:t>button.setOnAction(</a:t>
            </a: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this::guess</a:t>
            </a:r>
            <a:r>
              <a:rPr sz="1600" b="1" spc="-5" dirty="0">
                <a:latin typeface="Courier New"/>
                <a:cs typeface="Courier New"/>
              </a:rPr>
              <a:t>);	// use method</a:t>
            </a:r>
            <a:r>
              <a:rPr sz="1600" b="1" spc="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reference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Courier New"/>
                <a:cs typeface="Courier New"/>
              </a:rPr>
              <a:t>void guess(ActionEvent event)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256540" marR="326707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Button button = (Button) event.getSource();  button.setText(</a:t>
            </a:r>
            <a:r>
              <a:rPr sz="1600" b="1" spc="-5" dirty="0">
                <a:solidFill>
                  <a:srgbClr val="16AC56"/>
                </a:solidFill>
                <a:latin typeface="Courier New"/>
                <a:cs typeface="Courier New"/>
              </a:rPr>
              <a:t>"You </a:t>
            </a:r>
            <a:r>
              <a:rPr sz="1600" b="1" dirty="0">
                <a:solidFill>
                  <a:srgbClr val="16AC56"/>
                </a:solidFill>
                <a:latin typeface="Courier New"/>
                <a:cs typeface="Courier New"/>
              </a:rPr>
              <a:t>love</a:t>
            </a:r>
            <a:r>
              <a:rPr sz="1600" b="1" spc="5" dirty="0">
                <a:solidFill>
                  <a:srgbClr val="16AC56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16AC56"/>
                </a:solidFill>
                <a:latin typeface="Courier New"/>
                <a:cs typeface="Courier New"/>
              </a:rPr>
              <a:t>Lambda!"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33070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Method</a:t>
            </a:r>
            <a:r>
              <a:rPr spc="-15" dirty="0"/>
              <a:t> </a:t>
            </a:r>
            <a:r>
              <a:rPr spc="-5" dirty="0"/>
              <a:t>References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2944" y="1204087"/>
            <a:ext cx="77431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5282A0"/>
              </a:buClr>
              <a:buSzPct val="85000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Method references let us reuse a method as a lambda</a:t>
            </a:r>
            <a:r>
              <a:rPr sz="2000" spc="-2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expression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97679" y="2551176"/>
            <a:ext cx="201295" cy="288290"/>
          </a:xfrm>
          <a:custGeom>
            <a:avLst/>
            <a:gdLst/>
            <a:ahLst/>
            <a:cxnLst/>
            <a:rect l="l" t="t" r="r" b="b"/>
            <a:pathLst>
              <a:path w="201295" h="288289">
                <a:moveTo>
                  <a:pt x="201168" y="187451"/>
                </a:moveTo>
                <a:lnTo>
                  <a:pt x="0" y="187451"/>
                </a:lnTo>
                <a:lnTo>
                  <a:pt x="100584" y="288036"/>
                </a:lnTo>
                <a:lnTo>
                  <a:pt x="201168" y="187451"/>
                </a:lnTo>
                <a:close/>
              </a:path>
              <a:path w="201295" h="288289">
                <a:moveTo>
                  <a:pt x="150875" y="0"/>
                </a:moveTo>
                <a:lnTo>
                  <a:pt x="50292" y="0"/>
                </a:lnTo>
                <a:lnTo>
                  <a:pt x="50292" y="187451"/>
                </a:lnTo>
                <a:lnTo>
                  <a:pt x="150875" y="187451"/>
                </a:lnTo>
                <a:lnTo>
                  <a:pt x="150875" y="0"/>
                </a:lnTo>
                <a:close/>
              </a:path>
            </a:pathLst>
          </a:custGeom>
          <a:solidFill>
            <a:srgbClr val="006FC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07335" y="2147316"/>
            <a:ext cx="4376927" cy="4328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90013" y="2232406"/>
            <a:ext cx="41763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FileFilter </a:t>
            </a:r>
            <a:r>
              <a:rPr sz="1400" b="1" dirty="0">
                <a:solidFill>
                  <a:srgbClr val="006FC0"/>
                </a:solidFill>
                <a:latin typeface="Courier New"/>
                <a:cs typeface="Courier New"/>
              </a:rPr>
              <a:t>x = </a:t>
            </a: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(File f) </a:t>
            </a:r>
            <a:r>
              <a:rPr sz="1400" b="1" spc="-10" dirty="0">
                <a:solidFill>
                  <a:srgbClr val="FF0000"/>
                </a:solidFill>
                <a:latin typeface="Courier New"/>
                <a:cs typeface="Courier New"/>
              </a:rPr>
              <a:t>-&gt;</a:t>
            </a:r>
            <a:r>
              <a:rPr sz="1400" b="1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f.canRead()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10383" y="2852927"/>
            <a:ext cx="4376928" cy="4328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93060" y="2938652"/>
            <a:ext cx="31115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FileFilter </a:t>
            </a:r>
            <a:r>
              <a:rPr sz="1400" b="1" dirty="0">
                <a:solidFill>
                  <a:srgbClr val="006FC0"/>
                </a:solidFill>
                <a:latin typeface="Courier New"/>
                <a:cs typeface="Courier New"/>
              </a:rPr>
              <a:t>x =</a:t>
            </a:r>
            <a:r>
              <a:rPr sz="1400" b="1" spc="-5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ourier New"/>
                <a:cs typeface="Courier New"/>
              </a:rPr>
              <a:t>File::canRead</a:t>
            </a:r>
            <a:r>
              <a:rPr sz="1400" b="1" spc="-10" dirty="0">
                <a:solidFill>
                  <a:srgbClr val="006FC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16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407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Constructor</a:t>
            </a:r>
            <a:r>
              <a:rPr dirty="0"/>
              <a:t> </a:t>
            </a:r>
            <a:r>
              <a:rPr spc="-5" dirty="0"/>
              <a:t>References</a:t>
            </a:r>
          </a:p>
        </p:txBody>
      </p:sp>
      <p:sp>
        <p:nvSpPr>
          <p:cNvPr id="6" name="object 6"/>
          <p:cNvSpPr/>
          <p:nvPr/>
        </p:nvSpPr>
        <p:spPr>
          <a:xfrm>
            <a:off x="957072" y="3566159"/>
            <a:ext cx="7362444" cy="4328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7072" y="2569464"/>
            <a:ext cx="7376159" cy="4328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36491" y="3020567"/>
            <a:ext cx="203200" cy="509270"/>
          </a:xfrm>
          <a:custGeom>
            <a:avLst/>
            <a:gdLst/>
            <a:ahLst/>
            <a:cxnLst/>
            <a:rect l="l" t="t" r="r" b="b"/>
            <a:pathLst>
              <a:path w="203200" h="509270">
                <a:moveTo>
                  <a:pt x="202692" y="407669"/>
                </a:moveTo>
                <a:lnTo>
                  <a:pt x="0" y="407669"/>
                </a:lnTo>
                <a:lnTo>
                  <a:pt x="101346" y="509016"/>
                </a:lnTo>
                <a:lnTo>
                  <a:pt x="202692" y="407669"/>
                </a:lnTo>
                <a:close/>
              </a:path>
              <a:path w="203200" h="509270">
                <a:moveTo>
                  <a:pt x="152019" y="0"/>
                </a:moveTo>
                <a:lnTo>
                  <a:pt x="50673" y="0"/>
                </a:lnTo>
                <a:lnTo>
                  <a:pt x="50673" y="407669"/>
                </a:lnTo>
                <a:lnTo>
                  <a:pt x="152019" y="407669"/>
                </a:lnTo>
                <a:lnTo>
                  <a:pt x="152019" y="0"/>
                </a:lnTo>
                <a:close/>
              </a:path>
            </a:pathLst>
          </a:custGeom>
          <a:solidFill>
            <a:srgbClr val="006FC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52627" y="1415679"/>
            <a:ext cx="6916420" cy="247459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Same concept as a method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reference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610"/>
              </a:spcBef>
            </a:pPr>
            <a:r>
              <a:rPr sz="1500" spc="15" dirty="0">
                <a:latin typeface="Arial"/>
                <a:cs typeface="Arial"/>
              </a:rPr>
              <a:t>–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the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constructor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99390">
              <a:lnSpc>
                <a:spcPct val="100000"/>
              </a:lnSpc>
              <a:spcBef>
                <a:spcPts val="1605"/>
              </a:spcBef>
            </a:pP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Factory&lt;</a:t>
            </a: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List&lt;String&gt;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&gt; </a:t>
            </a:r>
            <a:r>
              <a:rPr sz="1400" b="1" dirty="0">
                <a:solidFill>
                  <a:srgbClr val="006FC0"/>
                </a:solidFill>
                <a:latin typeface="Courier New"/>
                <a:cs typeface="Courier New"/>
              </a:rPr>
              <a:t>f = 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() -&gt; return new</a:t>
            </a:r>
            <a:r>
              <a:rPr sz="1400" b="1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8000"/>
                </a:solidFill>
                <a:latin typeface="Courier New"/>
                <a:cs typeface="Courier New"/>
              </a:rPr>
              <a:t>ArrayList&lt;String&gt;()</a:t>
            </a:r>
            <a:r>
              <a:rPr sz="1400" b="1" spc="-10" dirty="0">
                <a:solidFill>
                  <a:srgbClr val="006FC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Times New Roman"/>
              <a:cs typeface="Times New Roman"/>
            </a:endParaRPr>
          </a:p>
          <a:p>
            <a:pPr marL="694055" algn="ctr">
              <a:lnSpc>
                <a:spcPct val="100000"/>
              </a:lnSpc>
            </a:pP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Equivalent</a:t>
            </a:r>
            <a:r>
              <a:rPr sz="1400" spc="-2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to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00">
              <a:latin typeface="Times New Roman"/>
              <a:cs typeface="Times New Roman"/>
            </a:endParaRPr>
          </a:p>
          <a:p>
            <a:pPr marL="199390">
              <a:lnSpc>
                <a:spcPct val="100000"/>
              </a:lnSpc>
            </a:pP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Factory&lt;</a:t>
            </a:r>
            <a:r>
              <a:rPr sz="1400" b="1" spc="-5" dirty="0">
                <a:solidFill>
                  <a:srgbClr val="FF0000"/>
                </a:solidFill>
                <a:latin typeface="Courier New"/>
                <a:cs typeface="Courier New"/>
              </a:rPr>
              <a:t>List&lt;String&gt;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&gt; </a:t>
            </a:r>
            <a:r>
              <a:rPr sz="1400" b="1" dirty="0">
                <a:solidFill>
                  <a:srgbClr val="006FC0"/>
                </a:solidFill>
                <a:latin typeface="Courier New"/>
                <a:cs typeface="Courier New"/>
              </a:rPr>
              <a:t>f =</a:t>
            </a:r>
            <a:r>
              <a:rPr sz="1400" b="1" spc="-5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008000"/>
                </a:solidFill>
                <a:latin typeface="Courier New"/>
                <a:cs typeface="Courier New"/>
              </a:rPr>
              <a:t>ArrayList&lt;String&gt;</a:t>
            </a:r>
            <a:r>
              <a:rPr sz="1400" b="1" spc="-5" dirty="0">
                <a:solidFill>
                  <a:srgbClr val="006FC0"/>
                </a:solidFill>
                <a:latin typeface="Courier New"/>
                <a:cs typeface="Courier New"/>
              </a:rPr>
              <a:t>::new;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17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9176" y="4975656"/>
            <a:ext cx="65405" cy="1968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2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2</a:t>
            </a:r>
            <a:endParaRPr sz="5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7408" y="4948428"/>
            <a:ext cx="1905" cy="97790"/>
          </a:xfrm>
          <a:custGeom>
            <a:avLst/>
            <a:gdLst/>
            <a:ahLst/>
            <a:cxnLst/>
            <a:rect l="l" t="t" r="r" b="b"/>
            <a:pathLst>
              <a:path w="1904" h="97789">
                <a:moveTo>
                  <a:pt x="1523" y="0"/>
                </a:moveTo>
                <a:lnTo>
                  <a:pt x="0" y="97536"/>
                </a:lnTo>
              </a:path>
            </a:pathLst>
          </a:custGeom>
          <a:ln w="6096">
            <a:solidFill>
              <a:srgbClr val="3434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83739" y="271399"/>
            <a:ext cx="4942840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0" spc="-5" dirty="0">
                <a:latin typeface="Arial"/>
                <a:cs typeface="Arial"/>
              </a:rPr>
              <a:t>Four </a:t>
            </a:r>
            <a:r>
              <a:rPr sz="2600" b="0" spc="-15" dirty="0">
                <a:latin typeface="Arial"/>
                <a:cs typeface="Arial"/>
              </a:rPr>
              <a:t>Kinds </a:t>
            </a:r>
            <a:r>
              <a:rPr sz="2600" b="0" spc="-5" dirty="0">
                <a:latin typeface="Arial"/>
                <a:cs typeface="Arial"/>
              </a:rPr>
              <a:t>of Method</a:t>
            </a:r>
            <a:r>
              <a:rPr sz="2600" b="0" spc="-65" dirty="0">
                <a:latin typeface="Arial"/>
                <a:cs typeface="Arial"/>
              </a:rPr>
              <a:t> </a:t>
            </a:r>
            <a:r>
              <a:rPr sz="2600" b="0" spc="-5" dirty="0">
                <a:latin typeface="Arial"/>
                <a:cs typeface="Arial"/>
              </a:rPr>
              <a:t>References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7236" y="1236091"/>
            <a:ext cx="7481570" cy="269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0825" indent="-238125">
              <a:lnSpc>
                <a:spcPts val="1864"/>
              </a:lnSpc>
              <a:spcBef>
                <a:spcPts val="95"/>
              </a:spcBef>
              <a:buAutoNum type="arabicParenR"/>
              <a:tabLst>
                <a:tab pos="251460" algn="l"/>
              </a:tabLst>
            </a:pPr>
            <a:r>
              <a:rPr sz="1600" b="1" spc="-5" dirty="0">
                <a:latin typeface="Arial"/>
                <a:cs typeface="Arial"/>
              </a:rPr>
              <a:t>Reference to a static</a:t>
            </a:r>
            <a:r>
              <a:rPr sz="1600" b="1" spc="5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method: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64"/>
              </a:lnSpc>
            </a:pPr>
            <a:r>
              <a:rPr sz="1600" b="1" spc="-5" dirty="0">
                <a:latin typeface="Courier New"/>
                <a:cs typeface="Courier New"/>
              </a:rPr>
              <a:t>ContainingClass::staticMethodName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250825" indent="-238125">
              <a:lnSpc>
                <a:spcPts val="1850"/>
              </a:lnSpc>
              <a:buAutoNum type="arabicParenR" startAt="2"/>
              <a:tabLst>
                <a:tab pos="251460" algn="l"/>
              </a:tabLst>
            </a:pPr>
            <a:r>
              <a:rPr sz="1600" b="1" spc="-5" dirty="0">
                <a:latin typeface="Arial"/>
                <a:cs typeface="Arial"/>
              </a:rPr>
              <a:t>Reference to an instance </a:t>
            </a:r>
            <a:r>
              <a:rPr sz="1600" b="1" spc="-10" dirty="0">
                <a:latin typeface="Arial"/>
                <a:cs typeface="Arial"/>
              </a:rPr>
              <a:t>method </a:t>
            </a:r>
            <a:r>
              <a:rPr sz="1600" b="1" spc="-5" dirty="0">
                <a:latin typeface="Arial"/>
                <a:cs typeface="Arial"/>
              </a:rPr>
              <a:t>of a particular</a:t>
            </a:r>
            <a:r>
              <a:rPr sz="1600" b="1" spc="15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object: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50"/>
              </a:lnSpc>
            </a:pPr>
            <a:r>
              <a:rPr sz="1600" b="1" spc="-5" dirty="0">
                <a:latin typeface="Courier New"/>
                <a:cs typeface="Courier New"/>
              </a:rPr>
              <a:t>ContainingObject::instanceMethodName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250825" indent="-238125">
              <a:lnSpc>
                <a:spcPts val="1850"/>
              </a:lnSpc>
              <a:buAutoNum type="arabicParenR" startAt="3"/>
              <a:tabLst>
                <a:tab pos="251460" algn="l"/>
              </a:tabLst>
            </a:pPr>
            <a:r>
              <a:rPr sz="1600" b="1" spc="-5" dirty="0">
                <a:latin typeface="Arial"/>
                <a:cs typeface="Arial"/>
              </a:rPr>
              <a:t>Reference to an instance </a:t>
            </a:r>
            <a:r>
              <a:rPr sz="1600" b="1" spc="-10" dirty="0">
                <a:latin typeface="Arial"/>
                <a:cs typeface="Arial"/>
              </a:rPr>
              <a:t>method </a:t>
            </a:r>
            <a:r>
              <a:rPr sz="1600" b="1" spc="-5" dirty="0">
                <a:latin typeface="Arial"/>
                <a:cs typeface="Arial"/>
              </a:rPr>
              <a:t>of an arbitrary object of a particular</a:t>
            </a:r>
            <a:r>
              <a:rPr sz="1600" b="1" spc="315" dirty="0">
                <a:latin typeface="Arial"/>
                <a:cs typeface="Arial"/>
              </a:rPr>
              <a:t> </a:t>
            </a:r>
            <a:r>
              <a:rPr sz="1600" b="1" spc="-15" dirty="0">
                <a:latin typeface="Arial"/>
                <a:cs typeface="Arial"/>
              </a:rPr>
              <a:t>type: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50"/>
              </a:lnSpc>
            </a:pPr>
            <a:r>
              <a:rPr sz="1600" b="1" spc="-5" dirty="0">
                <a:latin typeface="Courier New"/>
                <a:cs typeface="Courier New"/>
              </a:rPr>
              <a:t>ContainingType::methodName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50825" indent="-238125">
              <a:lnSpc>
                <a:spcPct val="100000"/>
              </a:lnSpc>
              <a:buAutoNum type="arabicParenR" startAt="4"/>
              <a:tabLst>
                <a:tab pos="251460" algn="l"/>
              </a:tabLst>
            </a:pPr>
            <a:r>
              <a:rPr sz="1600" b="1" spc="-5" dirty="0">
                <a:latin typeface="Arial"/>
                <a:cs typeface="Arial"/>
              </a:rPr>
              <a:t>Reference to a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constructor: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Courier New"/>
                <a:cs typeface="Courier New"/>
              </a:rPr>
              <a:t>ClassName::new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2790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Default</a:t>
            </a:r>
            <a:r>
              <a:rPr spc="-45" dirty="0"/>
              <a:t> </a:t>
            </a:r>
            <a:r>
              <a:rPr spc="-5" dirty="0"/>
              <a:t>Methods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19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6633" y="1415679"/>
            <a:ext cx="7835900" cy="337502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586105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586740" algn="l"/>
              </a:tabLst>
            </a:pPr>
            <a:r>
              <a:rPr sz="2000" dirty="0">
                <a:latin typeface="Arial"/>
                <a:cs typeface="Arial"/>
              </a:rPr>
              <a:t>Provide a mechanism to add new methods to existing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interfaces</a:t>
            </a:r>
            <a:endParaRPr sz="2000">
              <a:latin typeface="Arial"/>
              <a:cs typeface="Arial"/>
            </a:endParaRPr>
          </a:p>
          <a:p>
            <a:pPr marL="989965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990600" algn="l"/>
              </a:tabLst>
            </a:pPr>
            <a:r>
              <a:rPr sz="1800" spc="-5" dirty="0">
                <a:latin typeface="Arial"/>
                <a:cs typeface="Arial"/>
              </a:rPr>
              <a:t>Without breaking </a:t>
            </a:r>
            <a:r>
              <a:rPr sz="1800" spc="-10" dirty="0">
                <a:latin typeface="Arial"/>
                <a:cs typeface="Arial"/>
              </a:rPr>
              <a:t>backwards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compatability</a:t>
            </a:r>
            <a:endParaRPr sz="1800">
              <a:latin typeface="Arial"/>
              <a:cs typeface="Arial"/>
            </a:endParaRPr>
          </a:p>
          <a:p>
            <a:pPr marL="989965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990600" algn="l"/>
              </a:tabLst>
            </a:pPr>
            <a:r>
              <a:rPr sz="1800" dirty="0">
                <a:latin typeface="Arial"/>
                <a:cs typeface="Arial"/>
              </a:rPr>
              <a:t>Gives </a:t>
            </a:r>
            <a:r>
              <a:rPr sz="1800" spc="-5" dirty="0">
                <a:latin typeface="Arial"/>
                <a:cs typeface="Arial"/>
              </a:rPr>
              <a:t>Java multiple inheritance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15" dirty="0">
                <a:latin typeface="Arial"/>
                <a:cs typeface="Arial"/>
              </a:rPr>
              <a:t>behaviour, </a:t>
            </a:r>
            <a:r>
              <a:rPr sz="1800" spc="-5" dirty="0">
                <a:latin typeface="Arial"/>
                <a:cs typeface="Arial"/>
              </a:rPr>
              <a:t>as </a:t>
            </a:r>
            <a:r>
              <a:rPr sz="1800" spc="-15" dirty="0">
                <a:latin typeface="Arial"/>
                <a:cs typeface="Arial"/>
              </a:rPr>
              <a:t>well </a:t>
            </a:r>
            <a:r>
              <a:rPr sz="1800" spc="-5" dirty="0">
                <a:latin typeface="Arial"/>
                <a:cs typeface="Arial"/>
              </a:rPr>
              <a:t>as</a:t>
            </a:r>
            <a:r>
              <a:rPr sz="1800" spc="1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types</a:t>
            </a:r>
            <a:endParaRPr sz="1800">
              <a:latin typeface="Arial"/>
              <a:cs typeface="Arial"/>
            </a:endParaRPr>
          </a:p>
          <a:p>
            <a:pPr marL="1332865" lvl="2" indent="-17526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3333"/>
              <a:buFont typeface="Wingdings"/>
              <a:buChar char=""/>
              <a:tabLst>
                <a:tab pos="1333500" algn="l"/>
              </a:tabLst>
            </a:pPr>
            <a:r>
              <a:rPr sz="1800" spc="-10" dirty="0">
                <a:latin typeface="Arial"/>
                <a:cs typeface="Arial"/>
              </a:rPr>
              <a:t>but not</a:t>
            </a:r>
            <a:r>
              <a:rPr sz="1800" spc="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state!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1600" b="1" spc="-5" dirty="0">
                <a:latin typeface="Courier New"/>
                <a:cs typeface="Courier New"/>
              </a:rPr>
              <a:t>public interface Set&lt;T&gt; extends Collection&lt;T&gt;</a:t>
            </a:r>
            <a:r>
              <a:rPr sz="1600" b="1" spc="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5"/>
              </a:spcBef>
              <a:tabLst>
                <a:tab pos="1110615" algn="l"/>
              </a:tabLst>
            </a:pPr>
            <a:r>
              <a:rPr sz="1600" b="1" spc="-5" dirty="0">
                <a:latin typeface="Courier New"/>
                <a:cs typeface="Courier New"/>
              </a:rPr>
              <a:t>...	// The existing Set</a:t>
            </a:r>
            <a:r>
              <a:rPr sz="1600" b="1" spc="2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methods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256540">
              <a:lnSpc>
                <a:spcPct val="100000"/>
              </a:lnSpc>
            </a:pP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default </a:t>
            </a:r>
            <a:r>
              <a:rPr sz="1600" b="1" spc="-5" dirty="0">
                <a:latin typeface="Courier New"/>
                <a:cs typeface="Courier New"/>
              </a:rPr>
              <a:t>Spliterator&lt;E&gt; spliterator()</a:t>
            </a:r>
            <a:r>
              <a:rPr sz="1600" b="1" spc="2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0038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return Spliterators.spliterator(this,</a:t>
            </a:r>
            <a:r>
              <a:rPr sz="1600" b="1" spc="2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Spliterator.DISTINCT);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475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Static Methods In</a:t>
            </a:r>
            <a:r>
              <a:rPr spc="25" dirty="0"/>
              <a:t> </a:t>
            </a:r>
            <a:r>
              <a:rPr spc="-5" dirty="0"/>
              <a:t>Interfaces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20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425977"/>
            <a:ext cx="8056245" cy="27349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Previously it was not possible to include static methods in an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interface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Static methods, by definition, are not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abstract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484"/>
              </a:spcBef>
            </a:pPr>
            <a:r>
              <a:rPr sz="1500" spc="15" dirty="0">
                <a:solidFill>
                  <a:srgbClr val="5482A4"/>
                </a:solidFill>
                <a:latin typeface="Arial"/>
                <a:cs typeface="Arial"/>
              </a:rPr>
              <a:t>– </a:t>
            </a:r>
            <a:r>
              <a:rPr sz="1800" b="1" spc="-10" dirty="0">
                <a:solidFill>
                  <a:srgbClr val="5482A4"/>
                </a:solidFill>
                <a:latin typeface="Courier New"/>
                <a:cs typeface="Courier New"/>
              </a:rPr>
              <a:t>@FunctionalInterface</a:t>
            </a:r>
            <a:r>
              <a:rPr sz="1800" b="1" spc="-515" dirty="0">
                <a:solidFill>
                  <a:srgbClr val="5482A4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can have zero or more </a:t>
            </a:r>
            <a:r>
              <a:rPr sz="1800" dirty="0">
                <a:latin typeface="Arial"/>
                <a:cs typeface="Arial"/>
              </a:rPr>
              <a:t>static </a:t>
            </a:r>
            <a:r>
              <a:rPr sz="1800" spc="-5" dirty="0"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Times New Roman"/>
              <a:cs typeface="Times New Roman"/>
            </a:endParaRPr>
          </a:p>
          <a:p>
            <a:pPr marL="1595755" marR="1571625" indent="-977265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Courier New"/>
                <a:cs typeface="Courier New"/>
              </a:rPr>
              <a:t>static &lt;T&gt; Predicate&lt;T&gt; isEqual(Object target) {  return (null ==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target)</a:t>
            </a:r>
            <a:endParaRPr sz="1600">
              <a:latin typeface="Courier New"/>
              <a:cs typeface="Courier New"/>
            </a:endParaRPr>
          </a:p>
          <a:p>
            <a:pPr marL="257302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? Objects::isNull</a:t>
            </a:r>
            <a:endParaRPr sz="1600">
              <a:latin typeface="Courier New"/>
              <a:cs typeface="Courier New"/>
            </a:endParaRPr>
          </a:p>
          <a:p>
            <a:pPr marL="257302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: object -&gt;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target.equals(object);</a:t>
            </a:r>
            <a:endParaRPr sz="1600">
              <a:latin typeface="Courier New"/>
              <a:cs typeface="Courier New"/>
            </a:endParaRPr>
          </a:p>
          <a:p>
            <a:pPr marL="61912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415679"/>
            <a:ext cx="7402195" cy="29343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Most business logic is about aggregate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operations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“Most </a:t>
            </a:r>
            <a:r>
              <a:rPr sz="1800" spc="-10" dirty="0">
                <a:latin typeface="Arial"/>
                <a:cs typeface="Arial"/>
              </a:rPr>
              <a:t>profitable </a:t>
            </a:r>
            <a:r>
              <a:rPr sz="1800" spc="-5" dirty="0">
                <a:latin typeface="Arial"/>
                <a:cs typeface="Arial"/>
              </a:rPr>
              <a:t>product by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region”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“Group transactions by </a:t>
            </a:r>
            <a:r>
              <a:rPr sz="1800" spc="-10" dirty="0">
                <a:latin typeface="Arial"/>
                <a:cs typeface="Arial"/>
              </a:rPr>
              <a:t>currency”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As we have seen, up to </a:t>
            </a:r>
            <a:r>
              <a:rPr sz="2000" spc="-25" dirty="0">
                <a:latin typeface="Arial"/>
                <a:cs typeface="Arial"/>
              </a:rPr>
              <a:t>now, </a:t>
            </a:r>
            <a:r>
              <a:rPr sz="2000" dirty="0">
                <a:latin typeface="Arial"/>
                <a:cs typeface="Arial"/>
              </a:rPr>
              <a:t>Java mostly uses external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iteration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Inherently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serial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Frustratingly</a:t>
            </a:r>
            <a:r>
              <a:rPr sz="1800" spc="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imperative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459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Java SE </a:t>
            </a:r>
            <a:r>
              <a:rPr sz="2000" spc="-15" dirty="0">
                <a:latin typeface="Arial"/>
                <a:cs typeface="Arial"/>
              </a:rPr>
              <a:t>8’s </a:t>
            </a:r>
            <a:r>
              <a:rPr sz="2000" dirty="0">
                <a:latin typeface="Arial"/>
                <a:cs typeface="Arial"/>
              </a:rPr>
              <a:t>answer: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Streams</a:t>
            </a:r>
            <a:endParaRPr sz="2000">
              <a:latin typeface="Courier New"/>
              <a:cs typeface="Courier New"/>
            </a:endParaRPr>
          </a:p>
          <a:p>
            <a:pPr marL="584200" lvl="1" indent="-228600">
              <a:lnSpc>
                <a:spcPct val="100000"/>
              </a:lnSpc>
              <a:spcBef>
                <a:spcPts val="745"/>
              </a:spcBef>
              <a:buSzPct val="83333"/>
              <a:buChar char="–"/>
              <a:tabLst>
                <a:tab pos="584835" algn="l"/>
              </a:tabLst>
            </a:pPr>
            <a:r>
              <a:rPr sz="1800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help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5" dirty="0">
                <a:latin typeface="Arial"/>
                <a:cs typeface="Arial"/>
              </a:rPr>
              <a:t> Lambdas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21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2513330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Streams</a:t>
            </a:r>
            <a:r>
              <a:rPr spc="-105" dirty="0"/>
              <a:t> </a:t>
            </a:r>
            <a:r>
              <a:rPr spc="-5" dirty="0"/>
              <a:t>API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Aggregate</a:t>
            </a:r>
            <a:r>
              <a:rPr sz="2000" b="0" spc="-80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Operations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415679"/>
            <a:ext cx="6092825" cy="220218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Abstraction for specifying aggregate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computations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Not a data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structure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Can be infinite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Simplifies the description of aggregate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computations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Exposes opportunities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optimization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Fusing, laziness and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parallelism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22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2910840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Stream</a:t>
            </a:r>
            <a:r>
              <a:rPr spc="-45" dirty="0"/>
              <a:t> </a:t>
            </a:r>
            <a:r>
              <a:rPr spc="-5" dirty="0"/>
              <a:t>Overview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High </a:t>
            </a: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Level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29108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Stream</a:t>
            </a:r>
            <a:r>
              <a:rPr spc="-45" dirty="0"/>
              <a:t> </a:t>
            </a:r>
            <a:r>
              <a:rPr spc="-5" dirty="0"/>
              <a:t>Overview</a:t>
            </a:r>
          </a:p>
        </p:txBody>
      </p:sp>
      <p:sp>
        <p:nvSpPr>
          <p:cNvPr id="6" name="object 6"/>
          <p:cNvSpPr/>
          <p:nvPr/>
        </p:nvSpPr>
        <p:spPr>
          <a:xfrm>
            <a:off x="4032503" y="3005327"/>
            <a:ext cx="1912620" cy="6126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90238" y="3028569"/>
            <a:ext cx="1712595" cy="446405"/>
          </a:xfrm>
          <a:custGeom>
            <a:avLst/>
            <a:gdLst/>
            <a:ahLst/>
            <a:cxnLst/>
            <a:rect l="l" t="t" r="r" b="b"/>
            <a:pathLst>
              <a:path w="1712595" h="446404">
                <a:moveTo>
                  <a:pt x="86613" y="329311"/>
                </a:moveTo>
                <a:lnTo>
                  <a:pt x="81534" y="334263"/>
                </a:lnTo>
                <a:lnTo>
                  <a:pt x="0" y="411353"/>
                </a:lnTo>
                <a:lnTo>
                  <a:pt x="107187" y="444373"/>
                </a:lnTo>
                <a:lnTo>
                  <a:pt x="114046" y="446405"/>
                </a:lnTo>
                <a:lnTo>
                  <a:pt x="121285" y="442594"/>
                </a:lnTo>
                <a:lnTo>
                  <a:pt x="123316" y="435737"/>
                </a:lnTo>
                <a:lnTo>
                  <a:pt x="125475" y="429006"/>
                </a:lnTo>
                <a:lnTo>
                  <a:pt x="121665" y="421639"/>
                </a:lnTo>
                <a:lnTo>
                  <a:pt x="114808" y="419607"/>
                </a:lnTo>
                <a:lnTo>
                  <a:pt x="109871" y="418083"/>
                </a:lnTo>
                <a:lnTo>
                  <a:pt x="27939" y="418083"/>
                </a:lnTo>
                <a:lnTo>
                  <a:pt x="21971" y="392811"/>
                </a:lnTo>
                <a:lnTo>
                  <a:pt x="68833" y="381883"/>
                </a:lnTo>
                <a:lnTo>
                  <a:pt x="104521" y="348106"/>
                </a:lnTo>
                <a:lnTo>
                  <a:pt x="104648" y="339979"/>
                </a:lnTo>
                <a:lnTo>
                  <a:pt x="99822" y="334772"/>
                </a:lnTo>
                <a:lnTo>
                  <a:pt x="94869" y="329564"/>
                </a:lnTo>
                <a:lnTo>
                  <a:pt x="86613" y="329311"/>
                </a:lnTo>
                <a:close/>
              </a:path>
              <a:path w="1712595" h="446404">
                <a:moveTo>
                  <a:pt x="68833" y="381883"/>
                </a:moveTo>
                <a:lnTo>
                  <a:pt x="21971" y="392811"/>
                </a:lnTo>
                <a:lnTo>
                  <a:pt x="27939" y="418083"/>
                </a:lnTo>
                <a:lnTo>
                  <a:pt x="41551" y="414908"/>
                </a:lnTo>
                <a:lnTo>
                  <a:pt x="33909" y="414908"/>
                </a:lnTo>
                <a:lnTo>
                  <a:pt x="28828" y="393064"/>
                </a:lnTo>
                <a:lnTo>
                  <a:pt x="57008" y="393064"/>
                </a:lnTo>
                <a:lnTo>
                  <a:pt x="68833" y="381883"/>
                </a:lnTo>
                <a:close/>
              </a:path>
              <a:path w="1712595" h="446404">
                <a:moveTo>
                  <a:pt x="74608" y="407197"/>
                </a:moveTo>
                <a:lnTo>
                  <a:pt x="27939" y="418083"/>
                </a:lnTo>
                <a:lnTo>
                  <a:pt x="109871" y="418083"/>
                </a:lnTo>
                <a:lnTo>
                  <a:pt x="74608" y="407197"/>
                </a:lnTo>
                <a:close/>
              </a:path>
              <a:path w="1712595" h="446404">
                <a:moveTo>
                  <a:pt x="28828" y="393064"/>
                </a:moveTo>
                <a:lnTo>
                  <a:pt x="33909" y="414908"/>
                </a:lnTo>
                <a:lnTo>
                  <a:pt x="50073" y="399623"/>
                </a:lnTo>
                <a:lnTo>
                  <a:pt x="28828" y="393064"/>
                </a:lnTo>
                <a:close/>
              </a:path>
              <a:path w="1712595" h="446404">
                <a:moveTo>
                  <a:pt x="50073" y="399623"/>
                </a:moveTo>
                <a:lnTo>
                  <a:pt x="33909" y="414908"/>
                </a:lnTo>
                <a:lnTo>
                  <a:pt x="41551" y="414908"/>
                </a:lnTo>
                <a:lnTo>
                  <a:pt x="74608" y="407197"/>
                </a:lnTo>
                <a:lnTo>
                  <a:pt x="50073" y="399623"/>
                </a:lnTo>
                <a:close/>
              </a:path>
              <a:path w="1712595" h="446404">
                <a:moveTo>
                  <a:pt x="1706499" y="0"/>
                </a:moveTo>
                <a:lnTo>
                  <a:pt x="68833" y="381883"/>
                </a:lnTo>
                <a:lnTo>
                  <a:pt x="50073" y="399623"/>
                </a:lnTo>
                <a:lnTo>
                  <a:pt x="74608" y="407197"/>
                </a:lnTo>
                <a:lnTo>
                  <a:pt x="1712467" y="25145"/>
                </a:lnTo>
                <a:lnTo>
                  <a:pt x="1706499" y="0"/>
                </a:lnTo>
                <a:close/>
              </a:path>
              <a:path w="1712595" h="446404">
                <a:moveTo>
                  <a:pt x="57008" y="393064"/>
                </a:moveTo>
                <a:lnTo>
                  <a:pt x="28828" y="393064"/>
                </a:lnTo>
                <a:lnTo>
                  <a:pt x="50073" y="399623"/>
                </a:lnTo>
                <a:lnTo>
                  <a:pt x="57008" y="393064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3903" y="628269"/>
            <a:ext cx="8151495" cy="4159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0209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5282A0"/>
                </a:solidFill>
                <a:latin typeface="Arial"/>
                <a:cs typeface="Arial"/>
              </a:rPr>
              <a:t>Pipeline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628015" indent="-167640">
              <a:lnSpc>
                <a:spcPct val="100000"/>
              </a:lnSpc>
              <a:buClr>
                <a:srgbClr val="5282A0"/>
              </a:buClr>
              <a:buSzPct val="85000"/>
              <a:buFont typeface="Wingdings"/>
              <a:buChar char=""/>
              <a:tabLst>
                <a:tab pos="628650" algn="l"/>
              </a:tabLst>
            </a:pPr>
            <a:r>
              <a:rPr sz="2000" dirty="0">
                <a:latin typeface="Arial"/>
                <a:cs typeface="Arial"/>
              </a:rPr>
              <a:t>A stream pipeline consists of three </a:t>
            </a:r>
            <a:r>
              <a:rPr sz="2000" spc="-5" dirty="0">
                <a:latin typeface="Arial"/>
                <a:cs typeface="Arial"/>
              </a:rPr>
              <a:t>types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things</a:t>
            </a:r>
            <a:endParaRPr sz="2000">
              <a:latin typeface="Arial"/>
              <a:cs typeface="Arial"/>
            </a:endParaRPr>
          </a:p>
          <a:p>
            <a:pPr marL="1031875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1032510" algn="l"/>
              </a:tabLst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1031875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1032510" algn="l"/>
              </a:tabLst>
            </a:pPr>
            <a:r>
              <a:rPr sz="1800" dirty="0">
                <a:latin typeface="Arial"/>
                <a:cs typeface="Arial"/>
              </a:rPr>
              <a:t>Zero or </a:t>
            </a:r>
            <a:r>
              <a:rPr sz="1800" spc="-5" dirty="0">
                <a:latin typeface="Arial"/>
                <a:cs typeface="Arial"/>
              </a:rPr>
              <a:t>more intermediate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operations</a:t>
            </a:r>
            <a:endParaRPr sz="1800">
              <a:latin typeface="Arial"/>
              <a:cs typeface="Arial"/>
            </a:endParaRPr>
          </a:p>
          <a:p>
            <a:pPr marL="1031875" lvl="1" indent="-228600">
              <a:lnSpc>
                <a:spcPct val="100000"/>
              </a:lnSpc>
              <a:spcBef>
                <a:spcPts val="605"/>
              </a:spcBef>
              <a:buSzPct val="83333"/>
              <a:buChar char="–"/>
              <a:tabLst>
                <a:tab pos="1032510" algn="l"/>
              </a:tabLst>
            </a:pP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terminal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operation</a:t>
            </a:r>
            <a:endParaRPr sz="1800">
              <a:latin typeface="Arial"/>
              <a:cs typeface="Arial"/>
            </a:endParaRPr>
          </a:p>
          <a:p>
            <a:pPr marL="1374775" lvl="2" indent="-175260">
              <a:lnSpc>
                <a:spcPts val="2090"/>
              </a:lnSpc>
              <a:spcBef>
                <a:spcPts val="600"/>
              </a:spcBef>
              <a:buClr>
                <a:srgbClr val="5282A0"/>
              </a:buClr>
              <a:buSzPct val="83333"/>
              <a:buFont typeface="Wingdings"/>
              <a:buChar char=""/>
              <a:tabLst>
                <a:tab pos="1375410" algn="l"/>
              </a:tabLst>
            </a:pPr>
            <a:r>
              <a:rPr sz="1800" spc="-5" dirty="0">
                <a:latin typeface="Arial"/>
                <a:cs typeface="Arial"/>
              </a:rPr>
              <a:t>Producing a result or a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side-effect</a:t>
            </a:r>
            <a:endParaRPr sz="1800">
              <a:latin typeface="Arial"/>
              <a:cs typeface="Arial"/>
            </a:endParaRPr>
          </a:p>
          <a:p>
            <a:pPr marR="1821814" algn="r">
              <a:lnSpc>
                <a:spcPts val="2090"/>
              </a:lnSpc>
            </a:pP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S</a:t>
            </a:r>
            <a:r>
              <a:rPr sz="1800" spc="-15" dirty="0">
                <a:solidFill>
                  <a:srgbClr val="424545"/>
                </a:solidFill>
                <a:latin typeface="Arial"/>
                <a:cs typeface="Arial"/>
              </a:rPr>
              <a:t>o</a:t>
            </a: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urce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600" b="1" spc="-5" dirty="0">
                <a:solidFill>
                  <a:srgbClr val="424545"/>
                </a:solidFill>
                <a:latin typeface="Courier New"/>
                <a:cs typeface="Courier New"/>
              </a:rPr>
              <a:t>int sum =</a:t>
            </a:r>
            <a:r>
              <a:rPr sz="1600" b="1" spc="15" dirty="0">
                <a:solidFill>
                  <a:srgbClr val="424545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424545"/>
                </a:solidFill>
                <a:latin typeface="Courier New"/>
                <a:cs typeface="Courier New"/>
              </a:rPr>
              <a:t>transactions.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stream()</a:t>
            </a:r>
            <a:r>
              <a:rPr sz="1600" b="1" spc="-5" dirty="0">
                <a:solidFill>
                  <a:srgbClr val="424545"/>
                </a:solidFill>
                <a:latin typeface="Courier New"/>
                <a:cs typeface="Courier New"/>
              </a:rPr>
              <a:t>.</a:t>
            </a:r>
            <a:endParaRPr sz="1600">
              <a:latin typeface="Courier New"/>
              <a:cs typeface="Courier New"/>
            </a:endParaRPr>
          </a:p>
          <a:p>
            <a:pPr marL="256540" marR="1417955">
              <a:lnSpc>
                <a:spcPct val="100000"/>
              </a:lnSpc>
            </a:pP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filter</a:t>
            </a:r>
            <a:r>
              <a:rPr sz="1600" b="1" spc="-5" dirty="0">
                <a:solidFill>
                  <a:srgbClr val="424545"/>
                </a:solidFill>
                <a:latin typeface="Courier New"/>
                <a:cs typeface="Courier New"/>
              </a:rPr>
              <a:t>(t </a:t>
            </a:r>
            <a:r>
              <a:rPr sz="1600" b="1" dirty="0">
                <a:solidFill>
                  <a:srgbClr val="424545"/>
                </a:solidFill>
                <a:latin typeface="Courier New"/>
                <a:cs typeface="Courier New"/>
              </a:rPr>
              <a:t>-&gt; </a:t>
            </a:r>
            <a:r>
              <a:rPr sz="1600" b="1" spc="-5" dirty="0">
                <a:solidFill>
                  <a:srgbClr val="424545"/>
                </a:solidFill>
                <a:latin typeface="Courier New"/>
                <a:cs typeface="Courier New"/>
              </a:rPr>
              <a:t>t.getBuyer().getCity().equals(“London”)).  </a:t>
            </a: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mapToInt</a:t>
            </a:r>
            <a:r>
              <a:rPr sz="1600" b="1" spc="-5" dirty="0">
                <a:solidFill>
                  <a:srgbClr val="424545"/>
                </a:solidFill>
                <a:latin typeface="Courier New"/>
                <a:cs typeface="Courier New"/>
              </a:rPr>
              <a:t>(Transaction::getPrice).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ts val="1760"/>
              </a:lnSpc>
              <a:spcBef>
                <a:spcPts val="5"/>
              </a:spcBef>
            </a:pPr>
            <a:r>
              <a:rPr sz="1600" b="1" spc="-5" dirty="0">
                <a:solidFill>
                  <a:srgbClr val="008000"/>
                </a:solidFill>
                <a:latin typeface="Courier New"/>
                <a:cs typeface="Courier New"/>
              </a:rPr>
              <a:t>sum</a:t>
            </a:r>
            <a:r>
              <a:rPr sz="1600" b="1" spc="-5" dirty="0">
                <a:solidFill>
                  <a:srgbClr val="424545"/>
                </a:solidFill>
                <a:latin typeface="Courier New"/>
                <a:cs typeface="Courier New"/>
              </a:rPr>
              <a:t>();</a:t>
            </a:r>
            <a:endParaRPr sz="1600">
              <a:latin typeface="Courier New"/>
              <a:cs typeface="Courier New"/>
            </a:endParaRPr>
          </a:p>
          <a:p>
            <a:pPr marR="5080" algn="r">
              <a:lnSpc>
                <a:spcPts val="2000"/>
              </a:lnSpc>
            </a:pP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Intermediate</a:t>
            </a:r>
            <a:r>
              <a:rPr sz="1800" spc="-3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operation</a:t>
            </a:r>
            <a:endParaRPr sz="1800">
              <a:latin typeface="Arial"/>
              <a:cs typeface="Arial"/>
            </a:endParaRPr>
          </a:p>
          <a:p>
            <a:pPr marL="2401570">
              <a:lnSpc>
                <a:spcPct val="100000"/>
              </a:lnSpc>
              <a:spcBef>
                <a:spcPts val="140"/>
              </a:spcBef>
            </a:pPr>
            <a:r>
              <a:rPr sz="1800" spc="-30" dirty="0">
                <a:solidFill>
                  <a:srgbClr val="424545"/>
                </a:solidFill>
                <a:latin typeface="Arial"/>
                <a:cs typeface="Arial"/>
              </a:rPr>
              <a:t>Terminal</a:t>
            </a: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 operation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43583" y="4061459"/>
            <a:ext cx="1508760" cy="6568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01317" y="4175709"/>
            <a:ext cx="1308100" cy="480695"/>
          </a:xfrm>
          <a:custGeom>
            <a:avLst/>
            <a:gdLst/>
            <a:ahLst/>
            <a:cxnLst/>
            <a:rect l="l" t="t" r="r" b="b"/>
            <a:pathLst>
              <a:path w="1308100" h="480695">
                <a:moveTo>
                  <a:pt x="73797" y="35146"/>
                </a:moveTo>
                <a:lnTo>
                  <a:pt x="48575" y="40241"/>
                </a:lnTo>
                <a:lnTo>
                  <a:pt x="65418" y="59669"/>
                </a:lnTo>
                <a:lnTo>
                  <a:pt x="1299718" y="480441"/>
                </a:lnTo>
                <a:lnTo>
                  <a:pt x="1307973" y="455917"/>
                </a:lnTo>
                <a:lnTo>
                  <a:pt x="73797" y="35146"/>
                </a:lnTo>
                <a:close/>
              </a:path>
              <a:path w="1308100" h="480695">
                <a:moveTo>
                  <a:pt x="116966" y="0"/>
                </a:moveTo>
                <a:lnTo>
                  <a:pt x="0" y="23647"/>
                </a:lnTo>
                <a:lnTo>
                  <a:pt x="78104" y="113830"/>
                </a:lnTo>
                <a:lnTo>
                  <a:pt x="86232" y="114414"/>
                </a:lnTo>
                <a:lnTo>
                  <a:pt x="97154" y="105041"/>
                </a:lnTo>
                <a:lnTo>
                  <a:pt x="97662" y="96862"/>
                </a:lnTo>
                <a:lnTo>
                  <a:pt x="65418" y="59669"/>
                </a:lnTo>
                <a:lnTo>
                  <a:pt x="20065" y="44208"/>
                </a:lnTo>
                <a:lnTo>
                  <a:pt x="28447" y="19685"/>
                </a:lnTo>
                <a:lnTo>
                  <a:pt x="125864" y="19685"/>
                </a:lnTo>
                <a:lnTo>
                  <a:pt x="126618" y="18554"/>
                </a:lnTo>
                <a:lnTo>
                  <a:pt x="125222" y="11544"/>
                </a:lnTo>
                <a:lnTo>
                  <a:pt x="123697" y="4533"/>
                </a:lnTo>
                <a:lnTo>
                  <a:pt x="116966" y="0"/>
                </a:lnTo>
                <a:close/>
              </a:path>
              <a:path w="1308100" h="480695">
                <a:moveTo>
                  <a:pt x="28447" y="19685"/>
                </a:moveTo>
                <a:lnTo>
                  <a:pt x="20065" y="44208"/>
                </a:lnTo>
                <a:lnTo>
                  <a:pt x="65418" y="59669"/>
                </a:lnTo>
                <a:lnTo>
                  <a:pt x="52389" y="44640"/>
                </a:lnTo>
                <a:lnTo>
                  <a:pt x="26796" y="44640"/>
                </a:lnTo>
                <a:lnTo>
                  <a:pt x="34035" y="23469"/>
                </a:lnTo>
                <a:lnTo>
                  <a:pt x="39548" y="23469"/>
                </a:lnTo>
                <a:lnTo>
                  <a:pt x="28447" y="19685"/>
                </a:lnTo>
                <a:close/>
              </a:path>
              <a:path w="1308100" h="480695">
                <a:moveTo>
                  <a:pt x="34035" y="23469"/>
                </a:moveTo>
                <a:lnTo>
                  <a:pt x="26796" y="44640"/>
                </a:lnTo>
                <a:lnTo>
                  <a:pt x="48575" y="40241"/>
                </a:lnTo>
                <a:lnTo>
                  <a:pt x="34035" y="23469"/>
                </a:lnTo>
                <a:close/>
              </a:path>
              <a:path w="1308100" h="480695">
                <a:moveTo>
                  <a:pt x="48575" y="40241"/>
                </a:moveTo>
                <a:lnTo>
                  <a:pt x="26796" y="44640"/>
                </a:lnTo>
                <a:lnTo>
                  <a:pt x="52389" y="44640"/>
                </a:lnTo>
                <a:lnTo>
                  <a:pt x="48575" y="40241"/>
                </a:lnTo>
                <a:close/>
              </a:path>
              <a:path w="1308100" h="480695">
                <a:moveTo>
                  <a:pt x="39548" y="23469"/>
                </a:moveTo>
                <a:lnTo>
                  <a:pt x="34035" y="23469"/>
                </a:lnTo>
                <a:lnTo>
                  <a:pt x="48575" y="40241"/>
                </a:lnTo>
                <a:lnTo>
                  <a:pt x="73797" y="35146"/>
                </a:lnTo>
                <a:lnTo>
                  <a:pt x="39548" y="23469"/>
                </a:lnTo>
                <a:close/>
              </a:path>
              <a:path w="1308100" h="480695">
                <a:moveTo>
                  <a:pt x="125864" y="19685"/>
                </a:moveTo>
                <a:lnTo>
                  <a:pt x="28447" y="19685"/>
                </a:lnTo>
                <a:lnTo>
                  <a:pt x="73797" y="35146"/>
                </a:lnTo>
                <a:lnTo>
                  <a:pt x="122047" y="25400"/>
                </a:lnTo>
                <a:lnTo>
                  <a:pt x="125864" y="19685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94376" y="3681984"/>
            <a:ext cx="958596" cy="7208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52109" y="3819905"/>
            <a:ext cx="758190" cy="520700"/>
          </a:xfrm>
          <a:custGeom>
            <a:avLst/>
            <a:gdLst/>
            <a:ahLst/>
            <a:cxnLst/>
            <a:rect l="l" t="t" r="r" b="b"/>
            <a:pathLst>
              <a:path w="758189" h="520700">
                <a:moveTo>
                  <a:pt x="42500" y="28842"/>
                </a:moveTo>
                <a:lnTo>
                  <a:pt x="53611" y="52062"/>
                </a:lnTo>
                <a:lnTo>
                  <a:pt x="743585" y="520547"/>
                </a:lnTo>
                <a:lnTo>
                  <a:pt x="758189" y="499110"/>
                </a:lnTo>
                <a:lnTo>
                  <a:pt x="68122" y="30618"/>
                </a:lnTo>
                <a:lnTo>
                  <a:pt x="42500" y="28842"/>
                </a:lnTo>
                <a:close/>
              </a:path>
              <a:path w="758189" h="520700">
                <a:moveTo>
                  <a:pt x="0" y="0"/>
                </a:moveTo>
                <a:lnTo>
                  <a:pt x="48387" y="101168"/>
                </a:lnTo>
                <a:lnTo>
                  <a:pt x="51435" y="107619"/>
                </a:lnTo>
                <a:lnTo>
                  <a:pt x="59181" y="110350"/>
                </a:lnTo>
                <a:lnTo>
                  <a:pt x="72136" y="104178"/>
                </a:lnTo>
                <a:lnTo>
                  <a:pt x="74802" y="96443"/>
                </a:lnTo>
                <a:lnTo>
                  <a:pt x="71754" y="89979"/>
                </a:lnTo>
                <a:lnTo>
                  <a:pt x="53611" y="52062"/>
                </a:lnTo>
                <a:lnTo>
                  <a:pt x="13969" y="25146"/>
                </a:lnTo>
                <a:lnTo>
                  <a:pt x="28448" y="3683"/>
                </a:lnTo>
                <a:lnTo>
                  <a:pt x="54078" y="3683"/>
                </a:lnTo>
                <a:lnTo>
                  <a:pt x="0" y="0"/>
                </a:lnTo>
                <a:close/>
              </a:path>
              <a:path w="758189" h="520700">
                <a:moveTo>
                  <a:pt x="28448" y="3683"/>
                </a:moveTo>
                <a:lnTo>
                  <a:pt x="13969" y="25146"/>
                </a:lnTo>
                <a:lnTo>
                  <a:pt x="53611" y="52062"/>
                </a:lnTo>
                <a:lnTo>
                  <a:pt x="42500" y="28842"/>
                </a:lnTo>
                <a:lnTo>
                  <a:pt x="20319" y="27305"/>
                </a:lnTo>
                <a:lnTo>
                  <a:pt x="32892" y="8763"/>
                </a:lnTo>
                <a:lnTo>
                  <a:pt x="35930" y="8763"/>
                </a:lnTo>
                <a:lnTo>
                  <a:pt x="28448" y="3683"/>
                </a:lnTo>
                <a:close/>
              </a:path>
              <a:path w="758189" h="520700">
                <a:moveTo>
                  <a:pt x="54078" y="3683"/>
                </a:moveTo>
                <a:lnTo>
                  <a:pt x="28448" y="3683"/>
                </a:lnTo>
                <a:lnTo>
                  <a:pt x="68122" y="30618"/>
                </a:lnTo>
                <a:lnTo>
                  <a:pt x="110109" y="33528"/>
                </a:lnTo>
                <a:lnTo>
                  <a:pt x="117220" y="33909"/>
                </a:lnTo>
                <a:lnTo>
                  <a:pt x="123443" y="28575"/>
                </a:lnTo>
                <a:lnTo>
                  <a:pt x="124460" y="14351"/>
                </a:lnTo>
                <a:lnTo>
                  <a:pt x="118999" y="8128"/>
                </a:lnTo>
                <a:lnTo>
                  <a:pt x="54078" y="3683"/>
                </a:lnTo>
                <a:close/>
              </a:path>
              <a:path w="758189" h="520700">
                <a:moveTo>
                  <a:pt x="35930" y="8763"/>
                </a:moveTo>
                <a:lnTo>
                  <a:pt x="32892" y="8763"/>
                </a:lnTo>
                <a:lnTo>
                  <a:pt x="42500" y="28842"/>
                </a:lnTo>
                <a:lnTo>
                  <a:pt x="68122" y="30618"/>
                </a:lnTo>
                <a:lnTo>
                  <a:pt x="35930" y="8763"/>
                </a:lnTo>
                <a:close/>
              </a:path>
              <a:path w="758189" h="520700">
                <a:moveTo>
                  <a:pt x="32892" y="8763"/>
                </a:moveTo>
                <a:lnTo>
                  <a:pt x="20319" y="27305"/>
                </a:lnTo>
                <a:lnTo>
                  <a:pt x="42500" y="28842"/>
                </a:lnTo>
                <a:lnTo>
                  <a:pt x="32892" y="8763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95215" y="3802379"/>
            <a:ext cx="1844039" cy="6111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52950" y="3906189"/>
            <a:ext cx="1644014" cy="445770"/>
          </a:xfrm>
          <a:custGeom>
            <a:avLst/>
            <a:gdLst/>
            <a:ahLst/>
            <a:cxnLst/>
            <a:rect l="l" t="t" r="r" b="b"/>
            <a:pathLst>
              <a:path w="1644014" h="445770">
                <a:moveTo>
                  <a:pt x="74511" y="38884"/>
                </a:moveTo>
                <a:lnTo>
                  <a:pt x="49882" y="46226"/>
                </a:lnTo>
                <a:lnTo>
                  <a:pt x="68395" y="64063"/>
                </a:lnTo>
                <a:lnTo>
                  <a:pt x="1637791" y="445300"/>
                </a:lnTo>
                <a:lnTo>
                  <a:pt x="1643888" y="420115"/>
                </a:lnTo>
                <a:lnTo>
                  <a:pt x="74511" y="38884"/>
                </a:lnTo>
                <a:close/>
              </a:path>
              <a:path w="1644014" h="445770">
                <a:moveTo>
                  <a:pt x="114300" y="0"/>
                </a:moveTo>
                <a:lnTo>
                  <a:pt x="0" y="34099"/>
                </a:lnTo>
                <a:lnTo>
                  <a:pt x="85978" y="116865"/>
                </a:lnTo>
                <a:lnTo>
                  <a:pt x="94107" y="116712"/>
                </a:lnTo>
                <a:lnTo>
                  <a:pt x="104012" y="106400"/>
                </a:lnTo>
                <a:lnTo>
                  <a:pt x="103886" y="98196"/>
                </a:lnTo>
                <a:lnTo>
                  <a:pt x="98678" y="93243"/>
                </a:lnTo>
                <a:lnTo>
                  <a:pt x="68395" y="64063"/>
                </a:lnTo>
                <a:lnTo>
                  <a:pt x="21844" y="52755"/>
                </a:lnTo>
                <a:lnTo>
                  <a:pt x="27939" y="27571"/>
                </a:lnTo>
                <a:lnTo>
                  <a:pt x="112463" y="27571"/>
                </a:lnTo>
                <a:lnTo>
                  <a:pt x="121665" y="24828"/>
                </a:lnTo>
                <a:lnTo>
                  <a:pt x="125602" y="17614"/>
                </a:lnTo>
                <a:lnTo>
                  <a:pt x="121538" y="3898"/>
                </a:lnTo>
                <a:lnTo>
                  <a:pt x="114300" y="0"/>
                </a:lnTo>
                <a:close/>
              </a:path>
              <a:path w="1644014" h="445770">
                <a:moveTo>
                  <a:pt x="27939" y="27571"/>
                </a:moveTo>
                <a:lnTo>
                  <a:pt x="21844" y="52755"/>
                </a:lnTo>
                <a:lnTo>
                  <a:pt x="68395" y="64063"/>
                </a:lnTo>
                <a:lnTo>
                  <a:pt x="56474" y="52577"/>
                </a:lnTo>
                <a:lnTo>
                  <a:pt x="28575" y="52577"/>
                </a:lnTo>
                <a:lnTo>
                  <a:pt x="33909" y="30835"/>
                </a:lnTo>
                <a:lnTo>
                  <a:pt x="41376" y="30835"/>
                </a:lnTo>
                <a:lnTo>
                  <a:pt x="27939" y="27571"/>
                </a:lnTo>
                <a:close/>
              </a:path>
              <a:path w="1644014" h="445770">
                <a:moveTo>
                  <a:pt x="33909" y="30835"/>
                </a:moveTo>
                <a:lnTo>
                  <a:pt x="28575" y="52577"/>
                </a:lnTo>
                <a:lnTo>
                  <a:pt x="49882" y="46226"/>
                </a:lnTo>
                <a:lnTo>
                  <a:pt x="33909" y="30835"/>
                </a:lnTo>
                <a:close/>
              </a:path>
              <a:path w="1644014" h="445770">
                <a:moveTo>
                  <a:pt x="49882" y="46226"/>
                </a:moveTo>
                <a:lnTo>
                  <a:pt x="28575" y="52577"/>
                </a:lnTo>
                <a:lnTo>
                  <a:pt x="56474" y="52577"/>
                </a:lnTo>
                <a:lnTo>
                  <a:pt x="49882" y="46226"/>
                </a:lnTo>
                <a:close/>
              </a:path>
              <a:path w="1644014" h="445770">
                <a:moveTo>
                  <a:pt x="41376" y="30835"/>
                </a:moveTo>
                <a:lnTo>
                  <a:pt x="33909" y="30835"/>
                </a:lnTo>
                <a:lnTo>
                  <a:pt x="49882" y="46226"/>
                </a:lnTo>
                <a:lnTo>
                  <a:pt x="74511" y="38884"/>
                </a:lnTo>
                <a:lnTo>
                  <a:pt x="41376" y="30835"/>
                </a:lnTo>
                <a:close/>
              </a:path>
              <a:path w="1644014" h="445770">
                <a:moveTo>
                  <a:pt x="112463" y="27571"/>
                </a:moveTo>
                <a:lnTo>
                  <a:pt x="27939" y="27571"/>
                </a:lnTo>
                <a:lnTo>
                  <a:pt x="74511" y="38884"/>
                </a:lnTo>
                <a:lnTo>
                  <a:pt x="112463" y="27571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23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397216"/>
            <a:ext cx="6881495" cy="187007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filter</a:t>
            </a:r>
            <a:r>
              <a:rPr sz="2000" b="1" spc="-655" dirty="0"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b="1" dirty="0">
                <a:latin typeface="Courier New"/>
                <a:cs typeface="Courier New"/>
              </a:rPr>
              <a:t>map</a:t>
            </a:r>
            <a:r>
              <a:rPr sz="2000" b="1" spc="-65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Arial"/>
                <a:cs typeface="Arial"/>
              </a:rPr>
              <a:t>methods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don’t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really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 any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work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25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They </a:t>
            </a:r>
            <a:r>
              <a:rPr sz="1800" dirty="0">
                <a:latin typeface="Arial"/>
                <a:cs typeface="Arial"/>
              </a:rPr>
              <a:t>set </a:t>
            </a:r>
            <a:r>
              <a:rPr sz="1800" spc="-5" dirty="0">
                <a:latin typeface="Arial"/>
                <a:cs typeface="Arial"/>
              </a:rPr>
              <a:t>up a pipeline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operations and return a new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Stream</a:t>
            </a:r>
            <a:endParaRPr sz="1800">
              <a:latin typeface="Courier New"/>
              <a:cs typeface="Courier New"/>
            </a:endParaRPr>
          </a:p>
          <a:p>
            <a:pPr marL="180340" indent="-167640">
              <a:lnSpc>
                <a:spcPct val="100000"/>
              </a:lnSpc>
              <a:spcBef>
                <a:spcPts val="58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All work happens when we get to the </a:t>
            </a:r>
            <a:r>
              <a:rPr sz="2000" b="1" spc="-5" dirty="0">
                <a:latin typeface="Courier New"/>
                <a:cs typeface="Courier New"/>
              </a:rPr>
              <a:t>sum()</a:t>
            </a:r>
            <a:r>
              <a:rPr sz="2000" b="1" spc="-795" dirty="0"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operation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20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latin typeface="Courier New"/>
                <a:cs typeface="Courier New"/>
              </a:rPr>
              <a:t>filter()/map()/sum()</a:t>
            </a:r>
            <a:r>
              <a:rPr sz="1800" b="1" spc="-56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fused into </a:t>
            </a:r>
            <a:r>
              <a:rPr sz="1800" spc="-10" dirty="0">
                <a:latin typeface="Arial"/>
                <a:cs typeface="Arial"/>
              </a:rPr>
              <a:t>one </a:t>
            </a:r>
            <a:r>
              <a:rPr sz="1800" spc="-5" dirty="0">
                <a:latin typeface="Arial"/>
                <a:cs typeface="Arial"/>
              </a:rPr>
              <a:t>pass on the data</a:t>
            </a:r>
            <a:endParaRPr sz="1800">
              <a:latin typeface="Arial"/>
              <a:cs typeface="Arial"/>
            </a:endParaRPr>
          </a:p>
          <a:p>
            <a:pPr marL="927100" lvl="2" indent="-175260">
              <a:lnSpc>
                <a:spcPct val="100000"/>
              </a:lnSpc>
              <a:spcBef>
                <a:spcPts val="720"/>
              </a:spcBef>
              <a:buClr>
                <a:srgbClr val="5282A0"/>
              </a:buClr>
              <a:buSzPct val="83333"/>
              <a:buFont typeface="Wingdings"/>
              <a:buChar char=""/>
              <a:tabLst>
                <a:tab pos="927735" algn="l"/>
              </a:tabLst>
            </a:pP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both sequential and parallel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pipelines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24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2910840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Stream</a:t>
            </a:r>
            <a:r>
              <a:rPr spc="-45" dirty="0"/>
              <a:t> </a:t>
            </a:r>
            <a:r>
              <a:rPr spc="-5" dirty="0"/>
              <a:t>Overview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Execution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2625" y="3548252"/>
            <a:ext cx="673862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int sum =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transactions.stream().</a:t>
            </a:r>
            <a:endParaRPr sz="1600">
              <a:latin typeface="Courier New"/>
              <a:cs typeface="Courier New"/>
            </a:endParaRPr>
          </a:p>
          <a:p>
            <a:pPr marL="256540" marR="508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filter(t </a:t>
            </a:r>
            <a:r>
              <a:rPr sz="1600" b="1" dirty="0">
                <a:latin typeface="Courier New"/>
                <a:cs typeface="Courier New"/>
              </a:rPr>
              <a:t>-&gt; </a:t>
            </a:r>
            <a:r>
              <a:rPr sz="1600" b="1" spc="-5" dirty="0">
                <a:latin typeface="Courier New"/>
                <a:cs typeface="Courier New"/>
              </a:rPr>
              <a:t>t.getBuyer().getCity().equals(“London”)).  mapToInt(Transaction::getPrice).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6950" y="3792118"/>
            <a:ext cx="8794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1600" b="1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ourier New"/>
                <a:cs typeface="Courier New"/>
              </a:rPr>
              <a:t>Lazy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1600" b="1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ourier New"/>
                <a:cs typeface="Courier New"/>
              </a:rPr>
              <a:t>Lazy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6465" y="4280103"/>
            <a:ext cx="7597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77105" algn="l"/>
              </a:tabLst>
            </a:pPr>
            <a:r>
              <a:rPr sz="1600" b="1" spc="-5" dirty="0">
                <a:latin typeface="Courier New"/>
                <a:cs typeface="Courier New"/>
              </a:rPr>
              <a:t>sum();	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// Execute the</a:t>
            </a:r>
            <a:r>
              <a:rPr sz="1600" b="1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pipeline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439461"/>
            <a:ext cx="5438140" cy="323913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From collections and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arrays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445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latin typeface="Courier New"/>
                <a:cs typeface="Courier New"/>
              </a:rPr>
              <a:t>Collection.stream()</a:t>
            </a:r>
            <a:endParaRPr sz="1800">
              <a:latin typeface="Courier New"/>
              <a:cs typeface="Courier New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latin typeface="Courier New"/>
                <a:cs typeface="Courier New"/>
              </a:rPr>
              <a:t>Collection.parallelStream()</a:t>
            </a:r>
            <a:endParaRPr sz="1800">
              <a:latin typeface="Courier New"/>
              <a:cs typeface="Courier New"/>
            </a:endParaRPr>
          </a:p>
          <a:p>
            <a:pPr marL="584200" lvl="1" indent="-228600">
              <a:lnSpc>
                <a:spcPct val="100000"/>
              </a:lnSpc>
              <a:spcBef>
                <a:spcPts val="645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latin typeface="Courier New"/>
                <a:cs typeface="Courier New"/>
              </a:rPr>
              <a:t>Arrays.stream(T </a:t>
            </a:r>
            <a:r>
              <a:rPr sz="1800" b="1" spc="-5" dirty="0">
                <a:latin typeface="Courier New"/>
                <a:cs typeface="Courier New"/>
              </a:rPr>
              <a:t>array)</a:t>
            </a:r>
            <a:r>
              <a:rPr sz="1800" b="1" spc="-65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or </a:t>
            </a:r>
            <a:r>
              <a:rPr sz="1800" b="1" spc="-5" dirty="0">
                <a:latin typeface="Courier New"/>
                <a:cs typeface="Courier New"/>
              </a:rPr>
              <a:t>Stream.of()</a:t>
            </a:r>
            <a:endParaRPr sz="1800">
              <a:latin typeface="Courier New"/>
              <a:cs typeface="Courier New"/>
            </a:endParaRPr>
          </a:p>
          <a:p>
            <a:pPr marL="180340" indent="-167640">
              <a:lnSpc>
                <a:spcPct val="100000"/>
              </a:lnSpc>
              <a:spcBef>
                <a:spcPts val="71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Static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factories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440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latin typeface="Courier New"/>
                <a:cs typeface="Courier New"/>
              </a:rPr>
              <a:t>IntStream.range()</a:t>
            </a:r>
            <a:endParaRPr sz="1800">
              <a:latin typeface="Courier New"/>
              <a:cs typeface="Courier New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latin typeface="Courier New"/>
                <a:cs typeface="Courier New"/>
              </a:rPr>
              <a:t>Files.walk()</a:t>
            </a:r>
            <a:endParaRPr sz="1800">
              <a:latin typeface="Courier New"/>
              <a:cs typeface="Courier New"/>
            </a:endParaRPr>
          </a:p>
          <a:p>
            <a:pPr marL="180340" indent="-167640">
              <a:lnSpc>
                <a:spcPct val="100000"/>
              </a:lnSpc>
              <a:spcBef>
                <a:spcPts val="76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Roll your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own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439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latin typeface="Courier New"/>
                <a:cs typeface="Courier New"/>
              </a:rPr>
              <a:t>java.util.Spliterator()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25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272986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Stream</a:t>
            </a:r>
            <a:r>
              <a:rPr spc="-65" dirty="0"/>
              <a:t> </a:t>
            </a:r>
            <a:r>
              <a:rPr spc="-5" dirty="0"/>
              <a:t>Sources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Many </a:t>
            </a:r>
            <a:r>
              <a:rPr sz="2000" b="0" spc="-15" dirty="0">
                <a:solidFill>
                  <a:srgbClr val="5282A0"/>
                </a:solidFill>
                <a:latin typeface="Arial"/>
                <a:cs typeface="Arial"/>
              </a:rPr>
              <a:t>Ways </a:t>
            </a:r>
            <a:r>
              <a:rPr sz="2000" b="0" spc="-110" dirty="0">
                <a:solidFill>
                  <a:srgbClr val="5282A0"/>
                </a:solidFill>
                <a:latin typeface="Arial"/>
                <a:cs typeface="Arial"/>
              </a:rPr>
              <a:t>To</a:t>
            </a:r>
            <a:r>
              <a:rPr sz="2000" b="0" spc="-10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Create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1654" y="1172692"/>
            <a:ext cx="5570220" cy="364362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Access to stream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elements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Decomposition (for parallel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operations)</a:t>
            </a:r>
            <a:endParaRPr sz="2000">
              <a:latin typeface="Arial"/>
              <a:cs typeface="Arial"/>
            </a:endParaRPr>
          </a:p>
          <a:p>
            <a:pPr marL="583565" lvl="1" indent="-227965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200" algn="l"/>
              </a:tabLst>
            </a:pPr>
            <a:r>
              <a:rPr sz="1800" spc="-5" dirty="0">
                <a:latin typeface="Arial"/>
                <a:cs typeface="Arial"/>
              </a:rPr>
              <a:t>Fork-join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framework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spc="-5" dirty="0">
                <a:latin typeface="Arial"/>
                <a:cs typeface="Arial"/>
              </a:rPr>
              <a:t>Stream </a:t>
            </a:r>
            <a:r>
              <a:rPr sz="2000" dirty="0">
                <a:latin typeface="Arial"/>
                <a:cs typeface="Arial"/>
              </a:rPr>
              <a:t>characteristics (See Spliterator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javadoc)</a:t>
            </a:r>
            <a:endParaRPr sz="2000">
              <a:latin typeface="Arial"/>
              <a:cs typeface="Arial"/>
            </a:endParaRPr>
          </a:p>
          <a:p>
            <a:pPr marL="583565" lvl="1" indent="-227965">
              <a:lnSpc>
                <a:spcPct val="100000"/>
              </a:lnSpc>
              <a:spcBef>
                <a:spcPts val="209"/>
              </a:spcBef>
              <a:buSzPct val="84375"/>
              <a:buFont typeface="Arial"/>
              <a:buChar char="–"/>
              <a:tabLst>
                <a:tab pos="583565" algn="l"/>
                <a:tab pos="584200" algn="l"/>
              </a:tabLst>
            </a:pPr>
            <a:r>
              <a:rPr sz="1600" b="1" spc="-5" dirty="0">
                <a:latin typeface="Courier New"/>
                <a:cs typeface="Courier New"/>
              </a:rPr>
              <a:t>ORDERED</a:t>
            </a:r>
            <a:endParaRPr sz="1600">
              <a:latin typeface="Courier New"/>
              <a:cs typeface="Courier New"/>
            </a:endParaRPr>
          </a:p>
          <a:p>
            <a:pPr marL="583565" lvl="1" indent="-227965">
              <a:lnSpc>
                <a:spcPct val="100000"/>
              </a:lnSpc>
              <a:spcBef>
                <a:spcPts val="215"/>
              </a:spcBef>
              <a:buSzPct val="84375"/>
              <a:buFont typeface="Arial"/>
              <a:buChar char="–"/>
              <a:tabLst>
                <a:tab pos="583565" algn="l"/>
                <a:tab pos="584200" algn="l"/>
              </a:tabLst>
            </a:pPr>
            <a:r>
              <a:rPr sz="1600" b="1" spc="-5" dirty="0">
                <a:latin typeface="Courier New"/>
                <a:cs typeface="Courier New"/>
              </a:rPr>
              <a:t>DISTINCT</a:t>
            </a:r>
            <a:endParaRPr sz="1600">
              <a:latin typeface="Courier New"/>
              <a:cs typeface="Courier New"/>
            </a:endParaRPr>
          </a:p>
          <a:p>
            <a:pPr marL="583565" lvl="1" indent="-227965">
              <a:lnSpc>
                <a:spcPct val="100000"/>
              </a:lnSpc>
              <a:spcBef>
                <a:spcPts val="195"/>
              </a:spcBef>
              <a:buSzPct val="84375"/>
              <a:buFont typeface="Arial"/>
              <a:buChar char="–"/>
              <a:tabLst>
                <a:tab pos="583565" algn="l"/>
                <a:tab pos="584200" algn="l"/>
              </a:tabLst>
            </a:pPr>
            <a:r>
              <a:rPr sz="1600" b="1" spc="-5" dirty="0">
                <a:latin typeface="Courier New"/>
                <a:cs typeface="Courier New"/>
              </a:rPr>
              <a:t>SORTED</a:t>
            </a:r>
            <a:endParaRPr sz="1600">
              <a:latin typeface="Courier New"/>
              <a:cs typeface="Courier New"/>
            </a:endParaRPr>
          </a:p>
          <a:p>
            <a:pPr marL="583565" lvl="1" indent="-227965">
              <a:lnSpc>
                <a:spcPct val="100000"/>
              </a:lnSpc>
              <a:spcBef>
                <a:spcPts val="215"/>
              </a:spcBef>
              <a:buSzPct val="84375"/>
              <a:buFont typeface="Arial"/>
              <a:buChar char="–"/>
              <a:tabLst>
                <a:tab pos="583565" algn="l"/>
                <a:tab pos="584200" algn="l"/>
              </a:tabLst>
            </a:pPr>
            <a:r>
              <a:rPr sz="1600" b="1" spc="-5" dirty="0">
                <a:latin typeface="Courier New"/>
                <a:cs typeface="Courier New"/>
              </a:rPr>
              <a:t>SIZED</a:t>
            </a:r>
            <a:endParaRPr sz="1600">
              <a:latin typeface="Courier New"/>
              <a:cs typeface="Courier New"/>
            </a:endParaRPr>
          </a:p>
          <a:p>
            <a:pPr marL="583565" lvl="1" indent="-227965">
              <a:lnSpc>
                <a:spcPct val="100000"/>
              </a:lnSpc>
              <a:spcBef>
                <a:spcPts val="215"/>
              </a:spcBef>
              <a:buSzPct val="84375"/>
              <a:buFont typeface="Arial"/>
              <a:buChar char="–"/>
              <a:tabLst>
                <a:tab pos="583565" algn="l"/>
                <a:tab pos="584200" algn="l"/>
              </a:tabLst>
            </a:pPr>
            <a:r>
              <a:rPr sz="1600" b="1" spc="-5" dirty="0">
                <a:latin typeface="Courier New"/>
                <a:cs typeface="Courier New"/>
              </a:rPr>
              <a:t>SUBSIZED</a:t>
            </a:r>
            <a:endParaRPr sz="1600">
              <a:latin typeface="Courier New"/>
              <a:cs typeface="Courier New"/>
            </a:endParaRPr>
          </a:p>
          <a:p>
            <a:pPr marL="583565" lvl="1" indent="-227965">
              <a:lnSpc>
                <a:spcPct val="100000"/>
              </a:lnSpc>
              <a:spcBef>
                <a:spcPts val="215"/>
              </a:spcBef>
              <a:buSzPct val="84375"/>
              <a:buFont typeface="Arial"/>
              <a:buChar char="–"/>
              <a:tabLst>
                <a:tab pos="583565" algn="l"/>
                <a:tab pos="584200" algn="l"/>
              </a:tabLst>
            </a:pPr>
            <a:r>
              <a:rPr sz="1600" b="1" spc="-5" dirty="0">
                <a:latin typeface="Courier New"/>
                <a:cs typeface="Courier New"/>
              </a:rPr>
              <a:t>NONNULL</a:t>
            </a:r>
            <a:endParaRPr sz="1600">
              <a:latin typeface="Courier New"/>
              <a:cs typeface="Courier New"/>
            </a:endParaRPr>
          </a:p>
          <a:p>
            <a:pPr marL="583565" lvl="1" indent="-227965">
              <a:lnSpc>
                <a:spcPct val="100000"/>
              </a:lnSpc>
              <a:spcBef>
                <a:spcPts val="75"/>
              </a:spcBef>
              <a:buSzPct val="84375"/>
              <a:buFont typeface="Arial"/>
              <a:buChar char="–"/>
              <a:tabLst>
                <a:tab pos="583565" algn="l"/>
                <a:tab pos="584200" algn="l"/>
              </a:tabLst>
            </a:pPr>
            <a:r>
              <a:rPr sz="1600" b="1" spc="-5" dirty="0">
                <a:latin typeface="Courier New"/>
                <a:cs typeface="Courier New"/>
              </a:rPr>
              <a:t>IMMUTABLE</a:t>
            </a:r>
            <a:endParaRPr sz="1600">
              <a:latin typeface="Courier New"/>
              <a:cs typeface="Courier New"/>
            </a:endParaRPr>
          </a:p>
          <a:p>
            <a:pPr marL="583565" lvl="1" indent="-227965">
              <a:lnSpc>
                <a:spcPct val="100000"/>
              </a:lnSpc>
              <a:spcBef>
                <a:spcPts val="25"/>
              </a:spcBef>
              <a:buSzPct val="84375"/>
              <a:buFont typeface="Arial"/>
              <a:buChar char="–"/>
              <a:tabLst>
                <a:tab pos="583565" algn="l"/>
                <a:tab pos="584200" algn="l"/>
              </a:tabLst>
            </a:pPr>
            <a:r>
              <a:rPr sz="1600" b="1" spc="-5" dirty="0">
                <a:latin typeface="Courier New"/>
                <a:cs typeface="Courier New"/>
              </a:rPr>
              <a:t>CONCURRENT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26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272986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Stream</a:t>
            </a:r>
            <a:r>
              <a:rPr spc="-65" dirty="0"/>
              <a:t> </a:t>
            </a:r>
            <a:r>
              <a:rPr spc="-5" dirty="0"/>
              <a:t>Sources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Manage Three</a:t>
            </a:r>
            <a:r>
              <a:rPr sz="2000" b="0" spc="-22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Aspects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5419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Stream Intermediate</a:t>
            </a:r>
            <a:r>
              <a:rPr spc="5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27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425977"/>
            <a:ext cx="7788909" cy="24968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Uses lazy evaluation where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possible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Can </a:t>
            </a:r>
            <a:r>
              <a:rPr sz="2000" spc="-5" dirty="0">
                <a:latin typeface="Arial"/>
                <a:cs typeface="Arial"/>
              </a:rPr>
              <a:t>affect </a:t>
            </a:r>
            <a:r>
              <a:rPr sz="2000" dirty="0">
                <a:latin typeface="Arial"/>
                <a:cs typeface="Arial"/>
              </a:rPr>
              <a:t>stream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characteristics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484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5" dirty="0">
                <a:latin typeface="Courier New"/>
                <a:cs typeface="Courier New"/>
              </a:rPr>
              <a:t>map()</a:t>
            </a:r>
            <a:r>
              <a:rPr sz="1800" b="1" spc="-6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preserves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SIZED</a:t>
            </a:r>
            <a:r>
              <a:rPr sz="1800" b="1" spc="-6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but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not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DISTINCT</a:t>
            </a:r>
            <a:r>
              <a:rPr sz="1800" b="1" spc="-6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SORTED</a:t>
            </a:r>
            <a:endParaRPr sz="1800">
              <a:latin typeface="Courier New"/>
              <a:cs typeface="Courier New"/>
            </a:endParaRPr>
          </a:p>
          <a:p>
            <a:pPr marL="180340" indent="-167640">
              <a:lnSpc>
                <a:spcPct val="100000"/>
              </a:lnSpc>
              <a:spcBef>
                <a:spcPts val="71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Some operations fuse/convert to parallel better than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others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49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Stateless operations (</a:t>
            </a:r>
            <a:r>
              <a:rPr sz="1800" b="1" spc="-5" dirty="0">
                <a:latin typeface="Courier New"/>
                <a:cs typeface="Courier New"/>
              </a:rPr>
              <a:t>map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b="1" spc="-5" dirty="0">
                <a:latin typeface="Courier New"/>
                <a:cs typeface="Courier New"/>
              </a:rPr>
              <a:t>filter</a:t>
            </a:r>
            <a:r>
              <a:rPr sz="1800" spc="-5" dirty="0">
                <a:latin typeface="Arial"/>
                <a:cs typeface="Arial"/>
              </a:rPr>
              <a:t>) fuse/convert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perfectly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dirty="0">
                <a:latin typeface="Arial"/>
                <a:cs typeface="Arial"/>
              </a:rPr>
              <a:t>Stateful </a:t>
            </a:r>
            <a:r>
              <a:rPr sz="1800" spc="-5" dirty="0">
                <a:latin typeface="Arial"/>
                <a:cs typeface="Arial"/>
              </a:rPr>
              <a:t>operations (</a:t>
            </a:r>
            <a:r>
              <a:rPr sz="1800" b="1" spc="-5" dirty="0">
                <a:latin typeface="Courier New"/>
                <a:cs typeface="Courier New"/>
              </a:rPr>
              <a:t>sorted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b="1" spc="-5" dirty="0">
                <a:latin typeface="Courier New"/>
                <a:cs typeface="Courier New"/>
              </a:rPr>
              <a:t>distint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b="1" spc="-5" dirty="0">
                <a:latin typeface="Courier New"/>
                <a:cs typeface="Courier New"/>
              </a:rPr>
              <a:t>limit</a:t>
            </a:r>
            <a:r>
              <a:rPr sz="1800" spc="-5" dirty="0">
                <a:latin typeface="Arial"/>
                <a:cs typeface="Arial"/>
              </a:rPr>
              <a:t>) fuse/convert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varying</a:t>
            </a:r>
            <a:endParaRPr sz="18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  <a:spcBef>
                <a:spcPts val="120"/>
              </a:spcBef>
            </a:pPr>
            <a:r>
              <a:rPr sz="1800" spc="-10" dirty="0">
                <a:latin typeface="Arial"/>
                <a:cs typeface="Arial"/>
              </a:rPr>
              <a:t>degrees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4758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Stream </a:t>
            </a:r>
            <a:r>
              <a:rPr spc="-30" dirty="0"/>
              <a:t>Terminal </a:t>
            </a:r>
            <a:r>
              <a:rPr spc="-5" dirty="0"/>
              <a:t>Operations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28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415679"/>
            <a:ext cx="7632065" cy="177546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Invoking a terminal operation executes 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pipeline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All operations can execute sequentially or in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parallel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spc="-25" dirty="0">
                <a:latin typeface="Arial"/>
                <a:cs typeface="Arial"/>
              </a:rPr>
              <a:t>Terminal </a:t>
            </a:r>
            <a:r>
              <a:rPr sz="2000" dirty="0">
                <a:latin typeface="Arial"/>
                <a:cs typeface="Arial"/>
              </a:rPr>
              <a:t>operations can take advantage of pipeline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characteristics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489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5" dirty="0">
                <a:latin typeface="Courier New"/>
                <a:cs typeface="Courier New"/>
              </a:rPr>
              <a:t>toArray()</a:t>
            </a:r>
            <a:r>
              <a:rPr sz="1800" b="1" spc="-6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can avoid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copying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SIZED</a:t>
            </a:r>
            <a:r>
              <a:rPr sz="1800" b="1" spc="-60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Arial"/>
                <a:cs typeface="Arial"/>
              </a:rPr>
              <a:t>pipelines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by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allocating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endParaRPr sz="18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  <a:spcBef>
                <a:spcPts val="120"/>
              </a:spcBef>
            </a:pPr>
            <a:r>
              <a:rPr sz="1800" spc="-5" dirty="0">
                <a:latin typeface="Arial"/>
                <a:cs typeface="Arial"/>
              </a:rPr>
              <a:t>advance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24008"/>
            <a:ext cx="5647055" cy="81851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pc="-10" dirty="0">
                <a:latin typeface="Courier New"/>
                <a:cs typeface="Courier New"/>
              </a:rPr>
              <a:t>Optional&lt;T&gt;</a:t>
            </a: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Reducing </a:t>
            </a:r>
            <a:r>
              <a:rPr sz="2000" spc="-5" dirty="0">
                <a:solidFill>
                  <a:srgbClr val="5282A0"/>
                </a:solidFill>
                <a:latin typeface="Courier New"/>
                <a:cs typeface="Courier New"/>
              </a:rPr>
              <a:t>NullPointerException</a:t>
            </a:r>
            <a:r>
              <a:rPr sz="2000" spc="-685" dirty="0">
                <a:solidFill>
                  <a:srgbClr val="5282A0"/>
                </a:solidFill>
                <a:latin typeface="Courier New"/>
                <a:cs typeface="Courier New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Occurences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29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8048" y="1415679"/>
            <a:ext cx="8338820" cy="32556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94335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394970" algn="l"/>
              </a:tabLst>
            </a:pPr>
            <a:r>
              <a:rPr sz="2000" dirty="0">
                <a:latin typeface="Arial"/>
                <a:cs typeface="Arial"/>
              </a:rPr>
              <a:t>Indicates that reference </a:t>
            </a:r>
            <a:r>
              <a:rPr sz="2000" spc="-35" dirty="0">
                <a:latin typeface="Arial"/>
                <a:cs typeface="Arial"/>
              </a:rPr>
              <a:t>may, </a:t>
            </a:r>
            <a:r>
              <a:rPr sz="2000" dirty="0">
                <a:latin typeface="Arial"/>
                <a:cs typeface="Arial"/>
              </a:rPr>
              <a:t>or may not have a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</a:t>
            </a:r>
            <a:endParaRPr sz="2000">
              <a:latin typeface="Arial"/>
              <a:cs typeface="Arial"/>
            </a:endParaRPr>
          </a:p>
          <a:p>
            <a:pPr marL="79883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799465" algn="l"/>
              </a:tabLst>
            </a:pPr>
            <a:r>
              <a:rPr sz="1800" spc="-5" dirty="0">
                <a:latin typeface="Arial"/>
                <a:cs typeface="Arial"/>
              </a:rPr>
              <a:t>Makes developer responsible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checking</a:t>
            </a:r>
            <a:endParaRPr sz="1800">
              <a:latin typeface="Arial"/>
              <a:cs typeface="Arial"/>
            </a:endParaRPr>
          </a:p>
          <a:p>
            <a:pPr marL="79883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799465" algn="l"/>
              </a:tabLst>
            </a:pP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bit like a stream that can only have zero or one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elements</a:t>
            </a:r>
            <a:endParaRPr sz="1800">
              <a:latin typeface="Arial"/>
              <a:cs typeface="Arial"/>
            </a:endParaRPr>
          </a:p>
          <a:p>
            <a:pPr marL="12700" marR="2216150">
              <a:lnSpc>
                <a:spcPct val="100000"/>
              </a:lnSpc>
              <a:spcBef>
                <a:spcPts val="1450"/>
              </a:spcBef>
            </a:pPr>
            <a:r>
              <a:rPr sz="1600" b="1" spc="-5" dirty="0">
                <a:solidFill>
                  <a:srgbClr val="424545"/>
                </a:solidFill>
                <a:latin typeface="Courier New"/>
                <a:cs typeface="Courier New"/>
              </a:rPr>
              <a:t>Optional&lt;GPSData&gt; maybeGPS = Optional.of(gpsData);  maybeGPS =</a:t>
            </a:r>
            <a:r>
              <a:rPr sz="1600" b="1" dirty="0">
                <a:solidFill>
                  <a:srgbClr val="424545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424545"/>
                </a:solidFill>
                <a:latin typeface="Courier New"/>
                <a:cs typeface="Courier New"/>
              </a:rPr>
              <a:t>Optional.ofNullable(gpsData);</a:t>
            </a:r>
            <a:endParaRPr sz="1600">
              <a:latin typeface="Courier New"/>
              <a:cs typeface="Courier New"/>
            </a:endParaRPr>
          </a:p>
          <a:p>
            <a:pPr marL="12700" marR="2826385">
              <a:lnSpc>
                <a:spcPct val="2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424545"/>
                </a:solidFill>
                <a:latin typeface="Courier New"/>
                <a:cs typeface="Courier New"/>
              </a:rPr>
              <a:t>maybeGPS.ifPresent(GPSData::printPosition);  GPSData gps = maybeGPS.orElse(new</a:t>
            </a:r>
            <a:r>
              <a:rPr sz="1600" b="1" spc="0" dirty="0">
                <a:solidFill>
                  <a:srgbClr val="424545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424545"/>
                </a:solidFill>
                <a:latin typeface="Courier New"/>
                <a:cs typeface="Courier New"/>
              </a:rPr>
              <a:t>GPSData());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424545"/>
                </a:solidFill>
                <a:latin typeface="Courier New"/>
                <a:cs typeface="Courier New"/>
              </a:rPr>
              <a:t>maybeGPS.filter(g </a:t>
            </a:r>
            <a:r>
              <a:rPr sz="1600" b="1" dirty="0">
                <a:solidFill>
                  <a:srgbClr val="424545"/>
                </a:solidFill>
                <a:latin typeface="Courier New"/>
                <a:cs typeface="Courier New"/>
              </a:rPr>
              <a:t>-&gt; </a:t>
            </a:r>
            <a:r>
              <a:rPr sz="1600" b="1" spc="-5" dirty="0">
                <a:solidFill>
                  <a:srgbClr val="424545"/>
                </a:solidFill>
                <a:latin typeface="Courier New"/>
                <a:cs typeface="Courier New"/>
              </a:rPr>
              <a:t>g.lastRead() &lt;</a:t>
            </a:r>
            <a:r>
              <a:rPr sz="1600" b="1" spc="175" dirty="0">
                <a:solidFill>
                  <a:srgbClr val="424545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424545"/>
                </a:solidFill>
                <a:latin typeface="Courier New"/>
                <a:cs typeface="Courier New"/>
              </a:rPr>
              <a:t>2).ifPresent(GPSData.display());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11379"/>
            <a:ext cx="53955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Courier New"/>
                <a:cs typeface="Courier New"/>
              </a:rPr>
              <a:t>java.util.function</a:t>
            </a:r>
            <a:r>
              <a:rPr spc="-1015" dirty="0">
                <a:latin typeface="Courier New"/>
                <a:cs typeface="Courier New"/>
              </a:rPr>
              <a:t> </a:t>
            </a:r>
            <a:r>
              <a:rPr spc="-5" dirty="0"/>
              <a:t>Package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30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384325"/>
            <a:ext cx="7082155" cy="264414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85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b="1" spc="-5" dirty="0">
                <a:latin typeface="Courier New"/>
                <a:cs typeface="Courier New"/>
              </a:rPr>
              <a:t>Predicate&lt;T&gt;</a:t>
            </a:r>
            <a:endParaRPr sz="2000">
              <a:latin typeface="Courier New"/>
              <a:cs typeface="Courier New"/>
            </a:endParaRPr>
          </a:p>
          <a:p>
            <a:pPr marL="584200" lvl="1" indent="-228600">
              <a:lnSpc>
                <a:spcPct val="100000"/>
              </a:lnSpc>
              <a:spcBef>
                <a:spcPts val="67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Determine </a:t>
            </a:r>
            <a:r>
              <a:rPr sz="1800" dirty="0">
                <a:latin typeface="Arial"/>
                <a:cs typeface="Arial"/>
              </a:rPr>
              <a:t>if </a:t>
            </a:r>
            <a:r>
              <a:rPr sz="1800" spc="-5" dirty="0">
                <a:latin typeface="Arial"/>
                <a:cs typeface="Arial"/>
              </a:rPr>
              <a:t>the input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10" dirty="0">
                <a:latin typeface="Arial"/>
                <a:cs typeface="Arial"/>
              </a:rPr>
              <a:t>type </a:t>
            </a:r>
            <a:r>
              <a:rPr sz="1800" dirty="0">
                <a:latin typeface="Arial"/>
                <a:cs typeface="Arial"/>
              </a:rPr>
              <a:t>T </a:t>
            </a:r>
            <a:r>
              <a:rPr sz="1800" spc="-5" dirty="0">
                <a:latin typeface="Arial"/>
                <a:cs typeface="Arial"/>
              </a:rPr>
              <a:t>matches some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criteria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3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b="1" spc="-5" dirty="0">
                <a:latin typeface="Courier New"/>
                <a:cs typeface="Courier New"/>
              </a:rPr>
              <a:t>Consumer&lt;T&gt;</a:t>
            </a:r>
            <a:endParaRPr sz="2000">
              <a:latin typeface="Courier New"/>
              <a:cs typeface="Courier New"/>
            </a:endParaRPr>
          </a:p>
          <a:p>
            <a:pPr marL="584200" lvl="1" indent="-228600">
              <a:lnSpc>
                <a:spcPct val="100000"/>
              </a:lnSpc>
              <a:spcBef>
                <a:spcPts val="79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Accept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single </a:t>
            </a:r>
            <a:r>
              <a:rPr sz="1800" spc="-10" dirty="0">
                <a:latin typeface="Arial"/>
                <a:cs typeface="Arial"/>
              </a:rPr>
              <a:t>input </a:t>
            </a:r>
            <a:r>
              <a:rPr sz="1800" spc="-5" dirty="0">
                <a:latin typeface="Arial"/>
                <a:cs typeface="Arial"/>
              </a:rPr>
              <a:t>argumentof </a:t>
            </a:r>
            <a:r>
              <a:rPr sz="1800" spc="-10" dirty="0">
                <a:latin typeface="Arial"/>
                <a:cs typeface="Arial"/>
              </a:rPr>
              <a:t>type </a:t>
            </a:r>
            <a:r>
              <a:rPr sz="1800" spc="-95" dirty="0">
                <a:latin typeface="Arial"/>
                <a:cs typeface="Arial"/>
              </a:rPr>
              <a:t>T, </a:t>
            </a:r>
            <a:r>
              <a:rPr sz="1800" spc="-10" dirty="0">
                <a:latin typeface="Arial"/>
                <a:cs typeface="Arial"/>
              </a:rPr>
              <a:t>and </a:t>
            </a:r>
            <a:r>
              <a:rPr sz="1800" spc="-5" dirty="0">
                <a:latin typeface="Arial"/>
                <a:cs typeface="Arial"/>
              </a:rPr>
              <a:t>return no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result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41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b="1" spc="-5" dirty="0">
                <a:latin typeface="Courier New"/>
                <a:cs typeface="Courier New"/>
              </a:rPr>
              <a:t>Function&lt;T, R&gt;</a:t>
            </a:r>
            <a:endParaRPr sz="2000">
              <a:latin typeface="Courier New"/>
              <a:cs typeface="Courier New"/>
            </a:endParaRPr>
          </a:p>
          <a:p>
            <a:pPr marL="584200" lvl="1" indent="-228600">
              <a:lnSpc>
                <a:spcPct val="100000"/>
              </a:lnSpc>
              <a:spcBef>
                <a:spcPts val="79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Apply a function </a:t>
            </a:r>
            <a:r>
              <a:rPr sz="1800" dirty="0">
                <a:latin typeface="Arial"/>
                <a:cs typeface="Arial"/>
              </a:rPr>
              <a:t>to the </a:t>
            </a:r>
            <a:r>
              <a:rPr sz="1800" spc="-5" dirty="0">
                <a:latin typeface="Arial"/>
                <a:cs typeface="Arial"/>
              </a:rPr>
              <a:t>input </a:t>
            </a:r>
            <a:r>
              <a:rPr sz="1800" spc="-10" dirty="0">
                <a:latin typeface="Arial"/>
                <a:cs typeface="Arial"/>
              </a:rPr>
              <a:t>type </a:t>
            </a:r>
            <a:r>
              <a:rPr sz="1800" spc="-95" dirty="0">
                <a:latin typeface="Arial"/>
                <a:cs typeface="Arial"/>
              </a:rPr>
              <a:t>T, </a:t>
            </a:r>
            <a:r>
              <a:rPr sz="1800" spc="-5" dirty="0">
                <a:latin typeface="Arial"/>
                <a:cs typeface="Arial"/>
              </a:rPr>
              <a:t>generating a result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10" dirty="0">
                <a:latin typeface="Arial"/>
                <a:cs typeface="Arial"/>
              </a:rPr>
              <a:t>type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Plus several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more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391858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Stream Example 1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Convert words in list to upper</a:t>
            </a:r>
            <a:r>
              <a:rPr sz="2000" b="0" spc="-15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case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31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67941" y="1984629"/>
            <a:ext cx="4257040" cy="112966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87020" marR="5080" indent="-274320">
              <a:lnSpc>
                <a:spcPct val="100800"/>
              </a:lnSpc>
              <a:spcBef>
                <a:spcPts val="80"/>
              </a:spcBef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List&lt;String&gt; output </a:t>
            </a:r>
            <a:r>
              <a:rPr sz="1800" b="1" dirty="0">
                <a:solidFill>
                  <a:srgbClr val="0000FF"/>
                </a:solidFill>
                <a:latin typeface="Courier New"/>
                <a:cs typeface="Courier New"/>
              </a:rPr>
              <a:t>= 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wordList.  stream().  map(String::toUpperCase).  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c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o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l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le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c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t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(C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ol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l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e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c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to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r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s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.t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oL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i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s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t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()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  <a:r>
              <a:rPr sz="1800" b="1" dirty="0">
                <a:solidFill>
                  <a:srgbClr val="0000FF"/>
                </a:solidFill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3823970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Stream Example 2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Find words in list </a:t>
            </a: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with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even</a:t>
            </a:r>
            <a:r>
              <a:rPr sz="2000" b="0" spc="-60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length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32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67941" y="1984629"/>
            <a:ext cx="4940300" cy="1129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List&lt;String&gt; output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wordList.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stream().</a:t>
            </a:r>
            <a:endParaRPr sz="1800">
              <a:latin typeface="Courier New"/>
              <a:cs typeface="Courier New"/>
            </a:endParaRPr>
          </a:p>
          <a:p>
            <a:pPr marL="287020" marR="5080">
              <a:lnSpc>
                <a:spcPts val="2210"/>
              </a:lnSpc>
              <a:spcBef>
                <a:spcPts val="35"/>
              </a:spcBef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filter(w 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-&gt; 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(w.length() </a:t>
            </a:r>
            <a:r>
              <a:rPr sz="1800" b="1" dirty="0">
                <a:solidFill>
                  <a:srgbClr val="0000FF"/>
                </a:solidFill>
                <a:latin typeface="Courier New"/>
                <a:cs typeface="Courier New"/>
              </a:rPr>
              <a:t>&amp; 1 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==</a:t>
            </a:r>
            <a:r>
              <a:rPr sz="1800" b="1" spc="-1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0).  </a:t>
            </a:r>
            <a:r>
              <a:rPr sz="1800" b="1" spc="-10" dirty="0">
                <a:latin typeface="Courier New"/>
                <a:cs typeface="Courier New"/>
              </a:rPr>
              <a:t>collect(Collectors.toList());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308800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Stream Example</a:t>
            </a:r>
            <a:r>
              <a:rPr spc="-45" dirty="0"/>
              <a:t> </a:t>
            </a:r>
            <a:r>
              <a:rPr spc="-5" dirty="0"/>
              <a:t>3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Count lines in a</a:t>
            </a:r>
            <a:r>
              <a:rPr sz="2000" b="0" spc="-60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33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439461"/>
            <a:ext cx="4098925" cy="212344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spc="-5" dirty="0">
                <a:latin typeface="Arial"/>
                <a:cs typeface="Arial"/>
              </a:rPr>
              <a:t>BufferedReader </a:t>
            </a:r>
            <a:r>
              <a:rPr sz="2000" dirty="0">
                <a:latin typeface="Arial"/>
                <a:cs typeface="Arial"/>
              </a:rPr>
              <a:t>has new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method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445"/>
              </a:spcBef>
            </a:pPr>
            <a:r>
              <a:rPr sz="1500" spc="15" dirty="0">
                <a:solidFill>
                  <a:srgbClr val="0000FF"/>
                </a:solidFill>
                <a:latin typeface="Arial"/>
                <a:cs typeface="Arial"/>
              </a:rPr>
              <a:t>– 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Stream&lt;String&gt;</a:t>
            </a:r>
            <a:r>
              <a:rPr sz="1800" b="1" spc="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lines()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538480" marR="5080" indent="-274320">
              <a:lnSpc>
                <a:spcPct val="100000"/>
              </a:lnSpc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long count </a:t>
            </a:r>
            <a:r>
              <a:rPr sz="1800" b="1" dirty="0">
                <a:solidFill>
                  <a:srgbClr val="0000FF"/>
                </a:solidFill>
                <a:latin typeface="Courier New"/>
                <a:cs typeface="Courier New"/>
              </a:rPr>
              <a:t>= 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bufferedReader.  lines().</a:t>
            </a:r>
            <a:endParaRPr sz="1800">
              <a:latin typeface="Courier New"/>
              <a:cs typeface="Courier New"/>
            </a:endParaRPr>
          </a:p>
          <a:p>
            <a:pPr marL="538480">
              <a:lnSpc>
                <a:spcPct val="100000"/>
              </a:lnSpc>
              <a:spcBef>
                <a:spcPts val="55"/>
              </a:spcBef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count();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463867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Stream Example</a:t>
            </a:r>
            <a:r>
              <a:rPr dirty="0"/>
              <a:t> </a:t>
            </a:r>
            <a:r>
              <a:rPr spc="-5" dirty="0"/>
              <a:t>4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Find </a:t>
            </a: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the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length of the longest line in a</a:t>
            </a:r>
            <a:r>
              <a:rPr sz="2000" b="0" spc="-120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34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67941" y="1984629"/>
            <a:ext cx="37115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ourier New"/>
                <a:cs typeface="Courier New"/>
              </a:rPr>
              <a:t>int </a:t>
            </a:r>
            <a:r>
              <a:rPr sz="1800" b="1" spc="-10" dirty="0">
                <a:latin typeface="Courier New"/>
                <a:cs typeface="Courier New"/>
              </a:rPr>
              <a:t>longest </a:t>
            </a:r>
            <a:r>
              <a:rPr sz="1800" b="1" dirty="0">
                <a:latin typeface="Courier New"/>
                <a:cs typeface="Courier New"/>
              </a:rPr>
              <a:t>= </a:t>
            </a:r>
            <a:r>
              <a:rPr sz="1800" b="1" spc="-10" dirty="0">
                <a:latin typeface="Courier New"/>
                <a:cs typeface="Courier New"/>
              </a:rPr>
              <a:t>reader.  lines().  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m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p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To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I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n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t(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St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r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i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n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g: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: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l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en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gt</a:t>
            </a:r>
            <a:r>
              <a:rPr sz="1800" b="1" spc="-15" dirty="0">
                <a:solidFill>
                  <a:srgbClr val="0000FF"/>
                </a:solidFill>
                <a:latin typeface="Courier New"/>
                <a:cs typeface="Courier New"/>
              </a:rPr>
              <a:t>h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).  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max().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getAsInt();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382206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Stream Example 5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Collect all words in a </a:t>
            </a: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file into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a</a:t>
            </a:r>
            <a:r>
              <a:rPr sz="2000" b="0" spc="-8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list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35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81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List&lt;String&gt; output </a:t>
            </a:r>
            <a:r>
              <a:rPr dirty="0"/>
              <a:t>=</a:t>
            </a:r>
            <a:r>
              <a:rPr spc="-40" dirty="0"/>
              <a:t> </a:t>
            </a:r>
            <a:r>
              <a:rPr spc="-10" dirty="0"/>
              <a:t>reader.</a:t>
            </a:r>
          </a:p>
          <a:p>
            <a:pPr marL="992505">
              <a:lnSpc>
                <a:spcPct val="100000"/>
              </a:lnSpc>
            </a:pPr>
            <a:r>
              <a:rPr spc="-10" dirty="0"/>
              <a:t>lines().</a:t>
            </a:r>
          </a:p>
          <a:p>
            <a:pPr marL="992505" marR="5080">
              <a:lnSpc>
                <a:spcPct val="100000"/>
              </a:lnSpc>
            </a:pPr>
            <a:r>
              <a:rPr spc="-10" dirty="0">
                <a:solidFill>
                  <a:srgbClr val="0000FF"/>
                </a:solidFill>
              </a:rPr>
              <a:t>flatMap(line -&gt; Stream.of(line.split(REGEXP))).  filter(word </a:t>
            </a:r>
            <a:r>
              <a:rPr spc="-5" dirty="0">
                <a:solidFill>
                  <a:srgbClr val="0000FF"/>
                </a:solidFill>
              </a:rPr>
              <a:t>-&gt; </a:t>
            </a:r>
            <a:r>
              <a:rPr spc="-10" dirty="0">
                <a:solidFill>
                  <a:srgbClr val="0000FF"/>
                </a:solidFill>
              </a:rPr>
              <a:t>word.length() </a:t>
            </a:r>
            <a:r>
              <a:rPr dirty="0">
                <a:solidFill>
                  <a:srgbClr val="0000FF"/>
                </a:solidFill>
              </a:rPr>
              <a:t>&gt; </a:t>
            </a:r>
            <a:r>
              <a:rPr spc="-5" dirty="0">
                <a:solidFill>
                  <a:srgbClr val="0000FF"/>
                </a:solidFill>
              </a:rPr>
              <a:t>0).  </a:t>
            </a:r>
            <a:r>
              <a:rPr spc="-10" dirty="0">
                <a:solidFill>
                  <a:srgbClr val="0000FF"/>
                </a:solidFill>
              </a:rPr>
              <a:t>collect(Collectors.toList());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5176520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Stream Example</a:t>
            </a:r>
            <a:r>
              <a:rPr spc="0" dirty="0"/>
              <a:t> </a:t>
            </a:r>
            <a:r>
              <a:rPr spc="-5" dirty="0"/>
              <a:t>6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List of words lowercased, in aphabetical</a:t>
            </a:r>
            <a:r>
              <a:rPr sz="2000" b="0" spc="-16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order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36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81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List&lt;String&gt; output </a:t>
            </a:r>
            <a:r>
              <a:rPr dirty="0"/>
              <a:t>=</a:t>
            </a:r>
            <a:r>
              <a:rPr spc="-40" dirty="0"/>
              <a:t> </a:t>
            </a:r>
            <a:r>
              <a:rPr spc="-10" dirty="0"/>
              <a:t>reader.</a:t>
            </a:r>
          </a:p>
          <a:p>
            <a:pPr marL="992505">
              <a:lnSpc>
                <a:spcPct val="100000"/>
              </a:lnSpc>
            </a:pPr>
            <a:r>
              <a:rPr spc="-10" dirty="0"/>
              <a:t>lines().</a:t>
            </a:r>
          </a:p>
          <a:p>
            <a:pPr marL="992505" marR="5080">
              <a:lnSpc>
                <a:spcPct val="100000"/>
              </a:lnSpc>
            </a:pPr>
            <a:r>
              <a:rPr spc="-10" dirty="0"/>
              <a:t>flatMap(line -&gt; Stream.of(line.split(REGEXP))).  filter(word </a:t>
            </a:r>
            <a:r>
              <a:rPr spc="-5" dirty="0"/>
              <a:t>-&gt; </a:t>
            </a:r>
            <a:r>
              <a:rPr spc="-10" dirty="0"/>
              <a:t>word.length() </a:t>
            </a:r>
            <a:r>
              <a:rPr dirty="0"/>
              <a:t>&gt; </a:t>
            </a:r>
            <a:r>
              <a:rPr spc="-5" dirty="0"/>
              <a:t>0).  </a:t>
            </a:r>
            <a:r>
              <a:rPr spc="-10" dirty="0">
                <a:solidFill>
                  <a:srgbClr val="0000FF"/>
                </a:solidFill>
              </a:rPr>
              <a:t>map(String::toLowerCase).</a:t>
            </a:r>
          </a:p>
          <a:p>
            <a:pPr marL="992505">
              <a:lnSpc>
                <a:spcPct val="100000"/>
              </a:lnSpc>
            </a:pPr>
            <a:r>
              <a:rPr spc="-10" dirty="0">
                <a:solidFill>
                  <a:srgbClr val="0000FF"/>
                </a:solidFill>
              </a:rPr>
              <a:t>sorted().</a:t>
            </a:r>
          </a:p>
          <a:p>
            <a:pPr marL="992505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collect(toList());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46805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Annotations On Java</a:t>
            </a:r>
            <a:r>
              <a:rPr spc="5" dirty="0"/>
              <a:t> </a:t>
            </a:r>
            <a:r>
              <a:rPr spc="-55" dirty="0"/>
              <a:t>Types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37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415679"/>
            <a:ext cx="6925309" cy="290258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Annotations can currently only be used on type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declarations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Classes, methods, variable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definitions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Extension for places where </a:t>
            </a:r>
            <a:r>
              <a:rPr sz="2000" spc="-5" dirty="0">
                <a:latin typeface="Arial"/>
                <a:cs typeface="Arial"/>
              </a:rPr>
              <a:t>types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e.g. parameters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Permits error detection by pluggable </a:t>
            </a:r>
            <a:r>
              <a:rPr sz="2000" spc="-5" dirty="0">
                <a:latin typeface="Arial"/>
                <a:cs typeface="Arial"/>
              </a:rPr>
              <a:t>type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checkers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5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e.g. null pointer errors, race conditions,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etc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>
              <a:latin typeface="Times New Roman"/>
              <a:cs typeface="Times New Roman"/>
            </a:endParaRPr>
          </a:p>
          <a:p>
            <a:pPr marL="123825">
              <a:lnSpc>
                <a:spcPct val="100000"/>
              </a:lnSpc>
            </a:pPr>
            <a:r>
              <a:rPr sz="2000" b="1" spc="-5" dirty="0">
                <a:solidFill>
                  <a:srgbClr val="424545"/>
                </a:solidFill>
                <a:latin typeface="Courier New"/>
                <a:cs typeface="Courier New"/>
              </a:rPr>
              <a:t>public void process(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@notnull </a:t>
            </a:r>
            <a:r>
              <a:rPr sz="2000" b="1" spc="-5" dirty="0">
                <a:solidFill>
                  <a:srgbClr val="424545"/>
                </a:solidFill>
                <a:latin typeface="Courier New"/>
                <a:cs typeface="Courier New"/>
              </a:rPr>
              <a:t>List data)</a:t>
            </a:r>
            <a:r>
              <a:rPr sz="2000" b="1" spc="10" dirty="0">
                <a:solidFill>
                  <a:srgbClr val="424545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424545"/>
                </a:solidFill>
                <a:latin typeface="Courier New"/>
                <a:cs typeface="Courier New"/>
              </a:rPr>
              <a:t>{…}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37198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Concurrency</a:t>
            </a:r>
            <a:r>
              <a:rPr spc="-30" dirty="0"/>
              <a:t> </a:t>
            </a:r>
            <a:r>
              <a:rPr spc="-5" dirty="0"/>
              <a:t>Updates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38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432666"/>
            <a:ext cx="6537959" cy="326771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65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Scalable update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variables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490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DoubleAccumulator</a:t>
            </a:r>
            <a:r>
              <a:rPr sz="1800" spc="-10" dirty="0">
                <a:latin typeface="Arial"/>
                <a:cs typeface="Arial"/>
              </a:rPr>
              <a:t>, 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DoubleAdder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etc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72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Multiple variables avoid update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contention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Good for </a:t>
            </a:r>
            <a:r>
              <a:rPr sz="1800" spc="-10" dirty="0">
                <a:latin typeface="Arial"/>
                <a:cs typeface="Arial"/>
              </a:rPr>
              <a:t>frequent </a:t>
            </a:r>
            <a:r>
              <a:rPr sz="1800" spc="-5" dirty="0">
                <a:latin typeface="Arial"/>
                <a:cs typeface="Arial"/>
              </a:rPr>
              <a:t>updates, infrequent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reads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464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ConcurrentHashMap</a:t>
            </a:r>
            <a:r>
              <a:rPr sz="2000" b="1" spc="-69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updates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74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Improved scanning support, </a:t>
            </a:r>
            <a:r>
              <a:rPr sz="1800" dirty="0">
                <a:latin typeface="Arial"/>
                <a:cs typeface="Arial"/>
              </a:rPr>
              <a:t>key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computation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45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ForkJoinPool</a:t>
            </a:r>
            <a:r>
              <a:rPr sz="2000" b="1" spc="-68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improvements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745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Completion based design </a:t>
            </a:r>
            <a:r>
              <a:rPr sz="1800" dirty="0">
                <a:latin typeface="Arial"/>
                <a:cs typeface="Arial"/>
              </a:rPr>
              <a:t>for IO </a:t>
            </a:r>
            <a:r>
              <a:rPr sz="1800" spc="-5" dirty="0">
                <a:latin typeface="Arial"/>
                <a:cs typeface="Arial"/>
              </a:rPr>
              <a:t>bound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Thread that </a:t>
            </a:r>
            <a:r>
              <a:rPr sz="1800" spc="-1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blocked hands </a:t>
            </a:r>
            <a:r>
              <a:rPr sz="1800" spc="-15" dirty="0">
                <a:latin typeface="Arial"/>
                <a:cs typeface="Arial"/>
              </a:rPr>
              <a:t>work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thread that is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running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36455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Parallel Array</a:t>
            </a:r>
            <a:r>
              <a:rPr spc="-145" dirty="0"/>
              <a:t> </a:t>
            </a:r>
            <a:r>
              <a:rPr spc="-5" dirty="0"/>
              <a:t>Sorting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39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397216"/>
            <a:ext cx="7247255" cy="260159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Additional utility methods in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java.util.Arrays</a:t>
            </a:r>
            <a:endParaRPr sz="2000">
              <a:latin typeface="Courier New"/>
              <a:cs typeface="Courier New"/>
            </a:endParaRPr>
          </a:p>
          <a:p>
            <a:pPr marL="584200" lvl="1" indent="-228600">
              <a:lnSpc>
                <a:spcPct val="100000"/>
              </a:lnSpc>
              <a:spcBef>
                <a:spcPts val="625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parallelSort</a:t>
            </a:r>
            <a:r>
              <a:rPr sz="1800" b="1" spc="-5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(multiple signatures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10" dirty="0">
                <a:latin typeface="Arial"/>
                <a:cs typeface="Arial"/>
              </a:rPr>
              <a:t>different </a:t>
            </a:r>
            <a:r>
              <a:rPr sz="1800" spc="-5" dirty="0">
                <a:latin typeface="Arial"/>
                <a:cs typeface="Arial"/>
              </a:rPr>
              <a:t>primitives)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71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Anticipated minimum improvement of 30% over sequential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sort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dirty="0">
                <a:latin typeface="Arial"/>
                <a:cs typeface="Arial"/>
              </a:rPr>
              <a:t>For </a:t>
            </a:r>
            <a:r>
              <a:rPr sz="1800" spc="-10" dirty="0">
                <a:latin typeface="Arial"/>
                <a:cs typeface="Arial"/>
              </a:rPr>
              <a:t>dual </a:t>
            </a:r>
            <a:r>
              <a:rPr sz="1800" spc="-5" dirty="0">
                <a:latin typeface="Arial"/>
                <a:cs typeface="Arial"/>
              </a:rPr>
              <a:t>core system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appropriate sized data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set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Built on top of the </a:t>
            </a:r>
            <a:r>
              <a:rPr sz="2000" spc="-5" dirty="0">
                <a:latin typeface="Arial"/>
                <a:cs typeface="Arial"/>
              </a:rPr>
              <a:t>fork-join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framework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484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Uses Doug </a:t>
            </a:r>
            <a:r>
              <a:rPr sz="1800" spc="-15" dirty="0">
                <a:latin typeface="Arial"/>
                <a:cs typeface="Arial"/>
              </a:rPr>
              <a:t>Lea’s 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ParallelArray</a:t>
            </a:r>
            <a:r>
              <a:rPr sz="1800" b="1" spc="-57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implementation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72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10" dirty="0">
                <a:latin typeface="Arial"/>
                <a:cs typeface="Arial"/>
              </a:rPr>
              <a:t>Requires working </a:t>
            </a:r>
            <a:r>
              <a:rPr sz="1800" spc="-5" dirty="0">
                <a:latin typeface="Arial"/>
                <a:cs typeface="Arial"/>
              </a:rPr>
              <a:t>space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same </a:t>
            </a:r>
            <a:r>
              <a:rPr sz="1800" dirty="0">
                <a:latin typeface="Arial"/>
                <a:cs typeface="Arial"/>
              </a:rPr>
              <a:t>size as the </a:t>
            </a:r>
            <a:r>
              <a:rPr sz="1800" spc="-5" dirty="0">
                <a:latin typeface="Arial"/>
                <a:cs typeface="Arial"/>
              </a:rPr>
              <a:t>array </a:t>
            </a:r>
            <a:r>
              <a:rPr sz="1800" spc="-10" dirty="0">
                <a:latin typeface="Arial"/>
                <a:cs typeface="Arial"/>
              </a:rPr>
              <a:t>being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sorted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3371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Date And </a:t>
            </a:r>
            <a:r>
              <a:rPr spc="-20" dirty="0"/>
              <a:t>Time</a:t>
            </a:r>
            <a:r>
              <a:rPr spc="-225" dirty="0"/>
              <a:t> </a:t>
            </a:r>
            <a:r>
              <a:rPr spc="-5" dirty="0"/>
              <a:t>APIs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40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425977"/>
            <a:ext cx="8067040" cy="26333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A new date, time, and calendar API for the Java SE</a:t>
            </a:r>
            <a:r>
              <a:rPr sz="2000" spc="-3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platform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Supports standard time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concepts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5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Partial, duration, period,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intervals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date, time, instant, and</a:t>
            </a:r>
            <a:r>
              <a:rPr sz="1800" spc="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time-zone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Provides a limited set of calendar systems and be extensible to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others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Uses relevant standards, including </a:t>
            </a:r>
            <a:r>
              <a:rPr sz="2000" spc="-5" dirty="0">
                <a:latin typeface="Arial"/>
                <a:cs typeface="Arial"/>
              </a:rPr>
              <a:t>ISO-8601, </a:t>
            </a:r>
            <a:r>
              <a:rPr sz="2000" dirty="0">
                <a:latin typeface="Arial"/>
                <a:cs typeface="Arial"/>
              </a:rPr>
              <a:t>CLDR, and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BCP47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Based on an explicit </a:t>
            </a:r>
            <a:r>
              <a:rPr sz="2000" spc="-5" dirty="0">
                <a:latin typeface="Arial"/>
                <a:cs typeface="Arial"/>
              </a:rPr>
              <a:t>time-scale </a:t>
            </a:r>
            <a:r>
              <a:rPr sz="2000" dirty="0">
                <a:latin typeface="Arial"/>
                <a:cs typeface="Arial"/>
              </a:rPr>
              <a:t>with a connection to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UTC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54406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Base64 Encoding and</a:t>
            </a:r>
            <a:r>
              <a:rPr spc="25" dirty="0"/>
              <a:t> </a:t>
            </a:r>
            <a:r>
              <a:rPr spc="-5" dirty="0"/>
              <a:t>Decoding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41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439461"/>
            <a:ext cx="6345555" cy="251396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Currently developers are forced to use </a:t>
            </a:r>
            <a:r>
              <a:rPr sz="2000" spc="-5" dirty="0">
                <a:latin typeface="Arial"/>
                <a:cs typeface="Arial"/>
              </a:rPr>
              <a:t>non-public</a:t>
            </a:r>
            <a:r>
              <a:rPr sz="2000" spc="-2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APIs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445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sun.misc.BASE64Encoder</a:t>
            </a:r>
            <a:endParaRPr sz="1800">
              <a:latin typeface="Courier New"/>
              <a:cs typeface="Courier New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sun.misc.BASE64Decoder</a:t>
            </a:r>
            <a:endParaRPr sz="1800">
              <a:latin typeface="Courier New"/>
              <a:cs typeface="Courier New"/>
            </a:endParaRPr>
          </a:p>
          <a:p>
            <a:pPr marL="180340" indent="-167640">
              <a:lnSpc>
                <a:spcPct val="100000"/>
              </a:lnSpc>
              <a:spcBef>
                <a:spcPts val="76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Java SE 8 now has a standard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way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440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java.util.Base64.Encoder</a:t>
            </a:r>
            <a:endParaRPr sz="1800">
              <a:latin typeface="Courier New"/>
              <a:cs typeface="Courier New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java.util.Base64.Decoder</a:t>
            </a:r>
            <a:endParaRPr sz="1800">
              <a:latin typeface="Courier New"/>
              <a:cs typeface="Courier New"/>
            </a:endParaRPr>
          </a:p>
          <a:p>
            <a:pPr marL="584200" lvl="1" indent="-228600">
              <a:lnSpc>
                <a:spcPct val="100000"/>
              </a:lnSpc>
              <a:spcBef>
                <a:spcPts val="650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encode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encodeToString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decode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wrap</a:t>
            </a:r>
            <a:r>
              <a:rPr sz="1800" b="1" spc="-7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46494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Nashorn JavaScript</a:t>
            </a:r>
            <a:r>
              <a:rPr dirty="0"/>
              <a:t> </a:t>
            </a:r>
            <a:r>
              <a:rPr spc="-5" dirty="0"/>
              <a:t>Engine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42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415679"/>
            <a:ext cx="7299325" cy="229298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Lightweight, high-performance JavaScript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engine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610"/>
              </a:spcBef>
            </a:pPr>
            <a:r>
              <a:rPr sz="1500" spc="15" dirty="0">
                <a:latin typeface="Arial"/>
                <a:cs typeface="Arial"/>
              </a:rPr>
              <a:t>– </a:t>
            </a:r>
            <a:r>
              <a:rPr sz="1800" spc="-5" dirty="0">
                <a:latin typeface="Arial"/>
                <a:cs typeface="Arial"/>
              </a:rPr>
              <a:t>Integrated into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JRE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459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Use existing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javax.script</a:t>
            </a:r>
            <a:r>
              <a:rPr sz="2000" b="1" spc="-80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latin typeface="Arial"/>
                <a:cs typeface="Arial"/>
              </a:rPr>
              <a:t>API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73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ECMAScript-262 </a:t>
            </a:r>
            <a:r>
              <a:rPr sz="2000" spc="-5" dirty="0">
                <a:latin typeface="Arial"/>
                <a:cs typeface="Arial"/>
              </a:rPr>
              <a:t>Edition </a:t>
            </a:r>
            <a:r>
              <a:rPr sz="2000" dirty="0">
                <a:latin typeface="Arial"/>
                <a:cs typeface="Arial"/>
              </a:rPr>
              <a:t>5.1 language specification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compliance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47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New command-line tool,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jjs</a:t>
            </a:r>
            <a:r>
              <a:rPr sz="2000" b="1" spc="-77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to run JavaScript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73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Internationalised error messages and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documentation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425977"/>
            <a:ext cx="6312535" cy="22212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No more need to tune the size of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Current objects moved to Java heap or </a:t>
            </a:r>
            <a:r>
              <a:rPr sz="2000" spc="-5" dirty="0">
                <a:latin typeface="Arial"/>
                <a:cs typeface="Arial"/>
              </a:rPr>
              <a:t>native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memory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5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Interned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strings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Class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metadata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5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Class </a:t>
            </a:r>
            <a:r>
              <a:rPr sz="1800" dirty="0">
                <a:latin typeface="Arial"/>
                <a:cs typeface="Arial"/>
              </a:rPr>
              <a:t>static</a:t>
            </a:r>
            <a:r>
              <a:rPr sz="1800" spc="-5" dirty="0">
                <a:latin typeface="Arial"/>
                <a:cs typeface="Arial"/>
              </a:rPr>
              <a:t> variables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Part of the HotSpot, JRockit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convergence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43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6647180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Removal Of The Permanent</a:t>
            </a:r>
            <a:r>
              <a:rPr spc="55" dirty="0"/>
              <a:t> </a:t>
            </a:r>
            <a:r>
              <a:rPr spc="-5" dirty="0"/>
              <a:t>Generation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Permanently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5685" y="4938272"/>
            <a:ext cx="635000" cy="85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5"/>
              </a:lnSpc>
            </a:pPr>
            <a:r>
              <a:rPr sz="600" spc="-5" dirty="0">
                <a:latin typeface="Arial"/>
                <a:cs typeface="Arial"/>
              </a:rPr>
              <a:t>All </a:t>
            </a:r>
            <a:r>
              <a:rPr sz="600" dirty="0">
                <a:latin typeface="Arial"/>
                <a:cs typeface="Arial"/>
              </a:rPr>
              <a:t>rights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spc="-5" dirty="0">
                <a:latin typeface="Arial"/>
                <a:cs typeface="Arial"/>
              </a:rPr>
              <a:t>reserved.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7408" y="4936235"/>
            <a:ext cx="1270" cy="97155"/>
          </a:xfrm>
          <a:custGeom>
            <a:avLst/>
            <a:gdLst/>
            <a:ahLst/>
            <a:cxnLst/>
            <a:rect l="l" t="t" r="r" b="b"/>
            <a:pathLst>
              <a:path w="1270" h="97154">
                <a:moveTo>
                  <a:pt x="1092" y="0"/>
                </a:moveTo>
                <a:lnTo>
                  <a:pt x="0" y="96622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94076" y="4936235"/>
            <a:ext cx="1270" cy="97155"/>
          </a:xfrm>
          <a:custGeom>
            <a:avLst/>
            <a:gdLst/>
            <a:ahLst/>
            <a:cxnLst/>
            <a:rect l="l" t="t" r="r" b="b"/>
            <a:pathLst>
              <a:path w="1269" h="97154">
                <a:moveTo>
                  <a:pt x="1143" y="0"/>
                </a:moveTo>
                <a:lnTo>
                  <a:pt x="0" y="96622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1667" y="181102"/>
            <a:ext cx="1569085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40"/>
              </a:lnSpc>
              <a:spcBef>
                <a:spcPts val="95"/>
              </a:spcBef>
            </a:pPr>
            <a:r>
              <a:rPr sz="2800" b="1" spc="-5" dirty="0">
                <a:latin typeface="Arial"/>
                <a:cs typeface="Arial"/>
              </a:rPr>
              <a:t>JavaFX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8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5282A0"/>
                </a:solidFill>
                <a:latin typeface="Arial"/>
                <a:cs typeface="Arial"/>
              </a:rPr>
              <a:t>New</a:t>
            </a:r>
            <a:r>
              <a:rPr sz="2000" spc="-70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82A0"/>
                </a:solidFill>
                <a:latin typeface="Arial"/>
                <a:cs typeface="Arial"/>
              </a:rPr>
              <a:t>Theme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527" y="4974742"/>
            <a:ext cx="65405" cy="1968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4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8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05227" y="748283"/>
            <a:ext cx="2542031" cy="4258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856102" y="462787"/>
            <a:ext cx="1233170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spc="-5" dirty="0">
                <a:latin typeface="Arial"/>
                <a:cs typeface="Arial"/>
              </a:rPr>
              <a:t>Caspian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43955" y="670558"/>
            <a:ext cx="2872740" cy="44150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85969" y="2349245"/>
            <a:ext cx="354965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spc="-5" dirty="0">
                <a:latin typeface="Arial"/>
                <a:cs typeface="Arial"/>
              </a:rPr>
              <a:t>vs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77330" y="462787"/>
            <a:ext cx="1212850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spc="-10" dirty="0">
                <a:solidFill>
                  <a:srgbClr val="FB8537"/>
                </a:solidFill>
                <a:latin typeface="Arial"/>
                <a:cs typeface="Arial"/>
              </a:rPr>
              <a:t>Mod</a:t>
            </a:r>
            <a:r>
              <a:rPr sz="2600" spc="-25" dirty="0">
                <a:solidFill>
                  <a:srgbClr val="FB8537"/>
                </a:solidFill>
                <a:latin typeface="Arial"/>
                <a:cs typeface="Arial"/>
              </a:rPr>
              <a:t>e</a:t>
            </a:r>
            <a:r>
              <a:rPr sz="2600" spc="-5" dirty="0">
                <a:solidFill>
                  <a:srgbClr val="FB8537"/>
                </a:solidFill>
                <a:latin typeface="Arial"/>
                <a:cs typeface="Arial"/>
              </a:rPr>
              <a:t>na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9176" y="4975656"/>
            <a:ext cx="65405" cy="1117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4</a:t>
            </a:r>
            <a:endParaRPr sz="5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7408" y="4948428"/>
            <a:ext cx="1905" cy="97790"/>
          </a:xfrm>
          <a:custGeom>
            <a:avLst/>
            <a:gdLst/>
            <a:ahLst/>
            <a:cxnLst/>
            <a:rect l="l" t="t" r="r" b="b"/>
            <a:pathLst>
              <a:path w="1904" h="97789">
                <a:moveTo>
                  <a:pt x="1523" y="0"/>
                </a:moveTo>
                <a:lnTo>
                  <a:pt x="0" y="97536"/>
                </a:lnTo>
              </a:path>
            </a:pathLst>
          </a:custGeom>
          <a:ln w="6096">
            <a:solidFill>
              <a:srgbClr val="3434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62780" y="199770"/>
            <a:ext cx="1212850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0" spc="-10" dirty="0">
                <a:latin typeface="Arial"/>
                <a:cs typeface="Arial"/>
              </a:rPr>
              <a:t>Mod</a:t>
            </a:r>
            <a:r>
              <a:rPr sz="2600" b="0" spc="-25" dirty="0">
                <a:latin typeface="Arial"/>
                <a:cs typeface="Arial"/>
              </a:rPr>
              <a:t>e</a:t>
            </a:r>
            <a:r>
              <a:rPr sz="2600" b="0" spc="-5" dirty="0">
                <a:latin typeface="Arial"/>
                <a:cs typeface="Arial"/>
              </a:rPr>
              <a:t>na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64691" y="600455"/>
            <a:ext cx="7208520" cy="41361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9176" y="5067785"/>
            <a:ext cx="65405" cy="1060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9</a:t>
            </a:r>
            <a:endParaRPr sz="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9176" y="4975656"/>
            <a:ext cx="65405" cy="1117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5</a:t>
            </a:r>
            <a:endParaRPr sz="5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7408" y="4948428"/>
            <a:ext cx="1905" cy="97790"/>
          </a:xfrm>
          <a:custGeom>
            <a:avLst/>
            <a:gdLst/>
            <a:ahLst/>
            <a:cxnLst/>
            <a:rect l="l" t="t" r="r" b="b"/>
            <a:pathLst>
              <a:path w="1904" h="97789">
                <a:moveTo>
                  <a:pt x="1523" y="0"/>
                </a:moveTo>
                <a:lnTo>
                  <a:pt x="0" y="97536"/>
                </a:lnTo>
              </a:path>
            </a:pathLst>
          </a:custGeom>
          <a:ln w="6096">
            <a:solidFill>
              <a:srgbClr val="3434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5152" y="614172"/>
            <a:ext cx="7473950" cy="4173220"/>
          </a:xfrm>
          <a:custGeom>
            <a:avLst/>
            <a:gdLst/>
            <a:ahLst/>
            <a:cxnLst/>
            <a:rect l="l" t="t" r="r" b="b"/>
            <a:pathLst>
              <a:path w="7473950" h="4173220">
                <a:moveTo>
                  <a:pt x="0" y="4172712"/>
                </a:moveTo>
                <a:lnTo>
                  <a:pt x="7473696" y="4172712"/>
                </a:lnTo>
                <a:lnTo>
                  <a:pt x="7473696" y="0"/>
                </a:lnTo>
                <a:lnTo>
                  <a:pt x="0" y="0"/>
                </a:lnTo>
                <a:lnTo>
                  <a:pt x="0" y="4172712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92352" y="707136"/>
            <a:ext cx="1437132" cy="11795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962780" y="199770"/>
            <a:ext cx="1212850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0" spc="-10" dirty="0">
                <a:latin typeface="Arial"/>
                <a:cs typeface="Arial"/>
              </a:rPr>
              <a:t>Mod</a:t>
            </a:r>
            <a:r>
              <a:rPr sz="2600" b="0" spc="-25" dirty="0">
                <a:latin typeface="Arial"/>
                <a:cs typeface="Arial"/>
              </a:rPr>
              <a:t>e</a:t>
            </a:r>
            <a:r>
              <a:rPr sz="2600" b="0" spc="-5" dirty="0">
                <a:latin typeface="Arial"/>
                <a:cs typeface="Arial"/>
              </a:rPr>
              <a:t>na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01184" y="3457955"/>
            <a:ext cx="1601723" cy="12999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43200" y="757427"/>
            <a:ext cx="1435608" cy="10850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43355" y="1908048"/>
            <a:ext cx="3457955" cy="2813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08091" y="765048"/>
            <a:ext cx="2450591" cy="26289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57771" y="3499103"/>
            <a:ext cx="1522476" cy="121615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19176" y="5067785"/>
            <a:ext cx="65405" cy="1060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0</a:t>
            </a:r>
            <a:endParaRPr sz="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4027804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JavaFX 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Improvements </a:t>
            </a:r>
            <a:r>
              <a:rPr sz="2000" b="0" spc="-110" dirty="0">
                <a:solidFill>
                  <a:srgbClr val="5282A0"/>
                </a:solidFill>
                <a:latin typeface="Arial"/>
                <a:cs typeface="Arial"/>
              </a:rPr>
              <a:t>To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Full Screen</a:t>
            </a:r>
            <a:r>
              <a:rPr sz="2000" b="0" spc="-6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Mode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47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8210" y="1415679"/>
            <a:ext cx="7329805" cy="331089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14325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314960" algn="l"/>
              </a:tabLst>
            </a:pPr>
            <a:r>
              <a:rPr sz="2000" dirty="0">
                <a:latin typeface="Arial"/>
                <a:cs typeface="Arial"/>
              </a:rPr>
              <a:t>Customisable</a:t>
            </a:r>
            <a:endParaRPr sz="2000">
              <a:latin typeface="Arial"/>
              <a:cs typeface="Arial"/>
            </a:endParaRPr>
          </a:p>
          <a:p>
            <a:pPr marL="71882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719455" algn="l"/>
              </a:tabLst>
            </a:pPr>
            <a:r>
              <a:rPr sz="1800" spc="-5" dirty="0">
                <a:latin typeface="Arial"/>
                <a:cs typeface="Arial"/>
              </a:rPr>
              <a:t>Configurable </a:t>
            </a:r>
            <a:r>
              <a:rPr sz="1800" dirty="0">
                <a:latin typeface="Arial"/>
                <a:cs typeface="Arial"/>
              </a:rPr>
              <a:t>key </a:t>
            </a:r>
            <a:r>
              <a:rPr sz="1800" spc="-5" dirty="0">
                <a:latin typeface="Arial"/>
                <a:cs typeface="Arial"/>
              </a:rPr>
              <a:t>combinations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10" dirty="0">
                <a:latin typeface="Arial"/>
                <a:cs typeface="Arial"/>
              </a:rPr>
              <a:t>exit </a:t>
            </a:r>
            <a:r>
              <a:rPr sz="1800" spc="-5" dirty="0">
                <a:latin typeface="Arial"/>
                <a:cs typeface="Arial"/>
              </a:rPr>
              <a:t>full screen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mode</a:t>
            </a:r>
            <a:endParaRPr sz="1800">
              <a:latin typeface="Arial"/>
              <a:cs typeface="Arial"/>
            </a:endParaRPr>
          </a:p>
          <a:p>
            <a:pPr marL="71882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719455" algn="l"/>
              </a:tabLst>
            </a:pPr>
            <a:r>
              <a:rPr sz="1800" spc="-5" dirty="0">
                <a:latin typeface="Arial"/>
                <a:cs typeface="Arial"/>
              </a:rPr>
              <a:t>Ability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prevent user exiting full screen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mode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1299"/>
              </a:lnSpc>
              <a:spcBef>
                <a:spcPts val="835"/>
              </a:spcBef>
            </a:pPr>
            <a:r>
              <a:rPr sz="1500" b="1" spc="5" dirty="0">
                <a:solidFill>
                  <a:srgbClr val="336D8D"/>
                </a:solidFill>
                <a:latin typeface="Courier New"/>
                <a:cs typeface="Courier New"/>
              </a:rPr>
              <a:t>// Set the key </a:t>
            </a:r>
            <a:r>
              <a:rPr sz="1500" b="1" spc="0" dirty="0">
                <a:solidFill>
                  <a:srgbClr val="336D8D"/>
                </a:solidFill>
                <a:latin typeface="Courier New"/>
                <a:cs typeface="Courier New"/>
              </a:rPr>
              <a:t>combination </a:t>
            </a:r>
            <a:r>
              <a:rPr sz="1500" b="1" spc="5" dirty="0">
                <a:solidFill>
                  <a:srgbClr val="336D8D"/>
                </a:solidFill>
                <a:latin typeface="Courier New"/>
                <a:cs typeface="Courier New"/>
              </a:rPr>
              <a:t>that the user can use to </a:t>
            </a:r>
            <a:r>
              <a:rPr sz="1500" b="1" spc="0" dirty="0">
                <a:solidFill>
                  <a:srgbClr val="336D8D"/>
                </a:solidFill>
                <a:latin typeface="Courier New"/>
                <a:cs typeface="Courier New"/>
              </a:rPr>
              <a:t>exit  </a:t>
            </a:r>
            <a:r>
              <a:rPr sz="1500" b="1" spc="0" dirty="0">
                <a:latin typeface="Courier New"/>
                <a:cs typeface="Courier New"/>
              </a:rPr>
              <a:t>stage.</a:t>
            </a:r>
            <a:r>
              <a:rPr sz="1500" b="1" spc="0" dirty="0">
                <a:solidFill>
                  <a:srgbClr val="FB8537"/>
                </a:solidFill>
                <a:latin typeface="Courier New"/>
                <a:cs typeface="Courier New"/>
              </a:rPr>
              <a:t>setFullScreenExitKeyCombination</a:t>
            </a:r>
            <a:r>
              <a:rPr sz="1500" b="1" spc="0" dirty="0">
                <a:latin typeface="Courier New"/>
                <a:cs typeface="Courier New"/>
              </a:rPr>
              <a:t>(KeyCombination.NO_MATCH);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 marR="354330">
              <a:lnSpc>
                <a:spcPct val="101299"/>
              </a:lnSpc>
            </a:pPr>
            <a:r>
              <a:rPr sz="1500" b="1" spc="5" dirty="0">
                <a:solidFill>
                  <a:srgbClr val="336D8D"/>
                </a:solidFill>
                <a:latin typeface="Courier New"/>
                <a:cs typeface="Courier New"/>
              </a:rPr>
              <a:t>// Setup the click handler so we can escape from full </a:t>
            </a:r>
            <a:r>
              <a:rPr sz="1500" b="1" spc="0" dirty="0">
                <a:solidFill>
                  <a:srgbClr val="336D8D"/>
                </a:solidFill>
                <a:latin typeface="Courier New"/>
                <a:cs typeface="Courier New"/>
              </a:rPr>
              <a:t>screen  </a:t>
            </a:r>
            <a:r>
              <a:rPr sz="1500" b="1" spc="0" dirty="0">
                <a:latin typeface="Courier New"/>
                <a:cs typeface="Courier New"/>
              </a:rPr>
              <a:t>Rectangle </a:t>
            </a:r>
            <a:r>
              <a:rPr sz="1500" b="1" spc="5" dirty="0">
                <a:latin typeface="Courier New"/>
                <a:cs typeface="Courier New"/>
              </a:rPr>
              <a:t>r = new Rectangle(0, 0, 250, </a:t>
            </a:r>
            <a:r>
              <a:rPr sz="1500" b="1" spc="0" dirty="0">
                <a:latin typeface="Courier New"/>
                <a:cs typeface="Courier New"/>
              </a:rPr>
              <a:t>250);  </a:t>
            </a:r>
            <a:r>
              <a:rPr sz="1500" b="1" spc="5" dirty="0">
                <a:latin typeface="Courier New"/>
                <a:cs typeface="Courier New"/>
              </a:rPr>
              <a:t>r.setOnMouseClicked(e -&gt;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spc="5" dirty="0">
                <a:latin typeface="Courier New"/>
                <a:cs typeface="Courier New"/>
              </a:rPr>
              <a:t>stage.</a:t>
            </a:r>
            <a:r>
              <a:rPr sz="1500" b="1" spc="5" dirty="0">
                <a:solidFill>
                  <a:srgbClr val="FB8537"/>
                </a:solidFill>
                <a:latin typeface="Courier New"/>
                <a:cs typeface="Courier New"/>
              </a:rPr>
              <a:t>setFullScreen</a:t>
            </a:r>
            <a:r>
              <a:rPr sz="1500" b="1" spc="5" dirty="0">
                <a:latin typeface="Courier New"/>
                <a:cs typeface="Courier New"/>
              </a:rPr>
              <a:t>(false));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 marR="4295140">
              <a:lnSpc>
                <a:spcPct val="101299"/>
              </a:lnSpc>
            </a:pPr>
            <a:r>
              <a:rPr sz="1500" b="1" spc="5" dirty="0">
                <a:solidFill>
                  <a:srgbClr val="336D8D"/>
                </a:solidFill>
                <a:latin typeface="Courier New"/>
                <a:cs typeface="Courier New"/>
              </a:rPr>
              <a:t>// Set full screen </a:t>
            </a:r>
            <a:r>
              <a:rPr sz="1500" b="1" spc="0" dirty="0">
                <a:solidFill>
                  <a:srgbClr val="336D8D"/>
                </a:solidFill>
                <a:latin typeface="Courier New"/>
                <a:cs typeface="Courier New"/>
              </a:rPr>
              <a:t>again  </a:t>
            </a:r>
            <a:r>
              <a:rPr sz="1500" b="1" spc="0" dirty="0">
                <a:latin typeface="Courier New"/>
                <a:cs typeface="Courier New"/>
              </a:rPr>
              <a:t>stage.</a:t>
            </a:r>
            <a:r>
              <a:rPr sz="1500" b="1" spc="0" dirty="0">
                <a:solidFill>
                  <a:srgbClr val="FB8537"/>
                </a:solidFill>
                <a:latin typeface="Courier New"/>
                <a:cs typeface="Courier New"/>
              </a:rPr>
              <a:t>setFullScreen</a:t>
            </a:r>
            <a:r>
              <a:rPr sz="1500" b="1" spc="0" dirty="0">
                <a:latin typeface="Courier New"/>
                <a:cs typeface="Courier New"/>
              </a:rPr>
              <a:t>(true);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1849120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JavaFX</a:t>
            </a:r>
            <a:r>
              <a:rPr spc="-20" dirty="0"/>
              <a:t> </a:t>
            </a:r>
            <a:r>
              <a:rPr spc="-5" dirty="0"/>
              <a:t>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Printing</a:t>
            </a:r>
            <a:r>
              <a:rPr sz="2000" b="0" spc="-80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Support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48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1731" y="1415679"/>
            <a:ext cx="6869430" cy="32715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90855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491490" algn="l"/>
              </a:tabLst>
            </a:pPr>
            <a:r>
              <a:rPr sz="2000" dirty="0">
                <a:latin typeface="Arial"/>
                <a:cs typeface="Arial"/>
              </a:rPr>
              <a:t>New API for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printing</a:t>
            </a:r>
            <a:endParaRPr sz="2000">
              <a:latin typeface="Arial"/>
              <a:cs typeface="Arial"/>
            </a:endParaRPr>
          </a:p>
          <a:p>
            <a:pPr marL="666750">
              <a:lnSpc>
                <a:spcPct val="100000"/>
              </a:lnSpc>
              <a:spcBef>
                <a:spcPts val="610"/>
              </a:spcBef>
            </a:pPr>
            <a:r>
              <a:rPr sz="1500" spc="15" dirty="0">
                <a:latin typeface="Arial"/>
                <a:cs typeface="Arial"/>
              </a:rPr>
              <a:t>– </a:t>
            </a:r>
            <a:r>
              <a:rPr sz="1800" spc="-5" dirty="0">
                <a:latin typeface="Arial"/>
                <a:cs typeface="Arial"/>
              </a:rPr>
              <a:t>Currently only supported on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desktop</a:t>
            </a:r>
            <a:endParaRPr sz="1800">
              <a:latin typeface="Arial"/>
              <a:cs typeface="Arial"/>
            </a:endParaRPr>
          </a:p>
          <a:p>
            <a:pPr marL="490855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491490" algn="l"/>
              </a:tabLst>
            </a:pPr>
            <a:r>
              <a:rPr sz="2000" dirty="0">
                <a:latin typeface="Arial"/>
                <a:cs typeface="Arial"/>
              </a:rPr>
              <a:t>Any node can be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printed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345"/>
              </a:spcBef>
            </a:pPr>
            <a:r>
              <a:rPr sz="1600" b="1" spc="-5" dirty="0">
                <a:latin typeface="Courier New"/>
                <a:cs typeface="Courier New"/>
              </a:rPr>
              <a:t>PrinterJob job = </a:t>
            </a:r>
            <a:r>
              <a:rPr sz="1600" b="1" spc="-5" dirty="0">
                <a:solidFill>
                  <a:srgbClr val="FB8537"/>
                </a:solidFill>
                <a:latin typeface="Courier New"/>
                <a:cs typeface="Courier New"/>
              </a:rPr>
              <a:t>PrinterJob.createPrinterJob</a:t>
            </a:r>
            <a:r>
              <a:rPr sz="1600" b="1" spc="-5" dirty="0">
                <a:latin typeface="Courier New"/>
                <a:cs typeface="Courier New"/>
              </a:rPr>
              <a:t>(printer);  job.getJobSettings().</a:t>
            </a:r>
            <a:r>
              <a:rPr sz="1600" b="1" spc="-5" dirty="0">
                <a:solidFill>
                  <a:srgbClr val="FB8537"/>
                </a:solidFill>
                <a:latin typeface="Courier New"/>
                <a:cs typeface="Courier New"/>
              </a:rPr>
              <a:t>setPageLayout</a:t>
            </a:r>
            <a:r>
              <a:rPr sz="1600" b="1" spc="-5" dirty="0">
                <a:latin typeface="Courier New"/>
                <a:cs typeface="Courier New"/>
              </a:rPr>
              <a:t>(pageLayout);  job.getJobSettings().</a:t>
            </a:r>
            <a:r>
              <a:rPr sz="1600" b="1" spc="-5" dirty="0">
                <a:solidFill>
                  <a:srgbClr val="FB8537"/>
                </a:solidFill>
                <a:latin typeface="Courier New"/>
                <a:cs typeface="Courier New"/>
              </a:rPr>
              <a:t>setPrintQuality</a:t>
            </a:r>
            <a:r>
              <a:rPr sz="1600" b="1" spc="-5" dirty="0">
                <a:latin typeface="Courier New"/>
                <a:cs typeface="Courier New"/>
              </a:rPr>
              <a:t>(PrintQuality.HIGH);  job.getJobSettings().</a:t>
            </a:r>
            <a:r>
              <a:rPr sz="1600" b="1" spc="-5" dirty="0">
                <a:solidFill>
                  <a:srgbClr val="FB8537"/>
                </a:solidFill>
                <a:latin typeface="Courier New"/>
                <a:cs typeface="Courier New"/>
              </a:rPr>
              <a:t>setPaperSource</a:t>
            </a:r>
            <a:r>
              <a:rPr sz="1600" b="1" spc="-5" dirty="0">
                <a:latin typeface="Courier New"/>
                <a:cs typeface="Courier New"/>
              </a:rPr>
              <a:t>(PaperSource.MANUAL);  job.getJobSettings().</a:t>
            </a:r>
            <a:r>
              <a:rPr sz="1600" b="1" spc="-5" dirty="0">
                <a:solidFill>
                  <a:srgbClr val="FB8537"/>
                </a:solidFill>
                <a:latin typeface="Courier New"/>
                <a:cs typeface="Courier New"/>
              </a:rPr>
              <a:t>setCollation</a:t>
            </a:r>
            <a:r>
              <a:rPr sz="1600" b="1" spc="-5" dirty="0">
                <a:latin typeface="Courier New"/>
                <a:cs typeface="Courier New"/>
              </a:rPr>
              <a:t>(Collation.COLLATED);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if (job.</a:t>
            </a:r>
            <a:r>
              <a:rPr sz="1600" b="1" spc="-5" dirty="0">
                <a:solidFill>
                  <a:srgbClr val="FB8537"/>
                </a:solidFill>
                <a:latin typeface="Courier New"/>
                <a:cs typeface="Courier New"/>
              </a:rPr>
              <a:t>printPage</a:t>
            </a:r>
            <a:r>
              <a:rPr sz="1600" b="1" spc="-5" dirty="0">
                <a:latin typeface="Courier New"/>
                <a:cs typeface="Courier New"/>
              </a:rPr>
              <a:t>(someRichText))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Courier New"/>
                <a:cs typeface="Courier New"/>
              </a:rPr>
              <a:t>job.</a:t>
            </a:r>
            <a:r>
              <a:rPr sz="1600" b="1" spc="-5" dirty="0">
                <a:solidFill>
                  <a:srgbClr val="FB8537"/>
                </a:solidFill>
                <a:latin typeface="Courier New"/>
                <a:cs typeface="Courier New"/>
              </a:rPr>
              <a:t>endJob</a:t>
            </a:r>
            <a:r>
              <a:rPr sz="1600" b="1" spc="-5" dirty="0">
                <a:latin typeface="Courier New"/>
                <a:cs typeface="Courier New"/>
              </a:rPr>
              <a:t>();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403116"/>
            <a:ext cx="2178685" cy="7886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b="1" spc="-5" dirty="0">
                <a:solidFill>
                  <a:srgbClr val="3D6179"/>
                </a:solidFill>
                <a:latin typeface="Courier New"/>
                <a:cs typeface="Courier New"/>
              </a:rPr>
              <a:t>DatePicker</a:t>
            </a:r>
            <a:endParaRPr sz="2000">
              <a:latin typeface="Courier New"/>
              <a:cs typeface="Courier New"/>
            </a:endParaRPr>
          </a:p>
          <a:p>
            <a:pPr marL="180340" indent="-167640">
              <a:lnSpc>
                <a:spcPct val="100000"/>
              </a:lnSpc>
              <a:spcBef>
                <a:spcPts val="60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b="1" spc="-5" dirty="0">
                <a:solidFill>
                  <a:srgbClr val="3D6179"/>
                </a:solidFill>
                <a:latin typeface="Courier New"/>
                <a:cs typeface="Courier New"/>
              </a:rPr>
              <a:t>TreeTableView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156781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JavaFX</a:t>
            </a:r>
            <a:r>
              <a:rPr spc="-75" dirty="0"/>
              <a:t> </a:t>
            </a:r>
            <a:r>
              <a:rPr spc="-5" dirty="0"/>
              <a:t>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New</a:t>
            </a:r>
            <a:r>
              <a:rPr sz="2000" b="0" spc="-9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Controls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7719" y="2528316"/>
            <a:ext cx="7014972" cy="18592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70476" y="210311"/>
            <a:ext cx="2048255" cy="20269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49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9176" y="4975656"/>
            <a:ext cx="65405" cy="1968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5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4</a:t>
            </a:r>
            <a:endParaRPr sz="5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7408" y="4948428"/>
            <a:ext cx="1905" cy="97790"/>
          </a:xfrm>
          <a:custGeom>
            <a:avLst/>
            <a:gdLst/>
            <a:ahLst/>
            <a:cxnLst/>
            <a:rect l="l" t="t" r="r" b="b"/>
            <a:pathLst>
              <a:path w="1904" h="97789">
                <a:moveTo>
                  <a:pt x="1523" y="0"/>
                </a:moveTo>
                <a:lnTo>
                  <a:pt x="0" y="97536"/>
                </a:lnTo>
              </a:path>
            </a:pathLst>
          </a:custGeom>
          <a:ln w="6096">
            <a:solidFill>
              <a:srgbClr val="3434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96923" y="1967864"/>
            <a:ext cx="5313680" cy="5905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79705" marR="5080" indent="-167640">
              <a:lnSpc>
                <a:spcPts val="2160"/>
              </a:lnSpc>
              <a:spcBef>
                <a:spcPts val="280"/>
              </a:spcBef>
            </a:pPr>
            <a:r>
              <a:rPr sz="1900" dirty="0">
                <a:latin typeface="Arial"/>
                <a:cs typeface="Arial"/>
              </a:rPr>
              <a:t>The JavaFX DatePicker is designed with the </a:t>
            </a:r>
            <a:r>
              <a:rPr sz="1900" spc="0" dirty="0">
                <a:latin typeface="Arial"/>
                <a:cs typeface="Arial"/>
              </a:rPr>
              <a:t>new  </a:t>
            </a:r>
            <a:r>
              <a:rPr sz="1900" dirty="0">
                <a:latin typeface="Arial"/>
                <a:cs typeface="Arial"/>
              </a:rPr>
              <a:t>Calendaring APIs in Java 8 using</a:t>
            </a:r>
            <a:r>
              <a:rPr sz="1900" spc="25" dirty="0">
                <a:latin typeface="Arial"/>
                <a:cs typeface="Arial"/>
              </a:rPr>
              <a:t> </a:t>
            </a:r>
            <a:r>
              <a:rPr sz="1900" b="1" dirty="0">
                <a:latin typeface="Courier New"/>
                <a:cs typeface="Courier New"/>
              </a:rPr>
              <a:t>java.time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38657" y="21717"/>
            <a:ext cx="2460625" cy="590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00" dirty="0">
                <a:solidFill>
                  <a:srgbClr val="1A1717"/>
                </a:solidFill>
              </a:rPr>
              <a:t>DatePicker</a:t>
            </a:r>
            <a:endParaRPr sz="37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02802" y="4899761"/>
            <a:ext cx="120014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0" dirty="0">
                <a:latin typeface="Arial"/>
                <a:cs typeface="Arial"/>
              </a:rPr>
              <a:t>55</a:t>
            </a:r>
            <a:endParaRPr sz="6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7363" y="1519427"/>
            <a:ext cx="5605272" cy="25511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37534" y="271399"/>
            <a:ext cx="1635125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0" spc="-5" dirty="0">
                <a:latin typeface="Arial"/>
                <a:cs typeface="Arial"/>
              </a:rPr>
              <a:t>DatePicker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7408" y="4948428"/>
            <a:ext cx="1905" cy="97790"/>
          </a:xfrm>
          <a:custGeom>
            <a:avLst/>
            <a:gdLst/>
            <a:ahLst/>
            <a:cxnLst/>
            <a:rect l="l" t="t" r="r" b="b"/>
            <a:pathLst>
              <a:path w="1904" h="97789">
                <a:moveTo>
                  <a:pt x="1523" y="0"/>
                </a:moveTo>
                <a:lnTo>
                  <a:pt x="0" y="97536"/>
                </a:lnTo>
              </a:path>
            </a:pathLst>
          </a:custGeom>
          <a:ln w="6096">
            <a:solidFill>
              <a:srgbClr val="3434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37534" y="271399"/>
            <a:ext cx="1635125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0" spc="-5" dirty="0">
                <a:latin typeface="Arial"/>
                <a:cs typeface="Arial"/>
              </a:rPr>
              <a:t>DatePicker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019" y="4924048"/>
            <a:ext cx="151765" cy="249554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520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5</a:t>
            </a:r>
            <a:endParaRPr sz="550">
              <a:latin typeface="Arial"/>
              <a:cs typeface="Arial"/>
            </a:endParaRPr>
          </a:p>
          <a:p>
            <a:pPr marL="98425">
              <a:lnSpc>
                <a:spcPct val="100000"/>
              </a:lnSpc>
              <a:spcBef>
                <a:spcPts val="10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6</a:t>
            </a:r>
            <a:endParaRPr sz="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236" y="1637233"/>
            <a:ext cx="6498590" cy="2220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import java.time.LocalDate; // From new Date/Time</a:t>
            </a:r>
            <a:r>
              <a:rPr sz="1600" b="1" spc="55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API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  <a:p>
            <a:pPr marL="50038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LocalDate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ld;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50038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DatePicker dp = new</a:t>
            </a:r>
            <a:r>
              <a:rPr sz="1600" b="1" spc="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DatePicker();</a:t>
            </a:r>
            <a:endParaRPr sz="1600">
              <a:latin typeface="Courier New"/>
              <a:cs typeface="Courier New"/>
            </a:endParaRPr>
          </a:p>
          <a:p>
            <a:pPr marL="74422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dp.setOnAction(e </a:t>
            </a:r>
            <a:r>
              <a:rPr sz="1600" b="1" dirty="0">
                <a:latin typeface="Courier New"/>
                <a:cs typeface="Courier New"/>
              </a:rPr>
              <a:t>-&gt;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989330" marR="368935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Courier New"/>
                <a:cs typeface="Courier New"/>
              </a:rPr>
              <a:t>ld = dp.getValue();  System.out.println("Date selected " +</a:t>
            </a:r>
            <a:r>
              <a:rPr sz="1600" b="1" spc="5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ld);</a:t>
            </a:r>
            <a:endParaRPr sz="1600">
              <a:latin typeface="Courier New"/>
              <a:cs typeface="Courier New"/>
            </a:endParaRPr>
          </a:p>
          <a:p>
            <a:pPr marL="74422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});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21735" y="1350263"/>
            <a:ext cx="2471928" cy="2442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7408" y="4948428"/>
            <a:ext cx="1905" cy="97790"/>
          </a:xfrm>
          <a:custGeom>
            <a:avLst/>
            <a:gdLst/>
            <a:ahLst/>
            <a:cxnLst/>
            <a:rect l="l" t="t" r="r" b="b"/>
            <a:pathLst>
              <a:path w="1904" h="97789">
                <a:moveTo>
                  <a:pt x="1523" y="0"/>
                </a:moveTo>
                <a:lnTo>
                  <a:pt x="0" y="97536"/>
                </a:lnTo>
              </a:path>
            </a:pathLst>
          </a:custGeom>
          <a:ln w="6096">
            <a:solidFill>
              <a:srgbClr val="3434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90671" y="271399"/>
            <a:ext cx="1727835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0" spc="-5" dirty="0">
                <a:latin typeface="Arial"/>
                <a:cs typeface="Arial"/>
              </a:rPr>
              <a:t>Date</a:t>
            </a:r>
            <a:r>
              <a:rPr sz="2600" b="0" spc="-80" dirty="0">
                <a:latin typeface="Arial"/>
                <a:cs typeface="Arial"/>
              </a:rPr>
              <a:t> </a:t>
            </a:r>
            <a:r>
              <a:rPr sz="2600" b="0" spc="-5" dirty="0">
                <a:latin typeface="Arial"/>
                <a:cs typeface="Arial"/>
              </a:rPr>
              <a:t>Picker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3019" y="4924048"/>
            <a:ext cx="151765" cy="249554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520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5</a:t>
            </a:r>
            <a:endParaRPr sz="550">
              <a:latin typeface="Arial"/>
              <a:cs typeface="Arial"/>
            </a:endParaRPr>
          </a:p>
          <a:p>
            <a:pPr marL="98425">
              <a:lnSpc>
                <a:spcPct val="100000"/>
              </a:lnSpc>
              <a:spcBef>
                <a:spcPts val="10"/>
              </a:spcBef>
            </a:pPr>
            <a:r>
              <a:rPr sz="550" spc="0" dirty="0">
                <a:solidFill>
                  <a:srgbClr val="1A1A1A"/>
                </a:solidFill>
                <a:latin typeface="Arial"/>
                <a:cs typeface="Arial"/>
              </a:rPr>
              <a:t>7</a:t>
            </a:r>
            <a:endParaRPr sz="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5719" y="4918354"/>
            <a:ext cx="2407285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"/>
                <a:cs typeface="Arial"/>
              </a:rPr>
              <a:t>58 </a:t>
            </a:r>
            <a:r>
              <a:rPr lang="en-IN" sz="600" dirty="0">
                <a:latin typeface="Arial"/>
                <a:cs typeface="Arial"/>
              </a:rPr>
              <a:t> </a:t>
            </a:r>
            <a:r>
              <a:rPr sz="600" spc="-5" dirty="0">
                <a:latin typeface="Arial"/>
                <a:cs typeface="Arial"/>
              </a:rPr>
              <a:t>.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8398" y="51003"/>
            <a:ext cx="325564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00" b="1" spc="-40" dirty="0">
                <a:solidFill>
                  <a:srgbClr val="1A1717"/>
                </a:solidFill>
                <a:latin typeface="Arial"/>
                <a:cs typeface="Arial"/>
              </a:rPr>
              <a:t>TreeTableView</a:t>
            </a:r>
            <a:endParaRPr sz="3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7982" y="1197305"/>
            <a:ext cx="80194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UI control with combined </a:t>
            </a:r>
            <a:r>
              <a:rPr sz="2000" spc="-15" dirty="0">
                <a:latin typeface="Arial"/>
                <a:cs typeface="Arial"/>
              </a:rPr>
              <a:t>TreeView </a:t>
            </a:r>
            <a:r>
              <a:rPr sz="2000" dirty="0">
                <a:latin typeface="Arial"/>
                <a:cs typeface="Arial"/>
              </a:rPr>
              <a:t>and </a:t>
            </a:r>
            <a:r>
              <a:rPr sz="2000" spc="-30" dirty="0">
                <a:latin typeface="Arial"/>
                <a:cs typeface="Arial"/>
              </a:rPr>
              <a:t>TableView </a:t>
            </a:r>
            <a:r>
              <a:rPr sz="2000" dirty="0">
                <a:latin typeface="Arial"/>
                <a:cs typeface="Arial"/>
              </a:rPr>
              <a:t>controls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functionality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02802" y="4899761"/>
            <a:ext cx="120014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0" dirty="0">
                <a:latin typeface="Arial"/>
                <a:cs typeface="Arial"/>
              </a:rPr>
              <a:t>58</a:t>
            </a:r>
            <a:endParaRPr sz="6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37260" y="2278379"/>
            <a:ext cx="7014972" cy="18608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415679"/>
            <a:ext cx="3628390" cy="22015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Gestures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15" dirty="0">
                <a:latin typeface="Arial"/>
                <a:cs typeface="Arial"/>
              </a:rPr>
              <a:t>Swipe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Scroll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Rotate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Zoom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spc="-45" dirty="0">
                <a:latin typeface="Arial"/>
                <a:cs typeface="Arial"/>
              </a:rPr>
              <a:t>Touch </a:t>
            </a:r>
            <a:r>
              <a:rPr sz="2000" dirty="0">
                <a:latin typeface="Arial"/>
                <a:cs typeface="Arial"/>
              </a:rPr>
              <a:t>events and touch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points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166560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JavaFX</a:t>
            </a:r>
            <a:r>
              <a:rPr spc="-35" dirty="0"/>
              <a:t> </a:t>
            </a:r>
            <a:r>
              <a:rPr spc="-5" dirty="0"/>
              <a:t>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spc="-45" dirty="0">
                <a:solidFill>
                  <a:srgbClr val="5282A0"/>
                </a:solidFill>
                <a:latin typeface="Arial"/>
                <a:cs typeface="Arial"/>
              </a:rPr>
              <a:t>Touch</a:t>
            </a:r>
            <a:r>
              <a:rPr sz="2000" b="0" spc="-8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Support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27320" y="1220724"/>
            <a:ext cx="2442972" cy="18303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55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97823" y="0"/>
            <a:ext cx="646176" cy="4631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43600" y="0"/>
            <a:ext cx="320039" cy="46314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73723" y="0"/>
            <a:ext cx="2542031" cy="4783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63640" y="0"/>
            <a:ext cx="2234184" cy="46314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45708" y="0"/>
            <a:ext cx="2542032" cy="47899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63640" y="0"/>
            <a:ext cx="2234184" cy="46314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48071" y="4631435"/>
            <a:ext cx="3996054" cy="512445"/>
          </a:xfrm>
          <a:custGeom>
            <a:avLst/>
            <a:gdLst/>
            <a:ahLst/>
            <a:cxnLst/>
            <a:rect l="l" t="t" r="r" b="b"/>
            <a:pathLst>
              <a:path w="3996054" h="512445">
                <a:moveTo>
                  <a:pt x="0" y="512064"/>
                </a:moveTo>
                <a:lnTo>
                  <a:pt x="3995928" y="512064"/>
                </a:lnTo>
                <a:lnTo>
                  <a:pt x="3995928" y="0"/>
                </a:lnTo>
                <a:lnTo>
                  <a:pt x="0" y="0"/>
                </a:lnTo>
                <a:lnTo>
                  <a:pt x="0" y="5120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83652" y="4820410"/>
            <a:ext cx="920496" cy="2834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65035" y="4646674"/>
            <a:ext cx="949451" cy="43586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39840" y="1173480"/>
            <a:ext cx="2086356" cy="15636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617344" y="447293"/>
            <a:ext cx="2705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>
                <a:solidFill>
                  <a:srgbClr val="424545"/>
                </a:solidFill>
              </a:rPr>
              <a:t>Touch</a:t>
            </a:r>
            <a:r>
              <a:rPr spc="-30" dirty="0">
                <a:solidFill>
                  <a:srgbClr val="424545"/>
                </a:solidFill>
              </a:rPr>
              <a:t> </a:t>
            </a:r>
            <a:r>
              <a:rPr spc="-5" dirty="0">
                <a:solidFill>
                  <a:srgbClr val="424545"/>
                </a:solidFill>
              </a:rPr>
              <a:t>Gestures</a:t>
            </a:r>
          </a:p>
        </p:txBody>
      </p:sp>
      <p:sp>
        <p:nvSpPr>
          <p:cNvPr id="13" name="object 13"/>
          <p:cNvSpPr/>
          <p:nvPr/>
        </p:nvSpPr>
        <p:spPr>
          <a:xfrm>
            <a:off x="876970" y="1403998"/>
            <a:ext cx="4156042" cy="299356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8095" y="1271016"/>
            <a:ext cx="4406265" cy="3235960"/>
          </a:xfrm>
          <a:custGeom>
            <a:avLst/>
            <a:gdLst/>
            <a:ahLst/>
            <a:cxnLst/>
            <a:rect l="l" t="t" r="r" b="b"/>
            <a:pathLst>
              <a:path w="4406265" h="3235960">
                <a:moveTo>
                  <a:pt x="0" y="3235451"/>
                </a:moveTo>
                <a:lnTo>
                  <a:pt x="4405884" y="3235451"/>
                </a:lnTo>
                <a:lnTo>
                  <a:pt x="4405884" y="0"/>
                </a:lnTo>
                <a:lnTo>
                  <a:pt x="0" y="0"/>
                </a:lnTo>
                <a:lnTo>
                  <a:pt x="0" y="3235451"/>
                </a:lnTo>
                <a:close/>
              </a:path>
            </a:pathLst>
          </a:custGeom>
          <a:ln w="9143">
            <a:solidFill>
              <a:srgbClr val="5282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86021" y="2298954"/>
            <a:ext cx="2131060" cy="1812289"/>
          </a:xfrm>
          <a:custGeom>
            <a:avLst/>
            <a:gdLst/>
            <a:ahLst/>
            <a:cxnLst/>
            <a:rect l="l" t="t" r="r" b="b"/>
            <a:pathLst>
              <a:path w="2131060" h="1812289">
                <a:moveTo>
                  <a:pt x="38100" y="1722653"/>
                </a:moveTo>
                <a:lnTo>
                  <a:pt x="0" y="1812023"/>
                </a:lnTo>
                <a:lnTo>
                  <a:pt x="94361" y="1788833"/>
                </a:lnTo>
                <a:lnTo>
                  <a:pt x="83586" y="1776158"/>
                </a:lnTo>
                <a:lnTo>
                  <a:pt x="64515" y="1776158"/>
                </a:lnTo>
                <a:lnTo>
                  <a:pt x="45719" y="1754098"/>
                </a:lnTo>
                <a:lnTo>
                  <a:pt x="56812" y="1744665"/>
                </a:lnTo>
                <a:lnTo>
                  <a:pt x="38100" y="1722653"/>
                </a:lnTo>
                <a:close/>
              </a:path>
              <a:path w="2131060" h="1812289">
                <a:moveTo>
                  <a:pt x="56812" y="1744665"/>
                </a:moveTo>
                <a:lnTo>
                  <a:pt x="45719" y="1754098"/>
                </a:lnTo>
                <a:lnTo>
                  <a:pt x="64515" y="1776158"/>
                </a:lnTo>
                <a:lnTo>
                  <a:pt x="75584" y="1766746"/>
                </a:lnTo>
                <a:lnTo>
                  <a:pt x="56812" y="1744665"/>
                </a:lnTo>
                <a:close/>
              </a:path>
              <a:path w="2131060" h="1812289">
                <a:moveTo>
                  <a:pt x="75584" y="1766746"/>
                </a:moveTo>
                <a:lnTo>
                  <a:pt x="64515" y="1776158"/>
                </a:lnTo>
                <a:lnTo>
                  <a:pt x="83586" y="1776158"/>
                </a:lnTo>
                <a:lnTo>
                  <a:pt x="75584" y="1766746"/>
                </a:lnTo>
                <a:close/>
              </a:path>
              <a:path w="2131060" h="1812289">
                <a:moveTo>
                  <a:pt x="2055173" y="45267"/>
                </a:moveTo>
                <a:lnTo>
                  <a:pt x="56812" y="1744665"/>
                </a:lnTo>
                <a:lnTo>
                  <a:pt x="75584" y="1766746"/>
                </a:lnTo>
                <a:lnTo>
                  <a:pt x="2073965" y="67368"/>
                </a:lnTo>
                <a:lnTo>
                  <a:pt x="2055173" y="45267"/>
                </a:lnTo>
                <a:close/>
              </a:path>
              <a:path w="2131060" h="1812289">
                <a:moveTo>
                  <a:pt x="2115544" y="35813"/>
                </a:moveTo>
                <a:lnTo>
                  <a:pt x="2066289" y="35813"/>
                </a:lnTo>
                <a:lnTo>
                  <a:pt x="2085086" y="57912"/>
                </a:lnTo>
                <a:lnTo>
                  <a:pt x="2073965" y="67368"/>
                </a:lnTo>
                <a:lnTo>
                  <a:pt x="2092705" y="89407"/>
                </a:lnTo>
                <a:lnTo>
                  <a:pt x="2115544" y="35813"/>
                </a:lnTo>
                <a:close/>
              </a:path>
              <a:path w="2131060" h="1812289">
                <a:moveTo>
                  <a:pt x="2066289" y="35813"/>
                </a:moveTo>
                <a:lnTo>
                  <a:pt x="2055173" y="45267"/>
                </a:lnTo>
                <a:lnTo>
                  <a:pt x="2073965" y="67368"/>
                </a:lnTo>
                <a:lnTo>
                  <a:pt x="2085086" y="57912"/>
                </a:lnTo>
                <a:lnTo>
                  <a:pt x="2066289" y="35813"/>
                </a:lnTo>
                <a:close/>
              </a:path>
              <a:path w="2131060" h="1812289">
                <a:moveTo>
                  <a:pt x="2130805" y="0"/>
                </a:moveTo>
                <a:lnTo>
                  <a:pt x="2036444" y="23240"/>
                </a:lnTo>
                <a:lnTo>
                  <a:pt x="2055173" y="45267"/>
                </a:lnTo>
                <a:lnTo>
                  <a:pt x="2066289" y="35813"/>
                </a:lnTo>
                <a:lnTo>
                  <a:pt x="2115544" y="35813"/>
                </a:lnTo>
                <a:lnTo>
                  <a:pt x="213080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56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15000" y="1825751"/>
            <a:ext cx="2971800" cy="22448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400938"/>
            <a:ext cx="74968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Handling </a:t>
            </a:r>
            <a:r>
              <a:rPr spc="-50" dirty="0"/>
              <a:t>Touch</a:t>
            </a:r>
            <a:r>
              <a:rPr spc="80" dirty="0"/>
              <a:t> </a:t>
            </a:r>
            <a:r>
              <a:rPr spc="-10" dirty="0"/>
              <a:t>(</a:t>
            </a:r>
            <a:r>
              <a:rPr spc="-10" dirty="0">
                <a:latin typeface="Courier New"/>
                <a:cs typeface="Courier New"/>
              </a:rPr>
              <a:t>TouchEvent/TouchPoint</a:t>
            </a:r>
            <a:r>
              <a:rPr spc="-10" dirty="0"/>
              <a:t>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5459" y="1359001"/>
            <a:ext cx="4991735" cy="2759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340" marR="5080" indent="-167640">
              <a:lnSpc>
                <a:spcPct val="105600"/>
              </a:lnSpc>
              <a:spcBef>
                <a:spcPts val="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A </a:t>
            </a:r>
            <a:r>
              <a:rPr sz="2000" b="1" spc="-5" dirty="0">
                <a:latin typeface="Courier New"/>
                <a:cs typeface="Courier New"/>
              </a:rPr>
              <a:t>TouchEvent</a:t>
            </a:r>
            <a:r>
              <a:rPr sz="2000" b="1" spc="-880" dirty="0"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contains information about  a touch,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including:</a:t>
            </a:r>
            <a:endParaRPr sz="2000">
              <a:latin typeface="Arial"/>
              <a:cs typeface="Arial"/>
            </a:endParaRPr>
          </a:p>
          <a:p>
            <a:pPr marL="584200" marR="207645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Event </a:t>
            </a:r>
            <a:r>
              <a:rPr sz="1800" spc="-10" dirty="0">
                <a:latin typeface="Arial"/>
                <a:cs typeface="Arial"/>
              </a:rPr>
              <a:t>type: </a:t>
            </a:r>
            <a:r>
              <a:rPr sz="1800" spc="-5" dirty="0">
                <a:latin typeface="Arial"/>
                <a:cs typeface="Arial"/>
              </a:rPr>
              <a:t>Pressed, released, moved, or  stationary</a:t>
            </a:r>
            <a:endParaRPr sz="1800">
              <a:latin typeface="Arial"/>
              <a:cs typeface="Arial"/>
            </a:endParaRPr>
          </a:p>
          <a:p>
            <a:pPr marL="584200" marR="125095" lvl="1" indent="-228600" algn="just">
              <a:lnSpc>
                <a:spcPct val="102800"/>
              </a:lnSpc>
              <a:spcBef>
                <a:spcPts val="42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45" dirty="0">
                <a:latin typeface="Arial"/>
                <a:cs typeface="Arial"/>
              </a:rPr>
              <a:t>Touch </a:t>
            </a:r>
            <a:r>
              <a:rPr sz="1800" spc="-5" dirty="0">
                <a:latin typeface="Arial"/>
                <a:cs typeface="Arial"/>
              </a:rPr>
              <a:t>points: The </a:t>
            </a:r>
            <a:r>
              <a:rPr sz="1800" b="1" dirty="0">
                <a:latin typeface="Courier New"/>
                <a:cs typeface="Courier New"/>
              </a:rPr>
              <a:t>TouchPoint</a:t>
            </a:r>
            <a:r>
              <a:rPr sz="1800" b="1" spc="-66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instances  that represent each of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points that </a:t>
            </a:r>
            <a:r>
              <a:rPr sz="1800" spc="-15" dirty="0">
                <a:latin typeface="Arial"/>
                <a:cs typeface="Arial"/>
              </a:rPr>
              <a:t>were  </a:t>
            </a:r>
            <a:r>
              <a:rPr sz="1800" spc="-5" dirty="0">
                <a:latin typeface="Arial"/>
                <a:cs typeface="Arial"/>
              </a:rPr>
              <a:t>touched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00"/>
              </a:spcBef>
              <a:buClr>
                <a:srgbClr val="5282A0"/>
              </a:buClr>
              <a:buSzPct val="84375"/>
              <a:buFont typeface="Wingdings"/>
              <a:buChar char=""/>
              <a:tabLst>
                <a:tab pos="180340" algn="l"/>
              </a:tabLst>
            </a:pPr>
            <a:r>
              <a:rPr sz="1600" spc="-5" dirty="0">
                <a:latin typeface="Arial"/>
                <a:cs typeface="Arial"/>
              </a:rPr>
              <a:t>Each </a:t>
            </a:r>
            <a:r>
              <a:rPr sz="1600" b="1" spc="-5" dirty="0">
                <a:latin typeface="Courier New"/>
                <a:cs typeface="Courier New"/>
              </a:rPr>
              <a:t>TouchEvent</a:t>
            </a:r>
            <a:r>
              <a:rPr sz="1600" b="1" spc="-44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Arial"/>
                <a:cs typeface="Arial"/>
              </a:rPr>
              <a:t>has a unique ID to identify the</a:t>
            </a:r>
            <a:endParaRPr sz="16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  <a:spcBef>
                <a:spcPts val="110"/>
              </a:spcBef>
            </a:pPr>
            <a:r>
              <a:rPr sz="1600" spc="-5" dirty="0">
                <a:latin typeface="Arial"/>
                <a:cs typeface="Arial"/>
              </a:rPr>
              <a:t>events and touch points in a multi-touch</a:t>
            </a:r>
            <a:r>
              <a:rPr sz="1600" spc="5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action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68056" y="0"/>
            <a:ext cx="1075944" cy="8961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57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16179"/>
            <a:ext cx="49199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Responding to </a:t>
            </a:r>
            <a:r>
              <a:rPr spc="-50" dirty="0"/>
              <a:t>Touch</a:t>
            </a:r>
            <a:r>
              <a:rPr spc="30" dirty="0"/>
              <a:t> </a:t>
            </a:r>
            <a:r>
              <a:rPr spc="-5" dirty="0"/>
              <a:t>Events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0" y="1825751"/>
            <a:ext cx="2971800" cy="22448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" y="1478280"/>
            <a:ext cx="5106159" cy="28963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68056" y="0"/>
            <a:ext cx="1075944" cy="8961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58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415679"/>
            <a:ext cx="3460115" cy="33445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Predefined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shapes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Box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10" dirty="0">
                <a:latin typeface="Arial"/>
                <a:cs typeface="Arial"/>
              </a:rPr>
              <a:t>Cylinder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Sphere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User-defined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shapes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484"/>
              </a:spcBef>
              <a:buSzPct val="83333"/>
              <a:buFont typeface="Arial"/>
              <a:buChar char="–"/>
              <a:tabLst>
                <a:tab pos="584835" algn="l"/>
              </a:tabLst>
            </a:pPr>
            <a:r>
              <a:rPr sz="1800" b="1" spc="-10" dirty="0">
                <a:solidFill>
                  <a:srgbClr val="3D6179"/>
                </a:solidFill>
                <a:latin typeface="Courier New"/>
                <a:cs typeface="Courier New"/>
              </a:rPr>
              <a:t>TriangleMesh</a:t>
            </a:r>
            <a:r>
              <a:rPr sz="1800" spc="-10" dirty="0">
                <a:solidFill>
                  <a:srgbClr val="3D6179"/>
                </a:solidFill>
                <a:latin typeface="Arial"/>
                <a:cs typeface="Arial"/>
              </a:rPr>
              <a:t>,</a:t>
            </a:r>
            <a:r>
              <a:rPr sz="1800" spc="-75" dirty="0">
                <a:solidFill>
                  <a:srgbClr val="3D617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D6179"/>
                </a:solidFill>
                <a:latin typeface="Courier New"/>
                <a:cs typeface="Courier New"/>
              </a:rPr>
              <a:t>MeshView</a:t>
            </a:r>
            <a:endParaRPr sz="1800">
              <a:latin typeface="Courier New"/>
              <a:cs typeface="Courier New"/>
            </a:endParaRPr>
          </a:p>
          <a:p>
            <a:pPr marL="180340" indent="-167640">
              <a:lnSpc>
                <a:spcPct val="100000"/>
              </a:lnSpc>
              <a:spcBef>
                <a:spcPts val="53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b="1" spc="-5" dirty="0">
                <a:solidFill>
                  <a:srgbClr val="3D6179"/>
                </a:solidFill>
                <a:latin typeface="Courier New"/>
                <a:cs typeface="Courier New"/>
              </a:rPr>
              <a:t>PhongMaterial</a:t>
            </a:r>
            <a:endParaRPr sz="2000">
              <a:latin typeface="Courier New"/>
              <a:cs typeface="Courier New"/>
            </a:endParaRPr>
          </a:p>
          <a:p>
            <a:pPr marL="180340" indent="-167640">
              <a:lnSpc>
                <a:spcPct val="100000"/>
              </a:lnSpc>
              <a:spcBef>
                <a:spcPts val="78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Lighting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Cameras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156781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JavaFX</a:t>
            </a:r>
            <a:r>
              <a:rPr spc="-65" dirty="0"/>
              <a:t> </a:t>
            </a:r>
            <a:r>
              <a:rPr spc="-5" dirty="0"/>
              <a:t>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3D</a:t>
            </a:r>
            <a:r>
              <a:rPr sz="2000" b="0" spc="-3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Support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99731" y="239268"/>
            <a:ext cx="1889760" cy="19095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82996" y="2295144"/>
            <a:ext cx="2459736" cy="22875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32959" y="228600"/>
            <a:ext cx="2191512" cy="19324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59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3651" y="96392"/>
            <a:ext cx="6805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Creating Primitive Shapes and</a:t>
            </a:r>
            <a:r>
              <a:rPr spc="75" dirty="0"/>
              <a:t> </a:t>
            </a:r>
            <a:r>
              <a:rPr spc="-5" dirty="0"/>
              <a:t>Materials</a:t>
            </a:r>
          </a:p>
        </p:txBody>
      </p:sp>
      <p:sp>
        <p:nvSpPr>
          <p:cNvPr id="3" name="object 3"/>
          <p:cNvSpPr/>
          <p:nvPr/>
        </p:nvSpPr>
        <p:spPr>
          <a:xfrm>
            <a:off x="5625084" y="1639823"/>
            <a:ext cx="2743200" cy="2770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4812" y="1726225"/>
            <a:ext cx="5146426" cy="19440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79535" y="0"/>
            <a:ext cx="625944" cy="8854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99321" y="4914856"/>
            <a:ext cx="120014" cy="1212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650" spc="0" dirty="0">
                <a:latin typeface="Arial"/>
                <a:cs typeface="Arial"/>
              </a:rPr>
              <a:t>64</a:t>
            </a:r>
            <a:endParaRPr sz="6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60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28132" y="1639823"/>
            <a:ext cx="2766060" cy="2770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2652" y="88137"/>
            <a:ext cx="5075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1A1717"/>
                </a:solidFill>
              </a:rPr>
              <a:t>Placing a </a:t>
            </a:r>
            <a:r>
              <a:rPr spc="-35" dirty="0">
                <a:solidFill>
                  <a:srgbClr val="1A1717"/>
                </a:solidFill>
              </a:rPr>
              <a:t>Texture </a:t>
            </a:r>
            <a:r>
              <a:rPr spc="-5" dirty="0">
                <a:solidFill>
                  <a:srgbClr val="1A1717"/>
                </a:solidFill>
              </a:rPr>
              <a:t>on a</a:t>
            </a:r>
            <a:r>
              <a:rPr spc="50" dirty="0">
                <a:solidFill>
                  <a:srgbClr val="1A1717"/>
                </a:solidFill>
              </a:rPr>
              <a:t> </a:t>
            </a:r>
            <a:r>
              <a:rPr spc="-10" dirty="0">
                <a:solidFill>
                  <a:srgbClr val="1A1717"/>
                </a:solidFill>
              </a:rPr>
              <a:t>Sphere</a:t>
            </a:r>
          </a:p>
        </p:txBody>
      </p:sp>
      <p:sp>
        <p:nvSpPr>
          <p:cNvPr id="4" name="object 4"/>
          <p:cNvSpPr/>
          <p:nvPr/>
        </p:nvSpPr>
        <p:spPr>
          <a:xfrm>
            <a:off x="464819" y="1944623"/>
            <a:ext cx="4823460" cy="21549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27141" y="3026664"/>
            <a:ext cx="251460" cy="190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79535" y="0"/>
            <a:ext cx="625944" cy="8854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02802" y="4907845"/>
            <a:ext cx="120014" cy="1212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650" spc="0" dirty="0">
                <a:latin typeface="Arial"/>
                <a:cs typeface="Arial"/>
              </a:rPr>
              <a:t>65</a:t>
            </a:r>
            <a:endParaRPr sz="6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61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28132" y="1639823"/>
            <a:ext cx="2766060" cy="2770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8080" y="88137"/>
            <a:ext cx="5075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1A1717"/>
                </a:solidFill>
              </a:rPr>
              <a:t>Placing a </a:t>
            </a:r>
            <a:r>
              <a:rPr spc="-35" dirty="0">
                <a:solidFill>
                  <a:srgbClr val="1A1717"/>
                </a:solidFill>
              </a:rPr>
              <a:t>Texture </a:t>
            </a:r>
            <a:r>
              <a:rPr spc="-5" dirty="0">
                <a:solidFill>
                  <a:srgbClr val="1A1717"/>
                </a:solidFill>
              </a:rPr>
              <a:t>on a</a:t>
            </a:r>
            <a:r>
              <a:rPr spc="50" dirty="0">
                <a:solidFill>
                  <a:srgbClr val="1A1717"/>
                </a:solidFill>
              </a:rPr>
              <a:t> </a:t>
            </a:r>
            <a:r>
              <a:rPr spc="-10" dirty="0">
                <a:solidFill>
                  <a:srgbClr val="1A1717"/>
                </a:solidFill>
              </a:rPr>
              <a:t>Sphere</a:t>
            </a:r>
          </a:p>
        </p:txBody>
      </p:sp>
      <p:sp>
        <p:nvSpPr>
          <p:cNvPr id="4" name="object 4"/>
          <p:cNvSpPr/>
          <p:nvPr/>
        </p:nvSpPr>
        <p:spPr>
          <a:xfrm>
            <a:off x="164592" y="1639823"/>
            <a:ext cx="5193772" cy="20581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79535" y="0"/>
            <a:ext cx="625944" cy="8854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02802" y="4907845"/>
            <a:ext cx="120014" cy="1212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650" spc="0" dirty="0">
                <a:latin typeface="Arial"/>
                <a:cs typeface="Arial"/>
              </a:rPr>
              <a:t>66</a:t>
            </a:r>
            <a:endParaRPr sz="6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62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0823" y="78104"/>
            <a:ext cx="16440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1A1717"/>
                </a:solidFill>
              </a:rPr>
              <a:t>3D</a:t>
            </a:r>
            <a:r>
              <a:rPr spc="-70" dirty="0">
                <a:solidFill>
                  <a:srgbClr val="1A1717"/>
                </a:solidFill>
              </a:rPr>
              <a:t> </a:t>
            </a:r>
            <a:r>
              <a:rPr spc="-5" dirty="0">
                <a:solidFill>
                  <a:srgbClr val="1A1717"/>
                </a:solidFill>
              </a:rPr>
              <a:t>Lights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8708" y="1567430"/>
            <a:ext cx="4222115" cy="140652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530"/>
              </a:spcBef>
              <a:buClr>
                <a:srgbClr val="5282A0"/>
              </a:buClr>
              <a:buSzPct val="83333"/>
              <a:buChar char="■"/>
              <a:tabLst>
                <a:tab pos="312420" algn="l"/>
                <a:tab pos="313055" algn="l"/>
              </a:tabLst>
            </a:pPr>
            <a:r>
              <a:rPr sz="1800" spc="-5" dirty="0">
                <a:latin typeface="Arial"/>
                <a:cs typeface="Arial"/>
              </a:rPr>
              <a:t>Lights are nodes in the scene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  <a:p>
            <a:pPr marL="538480" lvl="1" indent="-300355">
              <a:lnSpc>
                <a:spcPct val="100000"/>
              </a:lnSpc>
              <a:spcBef>
                <a:spcPts val="430"/>
              </a:spcBef>
              <a:buSzPct val="83333"/>
              <a:buFont typeface="Arial"/>
              <a:buChar char="■"/>
              <a:tabLst>
                <a:tab pos="537845" algn="l"/>
                <a:tab pos="538480" algn="l"/>
              </a:tabLst>
            </a:pPr>
            <a:r>
              <a:rPr sz="1800" b="1" spc="-10" dirty="0">
                <a:latin typeface="Courier New"/>
                <a:cs typeface="Courier New"/>
              </a:rPr>
              <a:t>PointLight</a:t>
            </a:r>
            <a:endParaRPr sz="1800">
              <a:latin typeface="Courier New"/>
              <a:cs typeface="Courier New"/>
            </a:endParaRPr>
          </a:p>
          <a:p>
            <a:pPr marL="538480" lvl="1" indent="-300355">
              <a:lnSpc>
                <a:spcPct val="100000"/>
              </a:lnSpc>
              <a:spcBef>
                <a:spcPts val="605"/>
              </a:spcBef>
              <a:buSzPct val="83333"/>
              <a:buFont typeface="Arial"/>
              <a:buChar char="■"/>
              <a:tabLst>
                <a:tab pos="537845" algn="l"/>
                <a:tab pos="538480" algn="l"/>
              </a:tabLst>
            </a:pPr>
            <a:r>
              <a:rPr sz="1800" b="1" spc="-10" dirty="0">
                <a:latin typeface="Courier New"/>
                <a:cs typeface="Courier New"/>
              </a:rPr>
              <a:t>AmbientLight</a:t>
            </a:r>
            <a:endParaRPr sz="1800">
              <a:latin typeface="Courier New"/>
              <a:cs typeface="Courier New"/>
            </a:endParaRPr>
          </a:p>
          <a:p>
            <a:pPr marL="312420" indent="-299720">
              <a:lnSpc>
                <a:spcPct val="100000"/>
              </a:lnSpc>
              <a:spcBef>
                <a:spcPts val="765"/>
              </a:spcBef>
              <a:buClr>
                <a:srgbClr val="5282A0"/>
              </a:buClr>
              <a:buSzPct val="83333"/>
              <a:buChar char="■"/>
              <a:tabLst>
                <a:tab pos="312420" algn="l"/>
                <a:tab pos="313055" algn="l"/>
              </a:tabLst>
            </a:pPr>
            <a:r>
              <a:rPr sz="1800" spc="-5" dirty="0">
                <a:latin typeface="Arial"/>
                <a:cs typeface="Arial"/>
              </a:rPr>
              <a:t>Default light provided </a:t>
            </a:r>
            <a:r>
              <a:rPr sz="1800" dirty="0">
                <a:latin typeface="Arial"/>
                <a:cs typeface="Arial"/>
              </a:rPr>
              <a:t>if </a:t>
            </a:r>
            <a:r>
              <a:rPr sz="1800" spc="-5" dirty="0">
                <a:latin typeface="Arial"/>
                <a:cs typeface="Arial"/>
              </a:rPr>
              <a:t>no active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lights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23559" y="1636776"/>
            <a:ext cx="2773680" cy="27675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479535" y="0"/>
            <a:ext cx="625944" cy="8854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702802" y="4907845"/>
            <a:ext cx="120014" cy="1212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650" spc="0" dirty="0">
                <a:latin typeface="Arial"/>
                <a:cs typeface="Arial"/>
              </a:rPr>
              <a:t>67</a:t>
            </a:r>
            <a:endParaRPr sz="6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63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8139" y="107949"/>
            <a:ext cx="40030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Lights, Camera,</a:t>
            </a:r>
            <a:r>
              <a:rPr spc="-120" dirty="0"/>
              <a:t> </a:t>
            </a:r>
            <a:r>
              <a:rPr spc="-5" dirty="0"/>
              <a:t>Action!</a:t>
            </a:r>
          </a:p>
        </p:txBody>
      </p:sp>
      <p:sp>
        <p:nvSpPr>
          <p:cNvPr id="3" name="object 3"/>
          <p:cNvSpPr/>
          <p:nvPr/>
        </p:nvSpPr>
        <p:spPr>
          <a:xfrm>
            <a:off x="5623559" y="1639823"/>
            <a:ext cx="2776728" cy="2770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5441" y="1623639"/>
            <a:ext cx="4497078" cy="28305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79535" y="0"/>
            <a:ext cx="625944" cy="8854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99321" y="4914856"/>
            <a:ext cx="120014" cy="1212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650" spc="0" dirty="0">
                <a:latin typeface="Arial"/>
                <a:cs typeface="Arial"/>
              </a:rPr>
              <a:t>68</a:t>
            </a:r>
            <a:endParaRPr sz="6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64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97823" y="0"/>
            <a:ext cx="646176" cy="46314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43600" y="0"/>
            <a:ext cx="320039" cy="46314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73723" y="0"/>
            <a:ext cx="2542031" cy="47838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63640" y="0"/>
            <a:ext cx="2234184" cy="46314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45708" y="0"/>
            <a:ext cx="2542032" cy="47899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63640" y="0"/>
            <a:ext cx="2234184" cy="46314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48071" y="4631435"/>
            <a:ext cx="3996054" cy="512445"/>
          </a:xfrm>
          <a:custGeom>
            <a:avLst/>
            <a:gdLst/>
            <a:ahLst/>
            <a:cxnLst/>
            <a:rect l="l" t="t" r="r" b="b"/>
            <a:pathLst>
              <a:path w="3996054" h="512445">
                <a:moveTo>
                  <a:pt x="0" y="512064"/>
                </a:moveTo>
                <a:lnTo>
                  <a:pt x="3995928" y="512064"/>
                </a:lnTo>
                <a:lnTo>
                  <a:pt x="3995928" y="0"/>
                </a:lnTo>
                <a:lnTo>
                  <a:pt x="0" y="0"/>
                </a:lnTo>
                <a:lnTo>
                  <a:pt x="0" y="5120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83652" y="4820410"/>
            <a:ext cx="920496" cy="28346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65035" y="4646674"/>
            <a:ext cx="949451" cy="43586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6374" y="1109853"/>
            <a:ext cx="492823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397635" marR="5080" indent="-1385570">
              <a:lnSpc>
                <a:spcPts val="3020"/>
              </a:lnSpc>
              <a:spcBef>
                <a:spcPts val="480"/>
              </a:spcBef>
            </a:pPr>
            <a:r>
              <a:rPr sz="2800" b="1" spc="-5" dirty="0">
                <a:solidFill>
                  <a:srgbClr val="424545"/>
                </a:solidFill>
                <a:latin typeface="Arial"/>
                <a:cs typeface="Arial"/>
              </a:rPr>
              <a:t>Example 3D multi-touch app:  ZenGuitar3D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63640" y="1173480"/>
            <a:ext cx="2221991" cy="239268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65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377761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Compact</a:t>
            </a:r>
            <a:r>
              <a:rPr spc="25" dirty="0"/>
              <a:t> </a:t>
            </a:r>
            <a:r>
              <a:rPr spc="-5" dirty="0"/>
              <a:t>Profiles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Approximate static footprint</a:t>
            </a:r>
            <a:r>
              <a:rPr sz="2000" b="0" spc="-14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goals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69692" y="1339596"/>
            <a:ext cx="3820795" cy="3040380"/>
          </a:xfrm>
          <a:custGeom>
            <a:avLst/>
            <a:gdLst/>
            <a:ahLst/>
            <a:cxnLst/>
            <a:rect l="l" t="t" r="r" b="b"/>
            <a:pathLst>
              <a:path w="3820795" h="3040379">
                <a:moveTo>
                  <a:pt x="1910333" y="0"/>
                </a:moveTo>
                <a:lnTo>
                  <a:pt x="0" y="3040379"/>
                </a:lnTo>
                <a:lnTo>
                  <a:pt x="3820667" y="3040379"/>
                </a:lnTo>
                <a:lnTo>
                  <a:pt x="1910333" y="0"/>
                </a:lnTo>
                <a:close/>
              </a:path>
            </a:pathLst>
          </a:custGeom>
          <a:solidFill>
            <a:srgbClr val="C7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09444" y="3614928"/>
            <a:ext cx="4890770" cy="106680"/>
          </a:xfrm>
          <a:custGeom>
            <a:avLst/>
            <a:gdLst/>
            <a:ahLst/>
            <a:cxnLst/>
            <a:rect l="l" t="t" r="r" b="b"/>
            <a:pathLst>
              <a:path w="4890770" h="106679">
                <a:moveTo>
                  <a:pt x="0" y="106680"/>
                </a:moveTo>
                <a:lnTo>
                  <a:pt x="4890515" y="106680"/>
                </a:lnTo>
                <a:lnTo>
                  <a:pt x="4890515" y="0"/>
                </a:lnTo>
                <a:lnTo>
                  <a:pt x="0" y="0"/>
                </a:lnTo>
                <a:lnTo>
                  <a:pt x="0" y="1066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14700" y="1299972"/>
            <a:ext cx="2893060" cy="2315210"/>
          </a:xfrm>
          <a:custGeom>
            <a:avLst/>
            <a:gdLst/>
            <a:ahLst/>
            <a:cxnLst/>
            <a:rect l="l" t="t" r="r" b="b"/>
            <a:pathLst>
              <a:path w="2893060" h="2315210">
                <a:moveTo>
                  <a:pt x="1446276" y="0"/>
                </a:moveTo>
                <a:lnTo>
                  <a:pt x="0" y="2314955"/>
                </a:lnTo>
                <a:lnTo>
                  <a:pt x="2892552" y="2314955"/>
                </a:lnTo>
                <a:lnTo>
                  <a:pt x="1446276" y="0"/>
                </a:lnTo>
                <a:close/>
              </a:path>
            </a:pathLst>
          </a:custGeom>
          <a:solidFill>
            <a:srgbClr val="797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44139" y="2938272"/>
            <a:ext cx="4890770" cy="106680"/>
          </a:xfrm>
          <a:custGeom>
            <a:avLst/>
            <a:gdLst/>
            <a:ahLst/>
            <a:cxnLst/>
            <a:rect l="l" t="t" r="r" b="b"/>
            <a:pathLst>
              <a:path w="4890770" h="106680">
                <a:moveTo>
                  <a:pt x="0" y="106680"/>
                </a:moveTo>
                <a:lnTo>
                  <a:pt x="4890516" y="106680"/>
                </a:lnTo>
                <a:lnTo>
                  <a:pt x="4890516" y="0"/>
                </a:lnTo>
                <a:lnTo>
                  <a:pt x="0" y="0"/>
                </a:lnTo>
                <a:lnTo>
                  <a:pt x="0" y="1066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55135" y="1321308"/>
            <a:ext cx="2001520" cy="1607820"/>
          </a:xfrm>
          <a:custGeom>
            <a:avLst/>
            <a:gdLst/>
            <a:ahLst/>
            <a:cxnLst/>
            <a:rect l="l" t="t" r="r" b="b"/>
            <a:pathLst>
              <a:path w="2001520" h="1607820">
                <a:moveTo>
                  <a:pt x="1000505" y="0"/>
                </a:moveTo>
                <a:lnTo>
                  <a:pt x="0" y="1607819"/>
                </a:lnTo>
                <a:lnTo>
                  <a:pt x="2001012" y="1607819"/>
                </a:lnTo>
                <a:lnTo>
                  <a:pt x="1000505" y="0"/>
                </a:lnTo>
                <a:close/>
              </a:path>
            </a:pathLst>
          </a:custGeom>
          <a:solidFill>
            <a:srgbClr val="5252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02992" y="2220467"/>
            <a:ext cx="4890770" cy="106680"/>
          </a:xfrm>
          <a:custGeom>
            <a:avLst/>
            <a:gdLst/>
            <a:ahLst/>
            <a:cxnLst/>
            <a:rect l="l" t="t" r="r" b="b"/>
            <a:pathLst>
              <a:path w="4890770" h="106680">
                <a:moveTo>
                  <a:pt x="0" y="106680"/>
                </a:moveTo>
                <a:lnTo>
                  <a:pt x="4890515" y="106680"/>
                </a:lnTo>
                <a:lnTo>
                  <a:pt x="4890515" y="0"/>
                </a:lnTo>
                <a:lnTo>
                  <a:pt x="0" y="0"/>
                </a:lnTo>
                <a:lnTo>
                  <a:pt x="0" y="1066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89476" y="1321308"/>
            <a:ext cx="1156970" cy="890269"/>
          </a:xfrm>
          <a:custGeom>
            <a:avLst/>
            <a:gdLst/>
            <a:ahLst/>
            <a:cxnLst/>
            <a:rect l="l" t="t" r="r" b="b"/>
            <a:pathLst>
              <a:path w="1156970" h="890269">
                <a:moveTo>
                  <a:pt x="578358" y="0"/>
                </a:moveTo>
                <a:lnTo>
                  <a:pt x="0" y="890015"/>
                </a:lnTo>
                <a:lnTo>
                  <a:pt x="1156715" y="890015"/>
                </a:lnTo>
                <a:lnTo>
                  <a:pt x="578358" y="0"/>
                </a:lnTo>
                <a:close/>
              </a:path>
            </a:pathLst>
          </a:custGeom>
          <a:solidFill>
            <a:srgbClr val="3D61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03805" y="2425064"/>
            <a:ext cx="1776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Compact2</a:t>
            </a:r>
            <a:r>
              <a:rPr sz="1800" spc="-4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Profile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66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43050" y="3131947"/>
            <a:ext cx="1776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Compact3</a:t>
            </a:r>
            <a:r>
              <a:rPr sz="1800" spc="-4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Profile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14220" y="3859174"/>
            <a:ext cx="888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Full</a:t>
            </a:r>
            <a:r>
              <a:rPr sz="1800" spc="-8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545"/>
                </a:solidFill>
                <a:latin typeface="Arial"/>
                <a:cs typeface="Arial"/>
              </a:rPr>
              <a:t>JRE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01058" y="3889959"/>
            <a:ext cx="596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5</a:t>
            </a:r>
            <a:r>
              <a:rPr sz="1800" spc="-15" dirty="0">
                <a:solidFill>
                  <a:srgbClr val="424545"/>
                </a:solidFill>
                <a:latin typeface="Arial"/>
                <a:cs typeface="Arial"/>
              </a:rPr>
              <a:t>4</a:t>
            </a: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Mb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51984" y="3183127"/>
            <a:ext cx="596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3</a:t>
            </a:r>
            <a:r>
              <a:rPr sz="1800" spc="-15" dirty="0">
                <a:solidFill>
                  <a:srgbClr val="424545"/>
                </a:solidFill>
                <a:latin typeface="Arial"/>
                <a:cs typeface="Arial"/>
              </a:rPr>
              <a:t>0</a:t>
            </a:r>
            <a:r>
              <a:rPr sz="1800" spc="-5" dirty="0">
                <a:solidFill>
                  <a:srgbClr val="424545"/>
                </a:solidFill>
                <a:latin typeface="Arial"/>
                <a:cs typeface="Arial"/>
              </a:rPr>
              <a:t>Mb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65065" y="2486101"/>
            <a:ext cx="5969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32482" y="1602994"/>
            <a:ext cx="2681605" cy="537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5"/>
              </a:spcBef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Compact1</a:t>
            </a:r>
            <a:r>
              <a:rPr sz="2000" spc="-5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Profile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ts val="1895"/>
              </a:lnSpc>
            </a:pPr>
            <a:r>
              <a:rPr sz="1800" spc="-14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1Mb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33013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Java SE</a:t>
            </a:r>
            <a:r>
              <a:rPr spc="-35" dirty="0"/>
              <a:t> </a:t>
            </a:r>
            <a:r>
              <a:rPr spc="-10" dirty="0"/>
              <a:t>Embedded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67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425977"/>
            <a:ext cx="7160895" cy="33045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Optimised binary for embedded use from devices to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gateways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Latest Java innovations in the smallest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footprint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Use of compact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profiles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5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Approximate JRE size 20.4Mb </a:t>
            </a:r>
            <a:r>
              <a:rPr sz="1800" dirty="0">
                <a:latin typeface="Arial"/>
                <a:cs typeface="Arial"/>
              </a:rPr>
              <a:t>(ARM v7 VFS, </a:t>
            </a:r>
            <a:r>
              <a:rPr sz="1800" spc="-5" dirty="0">
                <a:latin typeface="Arial"/>
                <a:cs typeface="Arial"/>
              </a:rPr>
              <a:t>Hard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Float)</a:t>
            </a:r>
            <a:endParaRPr sz="1800">
              <a:latin typeface="Arial"/>
              <a:cs typeface="Arial"/>
            </a:endParaRPr>
          </a:p>
          <a:p>
            <a:pPr marL="927100" lvl="2" indent="-175260">
              <a:lnSpc>
                <a:spcPct val="100000"/>
              </a:lnSpc>
              <a:spcBef>
                <a:spcPts val="605"/>
              </a:spcBef>
              <a:buClr>
                <a:srgbClr val="5282A0"/>
              </a:buClr>
              <a:buSzPct val="83333"/>
              <a:buFont typeface="Wingdings"/>
              <a:buChar char=""/>
              <a:tabLst>
                <a:tab pos="927735" algn="l"/>
              </a:tabLst>
            </a:pPr>
            <a:r>
              <a:rPr sz="1800" spc="-5" dirty="0">
                <a:latin typeface="Arial"/>
                <a:cs typeface="Arial"/>
              </a:rPr>
              <a:t>Compact profile </a:t>
            </a:r>
            <a:r>
              <a:rPr sz="1800" dirty="0">
                <a:latin typeface="Arial"/>
                <a:cs typeface="Arial"/>
              </a:rPr>
              <a:t>1: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10.4Mb</a:t>
            </a:r>
            <a:endParaRPr sz="1800">
              <a:latin typeface="Arial"/>
              <a:cs typeface="Arial"/>
            </a:endParaRPr>
          </a:p>
          <a:p>
            <a:pPr marL="927100" lvl="2" indent="-17526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3333"/>
              <a:buFont typeface="Wingdings"/>
              <a:buChar char=""/>
              <a:tabLst>
                <a:tab pos="927735" algn="l"/>
              </a:tabLst>
            </a:pPr>
            <a:r>
              <a:rPr sz="1800" spc="-5" dirty="0">
                <a:latin typeface="Arial"/>
                <a:cs typeface="Arial"/>
              </a:rPr>
              <a:t>JavaFX: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10Mb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Production ready binary for popular platforms that run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Linux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5"/>
              </a:spcBef>
              <a:buSzPct val="83333"/>
              <a:buChar char="–"/>
              <a:tabLst>
                <a:tab pos="584835" algn="l"/>
              </a:tabLst>
            </a:pPr>
            <a:r>
              <a:rPr sz="1800" dirty="0">
                <a:latin typeface="Arial"/>
                <a:cs typeface="Arial"/>
              </a:rPr>
              <a:t>ARM v6/7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Hard floating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point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Raspberry Pi is one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the reference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platforms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00115" y="0"/>
            <a:ext cx="3643884" cy="47685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0143" y="1507998"/>
            <a:ext cx="4016375" cy="1219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spc="-5" dirty="0"/>
              <a:t>Java ME</a:t>
            </a:r>
            <a:r>
              <a:rPr spc="0" dirty="0"/>
              <a:t> </a:t>
            </a:r>
            <a:r>
              <a:rPr spc="-5" dirty="0"/>
              <a:t>8:</a:t>
            </a:r>
          </a:p>
          <a:p>
            <a:pPr marL="12700" marR="5080">
              <a:lnSpc>
                <a:spcPts val="3020"/>
              </a:lnSpc>
              <a:spcBef>
                <a:spcPts val="215"/>
              </a:spcBef>
            </a:pPr>
            <a:r>
              <a:rPr spc="-5" dirty="0"/>
              <a:t>Building </a:t>
            </a:r>
            <a:r>
              <a:rPr spc="-10" dirty="0"/>
              <a:t>The </a:t>
            </a:r>
            <a:r>
              <a:rPr spc="-5" dirty="0"/>
              <a:t>Internet of  </a:t>
            </a:r>
            <a:r>
              <a:rPr spc="-10" dirty="0"/>
              <a:t>Things</a:t>
            </a:r>
          </a:p>
        </p:txBody>
      </p:sp>
      <p:sp>
        <p:nvSpPr>
          <p:cNvPr id="4" name="object 4"/>
          <p:cNvSpPr/>
          <p:nvPr/>
        </p:nvSpPr>
        <p:spPr>
          <a:xfrm>
            <a:off x="5715000" y="0"/>
            <a:ext cx="3429000" cy="46314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68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2890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Java ME 8</a:t>
            </a:r>
            <a:r>
              <a:rPr spc="-50" dirty="0"/>
              <a:t> </a:t>
            </a:r>
            <a:r>
              <a:rPr spc="-5" dirty="0"/>
              <a:t>Focus</a:t>
            </a:r>
          </a:p>
        </p:txBody>
      </p:sp>
      <p:sp>
        <p:nvSpPr>
          <p:cNvPr id="6" name="object 6"/>
          <p:cNvSpPr/>
          <p:nvPr/>
        </p:nvSpPr>
        <p:spPr>
          <a:xfrm>
            <a:off x="1345691" y="541020"/>
            <a:ext cx="7328916" cy="41285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11224" y="708659"/>
            <a:ext cx="7198359" cy="3997960"/>
          </a:xfrm>
          <a:custGeom>
            <a:avLst/>
            <a:gdLst/>
            <a:ahLst/>
            <a:cxnLst/>
            <a:rect l="l" t="t" r="r" b="b"/>
            <a:pathLst>
              <a:path w="7198359" h="3997960">
                <a:moveTo>
                  <a:pt x="0" y="3263874"/>
                </a:moveTo>
                <a:lnTo>
                  <a:pt x="0" y="3997452"/>
                </a:lnTo>
                <a:lnTo>
                  <a:pt x="7197852" y="3997452"/>
                </a:lnTo>
                <a:lnTo>
                  <a:pt x="7197852" y="3264049"/>
                </a:lnTo>
                <a:lnTo>
                  <a:pt x="46213" y="3264049"/>
                </a:lnTo>
                <a:lnTo>
                  <a:pt x="0" y="3263874"/>
                </a:lnTo>
                <a:close/>
              </a:path>
              <a:path w="7198359" h="3997960">
                <a:moveTo>
                  <a:pt x="7197852" y="0"/>
                </a:moveTo>
                <a:lnTo>
                  <a:pt x="7166346" y="39691"/>
                </a:lnTo>
                <a:lnTo>
                  <a:pt x="7135571" y="79033"/>
                </a:lnTo>
                <a:lnTo>
                  <a:pt x="7105445" y="118051"/>
                </a:lnTo>
                <a:lnTo>
                  <a:pt x="7075890" y="156771"/>
                </a:lnTo>
                <a:lnTo>
                  <a:pt x="7046825" y="195218"/>
                </a:lnTo>
                <a:lnTo>
                  <a:pt x="7018171" y="233418"/>
                </a:lnTo>
                <a:lnTo>
                  <a:pt x="6878269" y="421586"/>
                </a:lnTo>
                <a:lnTo>
                  <a:pt x="6822391" y="496006"/>
                </a:lnTo>
                <a:lnTo>
                  <a:pt x="6794150" y="533136"/>
                </a:lnTo>
                <a:lnTo>
                  <a:pt x="6765602" y="570246"/>
                </a:lnTo>
                <a:lnTo>
                  <a:pt x="6736667" y="607361"/>
                </a:lnTo>
                <a:lnTo>
                  <a:pt x="6707265" y="644507"/>
                </a:lnTo>
                <a:lnTo>
                  <a:pt x="6677316" y="681710"/>
                </a:lnTo>
                <a:lnTo>
                  <a:pt x="6646740" y="718994"/>
                </a:lnTo>
                <a:lnTo>
                  <a:pt x="6615459" y="756385"/>
                </a:lnTo>
                <a:lnTo>
                  <a:pt x="6583391" y="793908"/>
                </a:lnTo>
                <a:lnTo>
                  <a:pt x="6550457" y="831589"/>
                </a:lnTo>
                <a:lnTo>
                  <a:pt x="6516578" y="869452"/>
                </a:lnTo>
                <a:lnTo>
                  <a:pt x="6481673" y="907524"/>
                </a:lnTo>
                <a:lnTo>
                  <a:pt x="6445663" y="945829"/>
                </a:lnTo>
                <a:lnTo>
                  <a:pt x="6408468" y="984393"/>
                </a:lnTo>
                <a:lnTo>
                  <a:pt x="6370008" y="1023240"/>
                </a:lnTo>
                <a:lnTo>
                  <a:pt x="6330203" y="1062398"/>
                </a:lnTo>
                <a:lnTo>
                  <a:pt x="6288974" y="1101890"/>
                </a:lnTo>
                <a:lnTo>
                  <a:pt x="6246241" y="1141742"/>
                </a:lnTo>
                <a:lnTo>
                  <a:pt x="6201924" y="1181980"/>
                </a:lnTo>
                <a:lnTo>
                  <a:pt x="6155944" y="1222628"/>
                </a:lnTo>
                <a:lnTo>
                  <a:pt x="6126904" y="1247774"/>
                </a:lnTo>
                <a:lnTo>
                  <a:pt x="6097443" y="1272920"/>
                </a:lnTo>
                <a:lnTo>
                  <a:pt x="6067552" y="1298064"/>
                </a:lnTo>
                <a:lnTo>
                  <a:pt x="6037221" y="1323208"/>
                </a:lnTo>
                <a:lnTo>
                  <a:pt x="6006441" y="1348349"/>
                </a:lnTo>
                <a:lnTo>
                  <a:pt x="5975205" y="1373488"/>
                </a:lnTo>
                <a:lnTo>
                  <a:pt x="5943503" y="1398625"/>
                </a:lnTo>
                <a:lnTo>
                  <a:pt x="5911326" y="1423758"/>
                </a:lnTo>
                <a:lnTo>
                  <a:pt x="5878666" y="1448888"/>
                </a:lnTo>
                <a:lnTo>
                  <a:pt x="5845513" y="1474014"/>
                </a:lnTo>
                <a:lnTo>
                  <a:pt x="5811859" y="1499135"/>
                </a:lnTo>
                <a:lnTo>
                  <a:pt x="5777694" y="1524251"/>
                </a:lnTo>
                <a:lnTo>
                  <a:pt x="5743011" y="1549362"/>
                </a:lnTo>
                <a:lnTo>
                  <a:pt x="5707800" y="1574467"/>
                </a:lnTo>
                <a:lnTo>
                  <a:pt x="5672052" y="1599565"/>
                </a:lnTo>
                <a:lnTo>
                  <a:pt x="5635759" y="1624657"/>
                </a:lnTo>
                <a:lnTo>
                  <a:pt x="5598911" y="1649742"/>
                </a:lnTo>
                <a:lnTo>
                  <a:pt x="5561500" y="1674819"/>
                </a:lnTo>
                <a:lnTo>
                  <a:pt x="5523517" y="1699888"/>
                </a:lnTo>
                <a:lnTo>
                  <a:pt x="5484953" y="1724949"/>
                </a:lnTo>
                <a:lnTo>
                  <a:pt x="5406048" y="1775042"/>
                </a:lnTo>
                <a:lnTo>
                  <a:pt x="5324712" y="1825096"/>
                </a:lnTo>
                <a:lnTo>
                  <a:pt x="5240877" y="1875107"/>
                </a:lnTo>
                <a:lnTo>
                  <a:pt x="5154470" y="1925071"/>
                </a:lnTo>
                <a:lnTo>
                  <a:pt x="5065421" y="1974984"/>
                </a:lnTo>
                <a:lnTo>
                  <a:pt x="4973659" y="2024844"/>
                </a:lnTo>
                <a:lnTo>
                  <a:pt x="4879114" y="2074646"/>
                </a:lnTo>
                <a:lnTo>
                  <a:pt x="4781715" y="2124387"/>
                </a:lnTo>
                <a:lnTo>
                  <a:pt x="4681391" y="2174063"/>
                </a:lnTo>
                <a:lnTo>
                  <a:pt x="4578071" y="2223671"/>
                </a:lnTo>
                <a:lnTo>
                  <a:pt x="4471685" y="2273206"/>
                </a:lnTo>
                <a:lnTo>
                  <a:pt x="4362161" y="2322666"/>
                </a:lnTo>
                <a:lnTo>
                  <a:pt x="4191839" y="2396707"/>
                </a:lnTo>
                <a:lnTo>
                  <a:pt x="4014060" y="2470558"/>
                </a:lnTo>
                <a:lnTo>
                  <a:pt x="3850052" y="2535779"/>
                </a:lnTo>
                <a:lnTo>
                  <a:pt x="3766138" y="2567685"/>
                </a:lnTo>
                <a:lnTo>
                  <a:pt x="3636787" y="2614770"/>
                </a:lnTo>
                <a:lnTo>
                  <a:pt x="3503527" y="2660856"/>
                </a:lnTo>
                <a:lnTo>
                  <a:pt x="3366654" y="2705863"/>
                </a:lnTo>
                <a:lnTo>
                  <a:pt x="3226469" y="2749714"/>
                </a:lnTo>
                <a:lnTo>
                  <a:pt x="3034918" y="2806246"/>
                </a:lnTo>
                <a:lnTo>
                  <a:pt x="2838717" y="2860395"/>
                </a:lnTo>
                <a:lnTo>
                  <a:pt x="2638572" y="2911975"/>
                </a:lnTo>
                <a:lnTo>
                  <a:pt x="2435193" y="2960799"/>
                </a:lnTo>
                <a:lnTo>
                  <a:pt x="2229287" y="3006681"/>
                </a:lnTo>
                <a:lnTo>
                  <a:pt x="2021561" y="3049435"/>
                </a:lnTo>
                <a:lnTo>
                  <a:pt x="1812725" y="3088873"/>
                </a:lnTo>
                <a:lnTo>
                  <a:pt x="1603485" y="3124810"/>
                </a:lnTo>
                <a:lnTo>
                  <a:pt x="1394550" y="3157058"/>
                </a:lnTo>
                <a:lnTo>
                  <a:pt x="1186627" y="3185433"/>
                </a:lnTo>
                <a:lnTo>
                  <a:pt x="980425" y="3209746"/>
                </a:lnTo>
                <a:lnTo>
                  <a:pt x="776651" y="3229812"/>
                </a:lnTo>
                <a:lnTo>
                  <a:pt x="625841" y="3241962"/>
                </a:lnTo>
                <a:lnTo>
                  <a:pt x="477093" y="3251540"/>
                </a:lnTo>
                <a:lnTo>
                  <a:pt x="330706" y="3258466"/>
                </a:lnTo>
                <a:lnTo>
                  <a:pt x="186980" y="3262662"/>
                </a:lnTo>
                <a:lnTo>
                  <a:pt x="46213" y="3264049"/>
                </a:lnTo>
                <a:lnTo>
                  <a:pt x="7197852" y="3264049"/>
                </a:lnTo>
                <a:lnTo>
                  <a:pt x="71978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45691" y="653795"/>
            <a:ext cx="7341108" cy="38450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11224" y="769619"/>
            <a:ext cx="7210044" cy="37139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87244" y="4092346"/>
            <a:ext cx="16935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303434"/>
                </a:solidFill>
                <a:latin typeface="Arial"/>
                <a:cs typeface="Arial"/>
              </a:rPr>
              <a:t>Java </a:t>
            </a:r>
            <a:r>
              <a:rPr sz="1400" b="1" spc="0" dirty="0">
                <a:solidFill>
                  <a:srgbClr val="303434"/>
                </a:solidFill>
                <a:latin typeface="Arial"/>
                <a:cs typeface="Arial"/>
              </a:rPr>
              <a:t>ME</a:t>
            </a:r>
            <a:r>
              <a:rPr sz="1400" b="1" spc="-75" dirty="0">
                <a:solidFill>
                  <a:srgbClr val="303434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303434"/>
                </a:solidFill>
                <a:latin typeface="Arial"/>
                <a:cs typeface="Arial"/>
              </a:rPr>
              <a:t>Embedded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31364" y="3977640"/>
            <a:ext cx="307848" cy="6156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40507" y="3389376"/>
            <a:ext cx="289560" cy="5974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22448" y="3412235"/>
            <a:ext cx="582168" cy="50139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45764" y="3843528"/>
            <a:ext cx="288036" cy="60045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01567" y="3255264"/>
            <a:ext cx="376427" cy="6888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54908" y="3270503"/>
            <a:ext cx="269748" cy="58216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34155" y="3691890"/>
            <a:ext cx="129539" cy="0"/>
          </a:xfrm>
          <a:custGeom>
            <a:avLst/>
            <a:gdLst/>
            <a:ahLst/>
            <a:cxnLst/>
            <a:rect l="l" t="t" r="r" b="b"/>
            <a:pathLst>
              <a:path w="129539">
                <a:moveTo>
                  <a:pt x="0" y="0"/>
                </a:moveTo>
                <a:lnTo>
                  <a:pt x="12953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637276" y="3119627"/>
            <a:ext cx="816863" cy="28956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644896" y="2956560"/>
            <a:ext cx="801624" cy="27584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72328" y="2958083"/>
            <a:ext cx="746760" cy="22098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35040" y="2164079"/>
            <a:ext cx="519684" cy="98907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00571" y="2202179"/>
            <a:ext cx="388620" cy="85801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178552" y="2398776"/>
            <a:ext cx="807720" cy="6705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88592" y="3607308"/>
            <a:ext cx="573024" cy="55016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54123" y="3660647"/>
            <a:ext cx="441960" cy="4191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540891" y="4080459"/>
            <a:ext cx="8750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303434"/>
                </a:solidFill>
                <a:latin typeface="Arial"/>
                <a:cs typeface="Arial"/>
              </a:rPr>
              <a:t>Java</a:t>
            </a:r>
            <a:r>
              <a:rPr sz="1400" b="1" spc="-65" dirty="0">
                <a:solidFill>
                  <a:srgbClr val="303434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303434"/>
                </a:solidFill>
                <a:latin typeface="Arial"/>
                <a:cs typeface="Arial"/>
              </a:rPr>
              <a:t>Card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358640" y="3372611"/>
            <a:ext cx="563879" cy="73456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366259" y="2791967"/>
            <a:ext cx="548639" cy="71932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405884" y="2805683"/>
            <a:ext cx="469391" cy="64008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151376" y="3674364"/>
            <a:ext cx="416051" cy="52120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60520" y="3180588"/>
            <a:ext cx="397763" cy="50292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460747" y="3456432"/>
            <a:ext cx="821436" cy="28803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68367" y="3294888"/>
            <a:ext cx="806196" cy="27279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07991" y="3322320"/>
            <a:ext cx="726948" cy="19354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696592" y="4532477"/>
            <a:ext cx="6032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SECURITY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54707" y="4532477"/>
            <a:ext cx="1105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SMALL</a:t>
            </a:r>
            <a:r>
              <a:rPr sz="900" b="1" spc="-40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EMBEDDED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46403" y="4532477"/>
            <a:ext cx="26104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1300" algn="l"/>
              </a:tabLst>
            </a:pPr>
            <a:r>
              <a:rPr sz="900" b="1" spc="-5" dirty="0">
                <a:latin typeface="Arial"/>
                <a:cs typeface="Arial"/>
              </a:rPr>
              <a:t>MEDIUM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EMBEDDED	LARGE</a:t>
            </a:r>
            <a:r>
              <a:rPr sz="900" b="1" spc="-35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EMBEDDED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418082" y="4478273"/>
            <a:ext cx="7191375" cy="0"/>
          </a:xfrm>
          <a:custGeom>
            <a:avLst/>
            <a:gdLst/>
            <a:ahLst/>
            <a:cxnLst/>
            <a:rect l="l" t="t" r="r" b="b"/>
            <a:pathLst>
              <a:path w="7191375">
                <a:moveTo>
                  <a:pt x="0" y="0"/>
                </a:moveTo>
                <a:lnTo>
                  <a:pt x="7191375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85368" y="3955491"/>
            <a:ext cx="7651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Arial"/>
                <a:cs typeface="Arial"/>
              </a:rPr>
              <a:t>5</a:t>
            </a:r>
            <a:r>
              <a:rPr sz="1200" spc="0" dirty="0">
                <a:solidFill>
                  <a:srgbClr val="252525"/>
                </a:solidFill>
                <a:latin typeface="Arial"/>
                <a:cs typeface="Arial"/>
              </a:rPr>
              <a:t>0</a:t>
            </a:r>
            <a:r>
              <a:rPr sz="1200" dirty="0">
                <a:solidFill>
                  <a:srgbClr val="252525"/>
                </a:solidFill>
                <a:latin typeface="Arial"/>
                <a:cs typeface="Arial"/>
              </a:rPr>
              <a:t>KB</a:t>
            </a:r>
            <a:r>
              <a:rPr sz="1200" spc="-5" dirty="0">
                <a:solidFill>
                  <a:srgbClr val="252525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252525"/>
                </a:solidFill>
                <a:latin typeface="Arial"/>
                <a:cs typeface="Arial"/>
              </a:rPr>
              <a:t>1MB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9194" y="3129152"/>
            <a:ext cx="10394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1M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1600" spc="-1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10MB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1704" y="2194051"/>
            <a:ext cx="957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252525"/>
                </a:solidFill>
                <a:latin typeface="Arial"/>
                <a:cs typeface="Arial"/>
              </a:rPr>
              <a:t>10MB-100MB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372361" y="1235202"/>
            <a:ext cx="76200" cy="3244850"/>
          </a:xfrm>
          <a:custGeom>
            <a:avLst/>
            <a:gdLst/>
            <a:ahLst/>
            <a:cxnLst/>
            <a:rect l="l" t="t" r="r" b="b"/>
            <a:pathLst>
              <a:path w="76200" h="3244850">
                <a:moveTo>
                  <a:pt x="48006" y="63500"/>
                </a:moveTo>
                <a:lnTo>
                  <a:pt x="28193" y="63500"/>
                </a:lnTo>
                <a:lnTo>
                  <a:pt x="28193" y="3244850"/>
                </a:lnTo>
                <a:lnTo>
                  <a:pt x="48006" y="3244850"/>
                </a:lnTo>
                <a:lnTo>
                  <a:pt x="48006" y="63500"/>
                </a:lnTo>
                <a:close/>
              </a:path>
              <a:path w="76200" h="3244850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244850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545584" y="3869232"/>
            <a:ext cx="227647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303434"/>
                </a:solidFill>
                <a:latin typeface="Arial"/>
                <a:cs typeface="Arial"/>
              </a:rPr>
              <a:t>Java </a:t>
            </a:r>
            <a:r>
              <a:rPr sz="1400" b="1" dirty="0">
                <a:solidFill>
                  <a:srgbClr val="303434"/>
                </a:solidFill>
                <a:latin typeface="Arial"/>
                <a:cs typeface="Arial"/>
              </a:rPr>
              <a:t>SE</a:t>
            </a:r>
            <a:r>
              <a:rPr sz="1400" b="1" spc="-25" dirty="0">
                <a:solidFill>
                  <a:srgbClr val="303434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303434"/>
                </a:solidFill>
                <a:latin typeface="Arial"/>
                <a:cs typeface="Arial"/>
              </a:rPr>
              <a:t>Embedded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00" spc="-5" dirty="0">
                <a:solidFill>
                  <a:srgbClr val="303434"/>
                </a:solidFill>
                <a:latin typeface="Arial"/>
                <a:cs typeface="Arial"/>
              </a:rPr>
              <a:t>Java </a:t>
            </a:r>
            <a:r>
              <a:rPr sz="1100" dirty="0">
                <a:solidFill>
                  <a:srgbClr val="303434"/>
                </a:solidFill>
                <a:latin typeface="Arial"/>
                <a:cs typeface="Arial"/>
              </a:rPr>
              <a:t>Embedded</a:t>
            </a:r>
            <a:r>
              <a:rPr sz="1100" spc="-25" dirty="0">
                <a:solidFill>
                  <a:srgbClr val="303434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303434"/>
                </a:solidFill>
                <a:latin typeface="Arial"/>
                <a:cs typeface="Arial"/>
              </a:rPr>
              <a:t>Suite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303434"/>
                </a:solidFill>
                <a:latin typeface="Arial"/>
                <a:cs typeface="Arial"/>
              </a:rPr>
              <a:t>Oracle </a:t>
            </a:r>
            <a:r>
              <a:rPr sz="1100" spc="-5" dirty="0">
                <a:solidFill>
                  <a:srgbClr val="303434"/>
                </a:solidFill>
                <a:latin typeface="Arial"/>
                <a:cs typeface="Arial"/>
              </a:rPr>
              <a:t>Event Processing</a:t>
            </a:r>
            <a:r>
              <a:rPr sz="1100" spc="-65" dirty="0">
                <a:solidFill>
                  <a:srgbClr val="30343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03434"/>
                </a:solidFill>
                <a:latin typeface="Arial"/>
                <a:cs typeface="Arial"/>
              </a:rPr>
              <a:t>Embedded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88442" y="1011428"/>
            <a:ext cx="1030605" cy="679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02222"/>
                </a:solidFill>
                <a:latin typeface="Arial"/>
                <a:cs typeface="Arial"/>
              </a:rPr>
              <a:t>Footprint</a:t>
            </a:r>
            <a:endParaRPr sz="1800">
              <a:latin typeface="Arial"/>
              <a:cs typeface="Arial"/>
            </a:endParaRPr>
          </a:p>
          <a:p>
            <a:pPr marL="73025" algn="ctr">
              <a:lnSpc>
                <a:spcPct val="100000"/>
              </a:lnSpc>
              <a:spcBef>
                <a:spcPts val="1550"/>
              </a:spcBef>
            </a:pPr>
            <a:r>
              <a:rPr sz="1200" spc="-5" dirty="0">
                <a:solidFill>
                  <a:srgbClr val="252525"/>
                </a:solidFill>
                <a:latin typeface="Arial"/>
                <a:cs typeface="Arial"/>
              </a:rPr>
              <a:t>100MB+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693407" y="1685544"/>
            <a:ext cx="1085088" cy="67360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743443" y="627887"/>
            <a:ext cx="816863" cy="141884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08976" y="693419"/>
            <a:ext cx="685800" cy="128777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016824" y="4099661"/>
            <a:ext cx="1428115" cy="596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ctr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303434"/>
                </a:solidFill>
                <a:latin typeface="Arial"/>
                <a:cs typeface="Arial"/>
              </a:rPr>
              <a:t>Java</a:t>
            </a:r>
            <a:r>
              <a:rPr sz="1400" b="1" spc="-20" dirty="0">
                <a:solidFill>
                  <a:srgbClr val="303434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03434"/>
                </a:solidFill>
                <a:latin typeface="Arial"/>
                <a:cs typeface="Arial"/>
              </a:rPr>
              <a:t>SE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932180" algn="l"/>
              </a:tabLst>
            </a:pPr>
            <a:r>
              <a:rPr sz="900" b="1" dirty="0">
                <a:latin typeface="Arial"/>
                <a:cs typeface="Arial"/>
              </a:rPr>
              <a:t>D</a:t>
            </a:r>
            <a:r>
              <a:rPr sz="900" b="1" spc="-5" dirty="0">
                <a:latin typeface="Arial"/>
                <a:cs typeface="Arial"/>
              </a:rPr>
              <a:t>E</a:t>
            </a:r>
            <a:r>
              <a:rPr sz="900" b="1" dirty="0">
                <a:latin typeface="Arial"/>
                <a:cs typeface="Arial"/>
              </a:rPr>
              <a:t>S</a:t>
            </a:r>
            <a:r>
              <a:rPr sz="900" b="1" spc="-10" dirty="0">
                <a:latin typeface="Arial"/>
                <a:cs typeface="Arial"/>
              </a:rPr>
              <a:t>K</a:t>
            </a:r>
            <a:r>
              <a:rPr sz="900" b="1" dirty="0">
                <a:latin typeface="Arial"/>
                <a:cs typeface="Arial"/>
              </a:rPr>
              <a:t>T</a:t>
            </a:r>
            <a:r>
              <a:rPr sz="900" b="1" spc="-10" dirty="0">
                <a:latin typeface="Arial"/>
                <a:cs typeface="Arial"/>
              </a:rPr>
              <a:t>O</a:t>
            </a:r>
            <a:r>
              <a:rPr sz="900" b="1" dirty="0">
                <a:latin typeface="Arial"/>
                <a:cs typeface="Arial"/>
              </a:rPr>
              <a:t>P	SE</a:t>
            </a:r>
            <a:r>
              <a:rPr sz="900" b="1" spc="-10" dirty="0">
                <a:latin typeface="Arial"/>
                <a:cs typeface="Arial"/>
              </a:rPr>
              <a:t>R</a:t>
            </a:r>
            <a:r>
              <a:rPr sz="900" b="1" dirty="0">
                <a:latin typeface="Arial"/>
                <a:cs typeface="Arial"/>
              </a:rPr>
              <a:t>V</a:t>
            </a:r>
            <a:r>
              <a:rPr sz="900" b="1" spc="-5" dirty="0">
                <a:latin typeface="Arial"/>
                <a:cs typeface="Arial"/>
              </a:rPr>
              <a:t>E</a:t>
            </a:r>
            <a:r>
              <a:rPr sz="900" b="1" dirty="0"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299894" y="3096938"/>
            <a:ext cx="1873250" cy="1010919"/>
          </a:xfrm>
          <a:custGeom>
            <a:avLst/>
            <a:gdLst/>
            <a:ahLst/>
            <a:cxnLst/>
            <a:rect l="l" t="t" r="r" b="b"/>
            <a:pathLst>
              <a:path w="1873250" h="1010920">
                <a:moveTo>
                  <a:pt x="6044" y="722586"/>
                </a:moveTo>
                <a:lnTo>
                  <a:pt x="1023" y="692141"/>
                </a:lnTo>
                <a:lnTo>
                  <a:pt x="0" y="661309"/>
                </a:lnTo>
                <a:lnTo>
                  <a:pt x="2865" y="630177"/>
                </a:lnTo>
                <a:lnTo>
                  <a:pt x="19829" y="567372"/>
                </a:lnTo>
                <a:lnTo>
                  <a:pt x="51046" y="504434"/>
                </a:lnTo>
                <a:lnTo>
                  <a:pt x="95647" y="442075"/>
                </a:lnTo>
                <a:lnTo>
                  <a:pt x="122695" y="411334"/>
                </a:lnTo>
                <a:lnTo>
                  <a:pt x="152763" y="381004"/>
                </a:lnTo>
                <a:lnTo>
                  <a:pt x="185743" y="351174"/>
                </a:lnTo>
                <a:lnTo>
                  <a:pt x="221526" y="321932"/>
                </a:lnTo>
                <a:lnTo>
                  <a:pt x="260003" y="293368"/>
                </a:lnTo>
                <a:lnTo>
                  <a:pt x="301066" y="265569"/>
                </a:lnTo>
                <a:lnTo>
                  <a:pt x="344606" y="238625"/>
                </a:lnTo>
                <a:lnTo>
                  <a:pt x="390515" y="212624"/>
                </a:lnTo>
                <a:lnTo>
                  <a:pt x="438684" y="187655"/>
                </a:lnTo>
                <a:lnTo>
                  <a:pt x="489004" y="163808"/>
                </a:lnTo>
                <a:lnTo>
                  <a:pt x="541366" y="141170"/>
                </a:lnTo>
                <a:lnTo>
                  <a:pt x="595663" y="119830"/>
                </a:lnTo>
                <a:lnTo>
                  <a:pt x="651786" y="99878"/>
                </a:lnTo>
                <a:lnTo>
                  <a:pt x="709625" y="81402"/>
                </a:lnTo>
                <a:lnTo>
                  <a:pt x="769073" y="64490"/>
                </a:lnTo>
                <a:lnTo>
                  <a:pt x="830020" y="49232"/>
                </a:lnTo>
                <a:lnTo>
                  <a:pt x="891435" y="35914"/>
                </a:lnTo>
                <a:lnTo>
                  <a:pt x="952237" y="24744"/>
                </a:lnTo>
                <a:lnTo>
                  <a:pt x="1012289" y="15689"/>
                </a:lnTo>
                <a:lnTo>
                  <a:pt x="1071454" y="8719"/>
                </a:lnTo>
                <a:lnTo>
                  <a:pt x="1129596" y="3801"/>
                </a:lnTo>
                <a:lnTo>
                  <a:pt x="1186578" y="905"/>
                </a:lnTo>
                <a:lnTo>
                  <a:pt x="1242263" y="0"/>
                </a:lnTo>
                <a:lnTo>
                  <a:pt x="1296515" y="1052"/>
                </a:lnTo>
                <a:lnTo>
                  <a:pt x="1349197" y="4032"/>
                </a:lnTo>
                <a:lnTo>
                  <a:pt x="1400173" y="8907"/>
                </a:lnTo>
                <a:lnTo>
                  <a:pt x="1449305" y="15646"/>
                </a:lnTo>
                <a:lnTo>
                  <a:pt x="1496458" y="24218"/>
                </a:lnTo>
                <a:lnTo>
                  <a:pt x="1541494" y="34592"/>
                </a:lnTo>
                <a:lnTo>
                  <a:pt x="1584277" y="46735"/>
                </a:lnTo>
                <a:lnTo>
                  <a:pt x="1624670" y="60616"/>
                </a:lnTo>
                <a:lnTo>
                  <a:pt x="1662537" y="76204"/>
                </a:lnTo>
                <a:lnTo>
                  <a:pt x="1697741" y="93468"/>
                </a:lnTo>
                <a:lnTo>
                  <a:pt x="1759612" y="132896"/>
                </a:lnTo>
                <a:lnTo>
                  <a:pt x="1809192" y="178648"/>
                </a:lnTo>
                <a:lnTo>
                  <a:pt x="1845386" y="230473"/>
                </a:lnTo>
                <a:lnTo>
                  <a:pt x="1867102" y="288119"/>
                </a:lnTo>
                <a:lnTo>
                  <a:pt x="1873146" y="349423"/>
                </a:lnTo>
                <a:lnTo>
                  <a:pt x="1870281" y="380567"/>
                </a:lnTo>
                <a:lnTo>
                  <a:pt x="1853316" y="443392"/>
                </a:lnTo>
                <a:lnTo>
                  <a:pt x="1822097" y="506345"/>
                </a:lnTo>
                <a:lnTo>
                  <a:pt x="1777493" y="568715"/>
                </a:lnTo>
                <a:lnTo>
                  <a:pt x="1750443" y="599459"/>
                </a:lnTo>
                <a:lnTo>
                  <a:pt x="1720372" y="629792"/>
                </a:lnTo>
                <a:lnTo>
                  <a:pt x="1687389" y="659625"/>
                </a:lnTo>
                <a:lnTo>
                  <a:pt x="1651602" y="688868"/>
                </a:lnTo>
                <a:lnTo>
                  <a:pt x="1613121" y="717434"/>
                </a:lnTo>
                <a:lnTo>
                  <a:pt x="1572053" y="745233"/>
                </a:lnTo>
                <a:lnTo>
                  <a:pt x="1528507" y="772177"/>
                </a:lnTo>
                <a:lnTo>
                  <a:pt x="1482591" y="798177"/>
                </a:lnTo>
                <a:lnTo>
                  <a:pt x="1434415" y="823144"/>
                </a:lnTo>
                <a:lnTo>
                  <a:pt x="1384087" y="846989"/>
                </a:lnTo>
                <a:lnTo>
                  <a:pt x="1331715" y="869625"/>
                </a:lnTo>
                <a:lnTo>
                  <a:pt x="1277408" y="890962"/>
                </a:lnTo>
                <a:lnTo>
                  <a:pt x="1221274" y="910912"/>
                </a:lnTo>
                <a:lnTo>
                  <a:pt x="1163422" y="929385"/>
                </a:lnTo>
                <a:lnTo>
                  <a:pt x="1103961" y="946294"/>
                </a:lnTo>
                <a:lnTo>
                  <a:pt x="1042999" y="961549"/>
                </a:lnTo>
                <a:lnTo>
                  <a:pt x="981599" y="974864"/>
                </a:lnTo>
                <a:lnTo>
                  <a:pt x="920810" y="986031"/>
                </a:lnTo>
                <a:lnTo>
                  <a:pt x="860771" y="995082"/>
                </a:lnTo>
                <a:lnTo>
                  <a:pt x="801617" y="1002049"/>
                </a:lnTo>
                <a:lnTo>
                  <a:pt x="743485" y="1006963"/>
                </a:lnTo>
                <a:lnTo>
                  <a:pt x="686513" y="1009856"/>
                </a:lnTo>
                <a:lnTo>
                  <a:pt x="630836" y="1010758"/>
                </a:lnTo>
                <a:lnTo>
                  <a:pt x="576591" y="1009702"/>
                </a:lnTo>
                <a:lnTo>
                  <a:pt x="523916" y="1006719"/>
                </a:lnTo>
                <a:lnTo>
                  <a:pt x="472946" y="1001840"/>
                </a:lnTo>
                <a:lnTo>
                  <a:pt x="423818" y="995097"/>
                </a:lnTo>
                <a:lnTo>
                  <a:pt x="376670" y="986522"/>
                </a:lnTo>
                <a:lnTo>
                  <a:pt x="331638" y="976145"/>
                </a:lnTo>
                <a:lnTo>
                  <a:pt x="288858" y="963998"/>
                </a:lnTo>
                <a:lnTo>
                  <a:pt x="248468" y="950114"/>
                </a:lnTo>
                <a:lnTo>
                  <a:pt x="210603" y="934522"/>
                </a:lnTo>
                <a:lnTo>
                  <a:pt x="175401" y="917255"/>
                </a:lnTo>
                <a:lnTo>
                  <a:pt x="113532" y="877822"/>
                </a:lnTo>
                <a:lnTo>
                  <a:pt x="63954" y="832064"/>
                </a:lnTo>
                <a:lnTo>
                  <a:pt x="27760" y="780235"/>
                </a:lnTo>
                <a:lnTo>
                  <a:pt x="6044" y="72258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2189733" y="1772158"/>
            <a:ext cx="225615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ARM Cortex</a:t>
            </a:r>
            <a:r>
              <a:rPr sz="2000" spc="-10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M3/M4</a:t>
            </a:r>
            <a:endParaRPr sz="200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ARM</a:t>
            </a:r>
            <a:r>
              <a:rPr sz="2000" spc="-2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Cortex-A</a:t>
            </a:r>
            <a:endParaRPr sz="20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973323" y="2427732"/>
            <a:ext cx="400812" cy="89611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100070" y="2450973"/>
            <a:ext cx="231775" cy="695960"/>
          </a:xfrm>
          <a:custGeom>
            <a:avLst/>
            <a:gdLst/>
            <a:ahLst/>
            <a:cxnLst/>
            <a:rect l="l" t="t" r="r" b="b"/>
            <a:pathLst>
              <a:path w="231775" h="695960">
                <a:moveTo>
                  <a:pt x="17906" y="569468"/>
                </a:moveTo>
                <a:lnTo>
                  <a:pt x="10922" y="571245"/>
                </a:lnTo>
                <a:lnTo>
                  <a:pt x="4063" y="573151"/>
                </a:lnTo>
                <a:lnTo>
                  <a:pt x="0" y="580263"/>
                </a:lnTo>
                <a:lnTo>
                  <a:pt x="1778" y="587120"/>
                </a:lnTo>
                <a:lnTo>
                  <a:pt x="30987" y="695451"/>
                </a:lnTo>
                <a:lnTo>
                  <a:pt x="52668" y="674115"/>
                </a:lnTo>
                <a:lnTo>
                  <a:pt x="50165" y="674115"/>
                </a:lnTo>
                <a:lnTo>
                  <a:pt x="25146" y="667257"/>
                </a:lnTo>
                <a:lnTo>
                  <a:pt x="37707" y="621008"/>
                </a:lnTo>
                <a:lnTo>
                  <a:pt x="26764" y="580263"/>
                </a:lnTo>
                <a:lnTo>
                  <a:pt x="25018" y="573532"/>
                </a:lnTo>
                <a:lnTo>
                  <a:pt x="17906" y="569468"/>
                </a:lnTo>
                <a:close/>
              </a:path>
              <a:path w="231775" h="695960">
                <a:moveTo>
                  <a:pt x="37707" y="621008"/>
                </a:moveTo>
                <a:lnTo>
                  <a:pt x="25146" y="667257"/>
                </a:lnTo>
                <a:lnTo>
                  <a:pt x="50165" y="674115"/>
                </a:lnTo>
                <a:lnTo>
                  <a:pt x="51993" y="667384"/>
                </a:lnTo>
                <a:lnTo>
                  <a:pt x="50165" y="667384"/>
                </a:lnTo>
                <a:lnTo>
                  <a:pt x="28575" y="661415"/>
                </a:lnTo>
                <a:lnTo>
                  <a:pt x="44382" y="645858"/>
                </a:lnTo>
                <a:lnTo>
                  <a:pt x="37707" y="621008"/>
                </a:lnTo>
                <a:close/>
              </a:path>
              <a:path w="231775" h="695960">
                <a:moveTo>
                  <a:pt x="106044" y="593344"/>
                </a:moveTo>
                <a:lnTo>
                  <a:pt x="97790" y="593344"/>
                </a:lnTo>
                <a:lnTo>
                  <a:pt x="62749" y="627783"/>
                </a:lnTo>
                <a:lnTo>
                  <a:pt x="50165" y="674115"/>
                </a:lnTo>
                <a:lnTo>
                  <a:pt x="52668" y="674115"/>
                </a:lnTo>
                <a:lnTo>
                  <a:pt x="116078" y="611758"/>
                </a:lnTo>
                <a:lnTo>
                  <a:pt x="116078" y="603631"/>
                </a:lnTo>
                <a:lnTo>
                  <a:pt x="111125" y="598424"/>
                </a:lnTo>
                <a:lnTo>
                  <a:pt x="106044" y="593344"/>
                </a:lnTo>
                <a:close/>
              </a:path>
              <a:path w="231775" h="695960">
                <a:moveTo>
                  <a:pt x="44382" y="645858"/>
                </a:moveTo>
                <a:lnTo>
                  <a:pt x="28575" y="661415"/>
                </a:lnTo>
                <a:lnTo>
                  <a:pt x="50165" y="667384"/>
                </a:lnTo>
                <a:lnTo>
                  <a:pt x="44382" y="645858"/>
                </a:lnTo>
                <a:close/>
              </a:path>
              <a:path w="231775" h="695960">
                <a:moveTo>
                  <a:pt x="62749" y="627783"/>
                </a:moveTo>
                <a:lnTo>
                  <a:pt x="44382" y="645858"/>
                </a:lnTo>
                <a:lnTo>
                  <a:pt x="50165" y="667384"/>
                </a:lnTo>
                <a:lnTo>
                  <a:pt x="51993" y="667384"/>
                </a:lnTo>
                <a:lnTo>
                  <a:pt x="62749" y="627783"/>
                </a:lnTo>
                <a:close/>
              </a:path>
              <a:path w="231775" h="695960">
                <a:moveTo>
                  <a:pt x="206375" y="0"/>
                </a:moveTo>
                <a:lnTo>
                  <a:pt x="37707" y="621008"/>
                </a:lnTo>
                <a:lnTo>
                  <a:pt x="44382" y="645858"/>
                </a:lnTo>
                <a:lnTo>
                  <a:pt x="62749" y="627783"/>
                </a:lnTo>
                <a:lnTo>
                  <a:pt x="231394" y="6857"/>
                </a:lnTo>
                <a:lnTo>
                  <a:pt x="20637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69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4966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Java ME 8 Platform Overview</a:t>
            </a:r>
          </a:p>
        </p:txBody>
      </p:sp>
      <p:sp>
        <p:nvSpPr>
          <p:cNvPr id="6" name="object 6"/>
          <p:cNvSpPr/>
          <p:nvPr/>
        </p:nvSpPr>
        <p:spPr>
          <a:xfrm>
            <a:off x="3685032" y="1292352"/>
            <a:ext cx="1252727" cy="9280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7680" y="4014215"/>
            <a:ext cx="8279892" cy="7589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4068" y="4070603"/>
            <a:ext cx="8148955" cy="628015"/>
          </a:xfrm>
          <a:custGeom>
            <a:avLst/>
            <a:gdLst/>
            <a:ahLst/>
            <a:cxnLst/>
            <a:rect l="l" t="t" r="r" b="b"/>
            <a:pathLst>
              <a:path w="8148955" h="628014">
                <a:moveTo>
                  <a:pt x="8036052" y="0"/>
                </a:moveTo>
                <a:lnTo>
                  <a:pt x="112826" y="0"/>
                </a:lnTo>
                <a:lnTo>
                  <a:pt x="68906" y="8865"/>
                </a:lnTo>
                <a:lnTo>
                  <a:pt x="33043" y="33043"/>
                </a:lnTo>
                <a:lnTo>
                  <a:pt x="8865" y="68906"/>
                </a:lnTo>
                <a:lnTo>
                  <a:pt x="0" y="112826"/>
                </a:lnTo>
                <a:lnTo>
                  <a:pt x="0" y="515061"/>
                </a:lnTo>
                <a:lnTo>
                  <a:pt x="8865" y="558981"/>
                </a:lnTo>
                <a:lnTo>
                  <a:pt x="33043" y="594844"/>
                </a:lnTo>
                <a:lnTo>
                  <a:pt x="68906" y="619022"/>
                </a:lnTo>
                <a:lnTo>
                  <a:pt x="112826" y="627888"/>
                </a:lnTo>
                <a:lnTo>
                  <a:pt x="8036052" y="627888"/>
                </a:lnTo>
                <a:lnTo>
                  <a:pt x="8079926" y="619022"/>
                </a:lnTo>
                <a:lnTo>
                  <a:pt x="8115776" y="594844"/>
                </a:lnTo>
                <a:lnTo>
                  <a:pt x="8139957" y="558981"/>
                </a:lnTo>
                <a:lnTo>
                  <a:pt x="8148828" y="515061"/>
                </a:lnTo>
                <a:lnTo>
                  <a:pt x="8148828" y="112826"/>
                </a:lnTo>
                <a:lnTo>
                  <a:pt x="8139957" y="68906"/>
                </a:lnTo>
                <a:lnTo>
                  <a:pt x="8115776" y="33043"/>
                </a:lnTo>
                <a:lnTo>
                  <a:pt x="8079926" y="8865"/>
                </a:lnTo>
                <a:lnTo>
                  <a:pt x="8036052" y="0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7680" y="2065020"/>
            <a:ext cx="8255508" cy="11658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4068" y="2121407"/>
            <a:ext cx="8124825" cy="1035050"/>
          </a:xfrm>
          <a:custGeom>
            <a:avLst/>
            <a:gdLst/>
            <a:ahLst/>
            <a:cxnLst/>
            <a:rect l="l" t="t" r="r" b="b"/>
            <a:pathLst>
              <a:path w="8124825" h="1035050">
                <a:moveTo>
                  <a:pt x="8046084" y="0"/>
                </a:moveTo>
                <a:lnTo>
                  <a:pt x="78371" y="0"/>
                </a:lnTo>
                <a:lnTo>
                  <a:pt x="47866" y="6153"/>
                </a:lnTo>
                <a:lnTo>
                  <a:pt x="22955" y="22939"/>
                </a:lnTo>
                <a:lnTo>
                  <a:pt x="6159" y="47845"/>
                </a:lnTo>
                <a:lnTo>
                  <a:pt x="0" y="78359"/>
                </a:lnTo>
                <a:lnTo>
                  <a:pt x="0" y="956437"/>
                </a:lnTo>
                <a:lnTo>
                  <a:pt x="6159" y="986950"/>
                </a:lnTo>
                <a:lnTo>
                  <a:pt x="22955" y="1011856"/>
                </a:lnTo>
                <a:lnTo>
                  <a:pt x="47866" y="1028642"/>
                </a:lnTo>
                <a:lnTo>
                  <a:pt x="78371" y="1034796"/>
                </a:lnTo>
                <a:lnTo>
                  <a:pt x="8046084" y="1034796"/>
                </a:lnTo>
                <a:lnTo>
                  <a:pt x="8076598" y="1028642"/>
                </a:lnTo>
                <a:lnTo>
                  <a:pt x="8101504" y="1011856"/>
                </a:lnTo>
                <a:lnTo>
                  <a:pt x="8118290" y="986950"/>
                </a:lnTo>
                <a:lnTo>
                  <a:pt x="8124443" y="956437"/>
                </a:lnTo>
                <a:lnTo>
                  <a:pt x="8124443" y="78359"/>
                </a:lnTo>
                <a:lnTo>
                  <a:pt x="8118290" y="47845"/>
                </a:lnTo>
                <a:lnTo>
                  <a:pt x="8101504" y="22939"/>
                </a:lnTo>
                <a:lnTo>
                  <a:pt x="8076598" y="6153"/>
                </a:lnTo>
                <a:lnTo>
                  <a:pt x="8046084" y="0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2836" y="4181855"/>
            <a:ext cx="1010919" cy="363220"/>
          </a:xfrm>
          <a:custGeom>
            <a:avLst/>
            <a:gdLst/>
            <a:ahLst/>
            <a:cxnLst/>
            <a:rect l="l" t="t" r="r" b="b"/>
            <a:pathLst>
              <a:path w="1010919" h="363220">
                <a:moveTo>
                  <a:pt x="0" y="362712"/>
                </a:moveTo>
                <a:lnTo>
                  <a:pt x="1010412" y="362712"/>
                </a:lnTo>
                <a:lnTo>
                  <a:pt x="1010412" y="0"/>
                </a:lnTo>
                <a:lnTo>
                  <a:pt x="0" y="0"/>
                </a:lnTo>
                <a:lnTo>
                  <a:pt x="0" y="362712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7075" y="4208779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Java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VM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2503" y="2244039"/>
            <a:ext cx="97663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Additional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APIs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(Exam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les)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54123" y="4197096"/>
            <a:ext cx="6908292" cy="43586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90927" y="4178808"/>
            <a:ext cx="6233160" cy="5044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10511" y="4253484"/>
            <a:ext cx="6777228" cy="3048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242566" y="4270959"/>
            <a:ext cx="58680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252525"/>
                </a:solidFill>
                <a:latin typeface="Arial"/>
                <a:cs typeface="Arial"/>
              </a:rPr>
              <a:t>Java </a:t>
            </a:r>
            <a:r>
              <a:rPr sz="1400" b="1" spc="0" dirty="0">
                <a:solidFill>
                  <a:srgbClr val="252525"/>
                </a:solidFill>
                <a:latin typeface="Arial"/>
                <a:cs typeface="Arial"/>
              </a:rPr>
              <a:t>ME </a:t>
            </a:r>
            <a:r>
              <a:rPr sz="1400" b="1" spc="-5" dirty="0">
                <a:solidFill>
                  <a:srgbClr val="252525"/>
                </a:solidFill>
                <a:latin typeface="Arial"/>
                <a:cs typeface="Arial"/>
              </a:rPr>
              <a:t>Connected </a:t>
            </a: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Limited </a:t>
            </a:r>
            <a:r>
              <a:rPr sz="1400" b="1" spc="-5" dirty="0">
                <a:solidFill>
                  <a:srgbClr val="252525"/>
                </a:solidFill>
                <a:latin typeface="Arial"/>
                <a:cs typeface="Arial"/>
              </a:rPr>
              <a:t>Device Configuration (CLDC) </a:t>
            </a: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8 </a:t>
            </a:r>
            <a:r>
              <a:rPr sz="1400" dirty="0">
                <a:solidFill>
                  <a:srgbClr val="252525"/>
                </a:solidFill>
                <a:latin typeface="Arial"/>
                <a:cs typeface="Arial"/>
              </a:rPr>
              <a:t>(JSR</a:t>
            </a:r>
            <a:r>
              <a:rPr sz="1400" spc="-15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52525"/>
                </a:solidFill>
                <a:latin typeface="Arial"/>
                <a:cs typeface="Arial"/>
              </a:rPr>
              <a:t>360)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67371" y="2101595"/>
            <a:ext cx="1443227" cy="59740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232904" y="2104644"/>
            <a:ext cx="1307592" cy="63398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228331" y="2162555"/>
            <a:ext cx="1303020" cy="4572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228331" y="2162555"/>
            <a:ext cx="1303020" cy="457200"/>
          </a:xfrm>
          <a:custGeom>
            <a:avLst/>
            <a:gdLst/>
            <a:ahLst/>
            <a:cxnLst/>
            <a:rect l="l" t="t" r="r" b="b"/>
            <a:pathLst>
              <a:path w="1303020" h="457200">
                <a:moveTo>
                  <a:pt x="0" y="48894"/>
                </a:moveTo>
                <a:lnTo>
                  <a:pt x="3835" y="29843"/>
                </a:lnTo>
                <a:lnTo>
                  <a:pt x="14303" y="14303"/>
                </a:lnTo>
                <a:lnTo>
                  <a:pt x="29843" y="3835"/>
                </a:lnTo>
                <a:lnTo>
                  <a:pt x="48895" y="0"/>
                </a:lnTo>
                <a:lnTo>
                  <a:pt x="1254125" y="0"/>
                </a:lnTo>
                <a:lnTo>
                  <a:pt x="1273176" y="3835"/>
                </a:lnTo>
                <a:lnTo>
                  <a:pt x="1288716" y="14303"/>
                </a:lnTo>
                <a:lnTo>
                  <a:pt x="1299184" y="29843"/>
                </a:lnTo>
                <a:lnTo>
                  <a:pt x="1303020" y="48894"/>
                </a:lnTo>
                <a:lnTo>
                  <a:pt x="1303020" y="408305"/>
                </a:lnTo>
                <a:lnTo>
                  <a:pt x="1299184" y="427356"/>
                </a:lnTo>
                <a:lnTo>
                  <a:pt x="1288716" y="442896"/>
                </a:lnTo>
                <a:lnTo>
                  <a:pt x="1273176" y="453364"/>
                </a:lnTo>
                <a:lnTo>
                  <a:pt x="1254125" y="457200"/>
                </a:lnTo>
                <a:lnTo>
                  <a:pt x="48895" y="457200"/>
                </a:lnTo>
                <a:lnTo>
                  <a:pt x="29843" y="453364"/>
                </a:lnTo>
                <a:lnTo>
                  <a:pt x="14303" y="442896"/>
                </a:lnTo>
                <a:lnTo>
                  <a:pt x="3835" y="427356"/>
                </a:lnTo>
                <a:lnTo>
                  <a:pt x="0" y="408305"/>
                </a:lnTo>
                <a:lnTo>
                  <a:pt x="0" y="4889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369809" y="2191892"/>
            <a:ext cx="1017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6364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Additional  Optional</a:t>
            </a:r>
            <a:r>
              <a:rPr sz="1200" b="1" spc="-6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252525"/>
                </a:solidFill>
                <a:latin typeface="Arial"/>
                <a:cs typeface="Arial"/>
              </a:rPr>
              <a:t>APIs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095500" y="1434083"/>
            <a:ext cx="640080" cy="63703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630668" y="1969007"/>
            <a:ext cx="359664" cy="53797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39811" y="1458467"/>
            <a:ext cx="341375" cy="51968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73468" y="2609088"/>
            <a:ext cx="1447800" cy="60045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133843" y="2613660"/>
            <a:ext cx="1524000" cy="63398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235952" y="2671572"/>
            <a:ext cx="1304544" cy="45720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35952" y="2671572"/>
            <a:ext cx="1304925" cy="457200"/>
          </a:xfrm>
          <a:custGeom>
            <a:avLst/>
            <a:gdLst/>
            <a:ahLst/>
            <a:cxnLst/>
            <a:rect l="l" t="t" r="r" b="b"/>
            <a:pathLst>
              <a:path w="1304925" h="457200">
                <a:moveTo>
                  <a:pt x="0" y="48894"/>
                </a:moveTo>
                <a:lnTo>
                  <a:pt x="3835" y="29843"/>
                </a:lnTo>
                <a:lnTo>
                  <a:pt x="14303" y="14303"/>
                </a:lnTo>
                <a:lnTo>
                  <a:pt x="29843" y="3835"/>
                </a:lnTo>
                <a:lnTo>
                  <a:pt x="48895" y="0"/>
                </a:lnTo>
                <a:lnTo>
                  <a:pt x="1255649" y="0"/>
                </a:lnTo>
                <a:lnTo>
                  <a:pt x="1274700" y="3835"/>
                </a:lnTo>
                <a:lnTo>
                  <a:pt x="1290240" y="14303"/>
                </a:lnTo>
                <a:lnTo>
                  <a:pt x="1300708" y="29843"/>
                </a:lnTo>
                <a:lnTo>
                  <a:pt x="1304544" y="48894"/>
                </a:lnTo>
                <a:lnTo>
                  <a:pt x="1304544" y="408304"/>
                </a:lnTo>
                <a:lnTo>
                  <a:pt x="1300708" y="427356"/>
                </a:lnTo>
                <a:lnTo>
                  <a:pt x="1290240" y="442896"/>
                </a:lnTo>
                <a:lnTo>
                  <a:pt x="1274700" y="453364"/>
                </a:lnTo>
                <a:lnTo>
                  <a:pt x="1255649" y="457200"/>
                </a:lnTo>
                <a:lnTo>
                  <a:pt x="48895" y="457200"/>
                </a:lnTo>
                <a:lnTo>
                  <a:pt x="29843" y="453364"/>
                </a:lnTo>
                <a:lnTo>
                  <a:pt x="14303" y="442896"/>
                </a:lnTo>
                <a:lnTo>
                  <a:pt x="3835" y="427356"/>
                </a:lnTo>
                <a:lnTo>
                  <a:pt x="0" y="408304"/>
                </a:lnTo>
                <a:lnTo>
                  <a:pt x="0" y="48894"/>
                </a:lnTo>
                <a:close/>
              </a:path>
            </a:pathLst>
          </a:custGeom>
          <a:ln w="12192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270495" y="2701544"/>
            <a:ext cx="1194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9580" marR="5080" indent="-43751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52525"/>
                </a:solidFill>
                <a:latin typeface="Arial"/>
                <a:cs typeface="Arial"/>
              </a:rPr>
              <a:t>Vertical</a:t>
            </a:r>
            <a:r>
              <a:rPr sz="1200" b="1" spc="-7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Specific  </a:t>
            </a:r>
            <a:r>
              <a:rPr sz="1200" b="1" spc="-15" dirty="0">
                <a:solidFill>
                  <a:srgbClr val="252525"/>
                </a:solidFill>
                <a:latin typeface="Arial"/>
                <a:cs typeface="Arial"/>
              </a:rPr>
              <a:t>APIs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693164" y="2613660"/>
            <a:ext cx="1443227" cy="59740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40051" y="2708148"/>
            <a:ext cx="949451" cy="4511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54123" y="2674620"/>
            <a:ext cx="1303020" cy="4572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54123" y="2674620"/>
            <a:ext cx="1303020" cy="457200"/>
          </a:xfrm>
          <a:custGeom>
            <a:avLst/>
            <a:gdLst/>
            <a:ahLst/>
            <a:cxnLst/>
            <a:rect l="l" t="t" r="r" b="b"/>
            <a:pathLst>
              <a:path w="1303020" h="457200">
                <a:moveTo>
                  <a:pt x="0" y="48894"/>
                </a:moveTo>
                <a:lnTo>
                  <a:pt x="3835" y="29843"/>
                </a:lnTo>
                <a:lnTo>
                  <a:pt x="14303" y="14303"/>
                </a:lnTo>
                <a:lnTo>
                  <a:pt x="29843" y="3835"/>
                </a:lnTo>
                <a:lnTo>
                  <a:pt x="48894" y="0"/>
                </a:lnTo>
                <a:lnTo>
                  <a:pt x="1254125" y="0"/>
                </a:lnTo>
                <a:lnTo>
                  <a:pt x="1273176" y="3835"/>
                </a:lnTo>
                <a:lnTo>
                  <a:pt x="1288716" y="14303"/>
                </a:lnTo>
                <a:lnTo>
                  <a:pt x="1299184" y="29843"/>
                </a:lnTo>
                <a:lnTo>
                  <a:pt x="1303020" y="48894"/>
                </a:lnTo>
                <a:lnTo>
                  <a:pt x="1303020" y="408305"/>
                </a:lnTo>
                <a:lnTo>
                  <a:pt x="1299184" y="427356"/>
                </a:lnTo>
                <a:lnTo>
                  <a:pt x="1288716" y="442896"/>
                </a:lnTo>
                <a:lnTo>
                  <a:pt x="1273176" y="453364"/>
                </a:lnTo>
                <a:lnTo>
                  <a:pt x="1254125" y="457200"/>
                </a:lnTo>
                <a:lnTo>
                  <a:pt x="48894" y="457200"/>
                </a:lnTo>
                <a:lnTo>
                  <a:pt x="29843" y="453364"/>
                </a:lnTo>
                <a:lnTo>
                  <a:pt x="14303" y="442896"/>
                </a:lnTo>
                <a:lnTo>
                  <a:pt x="3835" y="427356"/>
                </a:lnTo>
                <a:lnTo>
                  <a:pt x="0" y="408305"/>
                </a:lnTo>
                <a:lnTo>
                  <a:pt x="0" y="4889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693164" y="2110739"/>
            <a:ext cx="1443227" cy="59740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62327" y="2205227"/>
            <a:ext cx="1103376" cy="4511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54123" y="2171700"/>
            <a:ext cx="1303020" cy="45720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54123" y="2171700"/>
            <a:ext cx="1303020" cy="457200"/>
          </a:xfrm>
          <a:custGeom>
            <a:avLst/>
            <a:gdLst/>
            <a:ahLst/>
            <a:cxnLst/>
            <a:rect l="l" t="t" r="r" b="b"/>
            <a:pathLst>
              <a:path w="1303020" h="457200">
                <a:moveTo>
                  <a:pt x="0" y="48894"/>
                </a:moveTo>
                <a:lnTo>
                  <a:pt x="3835" y="29843"/>
                </a:lnTo>
                <a:lnTo>
                  <a:pt x="14303" y="14303"/>
                </a:lnTo>
                <a:lnTo>
                  <a:pt x="29843" y="3835"/>
                </a:lnTo>
                <a:lnTo>
                  <a:pt x="48894" y="0"/>
                </a:lnTo>
                <a:lnTo>
                  <a:pt x="1254125" y="0"/>
                </a:lnTo>
                <a:lnTo>
                  <a:pt x="1273176" y="3835"/>
                </a:lnTo>
                <a:lnTo>
                  <a:pt x="1288716" y="14303"/>
                </a:lnTo>
                <a:lnTo>
                  <a:pt x="1299184" y="29843"/>
                </a:lnTo>
                <a:lnTo>
                  <a:pt x="1303020" y="48894"/>
                </a:lnTo>
                <a:lnTo>
                  <a:pt x="1303020" y="408305"/>
                </a:lnTo>
                <a:lnTo>
                  <a:pt x="1299184" y="427356"/>
                </a:lnTo>
                <a:lnTo>
                  <a:pt x="1288716" y="442896"/>
                </a:lnTo>
                <a:lnTo>
                  <a:pt x="1273176" y="453364"/>
                </a:lnTo>
                <a:lnTo>
                  <a:pt x="1254125" y="457200"/>
                </a:lnTo>
                <a:lnTo>
                  <a:pt x="48894" y="457200"/>
                </a:lnTo>
                <a:lnTo>
                  <a:pt x="29843" y="453364"/>
                </a:lnTo>
                <a:lnTo>
                  <a:pt x="14303" y="442896"/>
                </a:lnTo>
                <a:lnTo>
                  <a:pt x="3835" y="427356"/>
                </a:lnTo>
                <a:lnTo>
                  <a:pt x="0" y="408305"/>
                </a:lnTo>
                <a:lnTo>
                  <a:pt x="0" y="4889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758695" y="2291842"/>
            <a:ext cx="1294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Messaging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070860" y="2107692"/>
            <a:ext cx="1444752" cy="59740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058667" y="2110739"/>
            <a:ext cx="1466087" cy="63398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131820" y="2168651"/>
            <a:ext cx="1304544" cy="45720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131820" y="2168651"/>
            <a:ext cx="1304925" cy="457200"/>
          </a:xfrm>
          <a:custGeom>
            <a:avLst/>
            <a:gdLst/>
            <a:ahLst/>
            <a:cxnLst/>
            <a:rect l="l" t="t" r="r" b="b"/>
            <a:pathLst>
              <a:path w="1304925" h="457200">
                <a:moveTo>
                  <a:pt x="0" y="48895"/>
                </a:moveTo>
                <a:lnTo>
                  <a:pt x="3835" y="29843"/>
                </a:lnTo>
                <a:lnTo>
                  <a:pt x="14303" y="14303"/>
                </a:lnTo>
                <a:lnTo>
                  <a:pt x="29843" y="3835"/>
                </a:lnTo>
                <a:lnTo>
                  <a:pt x="48894" y="0"/>
                </a:lnTo>
                <a:lnTo>
                  <a:pt x="1255649" y="0"/>
                </a:lnTo>
                <a:lnTo>
                  <a:pt x="1274700" y="3835"/>
                </a:lnTo>
                <a:lnTo>
                  <a:pt x="1290240" y="14303"/>
                </a:lnTo>
                <a:lnTo>
                  <a:pt x="1300708" y="29843"/>
                </a:lnTo>
                <a:lnTo>
                  <a:pt x="1304544" y="48895"/>
                </a:lnTo>
                <a:lnTo>
                  <a:pt x="1304544" y="408305"/>
                </a:lnTo>
                <a:lnTo>
                  <a:pt x="1300708" y="427356"/>
                </a:lnTo>
                <a:lnTo>
                  <a:pt x="1290240" y="442896"/>
                </a:lnTo>
                <a:lnTo>
                  <a:pt x="1274700" y="453364"/>
                </a:lnTo>
                <a:lnTo>
                  <a:pt x="1255649" y="457200"/>
                </a:lnTo>
                <a:lnTo>
                  <a:pt x="48894" y="457200"/>
                </a:lnTo>
                <a:lnTo>
                  <a:pt x="29843" y="453364"/>
                </a:lnTo>
                <a:lnTo>
                  <a:pt x="14303" y="442896"/>
                </a:lnTo>
                <a:lnTo>
                  <a:pt x="3835" y="427356"/>
                </a:lnTo>
                <a:lnTo>
                  <a:pt x="0" y="408305"/>
                </a:lnTo>
                <a:lnTo>
                  <a:pt x="0" y="4889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195066" y="2197430"/>
            <a:ext cx="11779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Wireless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070860" y="2609088"/>
            <a:ext cx="1444752" cy="59740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139439" y="2702051"/>
            <a:ext cx="1304543" cy="45110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131820" y="2670048"/>
            <a:ext cx="1304544" cy="457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131820" y="2670048"/>
            <a:ext cx="1304925" cy="457200"/>
          </a:xfrm>
          <a:custGeom>
            <a:avLst/>
            <a:gdLst/>
            <a:ahLst/>
            <a:cxnLst/>
            <a:rect l="l" t="t" r="r" b="b"/>
            <a:pathLst>
              <a:path w="1304925" h="457200">
                <a:moveTo>
                  <a:pt x="0" y="48894"/>
                </a:moveTo>
                <a:lnTo>
                  <a:pt x="3835" y="29843"/>
                </a:lnTo>
                <a:lnTo>
                  <a:pt x="14303" y="14303"/>
                </a:lnTo>
                <a:lnTo>
                  <a:pt x="29843" y="3835"/>
                </a:lnTo>
                <a:lnTo>
                  <a:pt x="48894" y="0"/>
                </a:lnTo>
                <a:lnTo>
                  <a:pt x="1255649" y="0"/>
                </a:lnTo>
                <a:lnTo>
                  <a:pt x="1274700" y="3835"/>
                </a:lnTo>
                <a:lnTo>
                  <a:pt x="1290240" y="14303"/>
                </a:lnTo>
                <a:lnTo>
                  <a:pt x="1300708" y="29843"/>
                </a:lnTo>
                <a:lnTo>
                  <a:pt x="1304544" y="48894"/>
                </a:lnTo>
                <a:lnTo>
                  <a:pt x="1304544" y="408304"/>
                </a:lnTo>
                <a:lnTo>
                  <a:pt x="1300708" y="427356"/>
                </a:lnTo>
                <a:lnTo>
                  <a:pt x="1290240" y="442896"/>
                </a:lnTo>
                <a:lnTo>
                  <a:pt x="1274700" y="453364"/>
                </a:lnTo>
                <a:lnTo>
                  <a:pt x="1255649" y="457200"/>
                </a:lnTo>
                <a:lnTo>
                  <a:pt x="48894" y="457200"/>
                </a:lnTo>
                <a:lnTo>
                  <a:pt x="29843" y="453364"/>
                </a:lnTo>
                <a:lnTo>
                  <a:pt x="14303" y="442896"/>
                </a:lnTo>
                <a:lnTo>
                  <a:pt x="3835" y="427356"/>
                </a:lnTo>
                <a:lnTo>
                  <a:pt x="0" y="408304"/>
                </a:lnTo>
                <a:lnTo>
                  <a:pt x="0" y="4889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075179" y="2794838"/>
            <a:ext cx="22155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2850" algn="l"/>
              </a:tabLst>
            </a:pP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Location	</a:t>
            </a:r>
            <a:r>
              <a:rPr sz="1800" b="1" spc="-22" baseline="2314" dirty="0">
                <a:solidFill>
                  <a:srgbClr val="252525"/>
                </a:solidFill>
                <a:latin typeface="Arial"/>
                <a:cs typeface="Arial"/>
              </a:rPr>
              <a:t>Web</a:t>
            </a:r>
            <a:r>
              <a:rPr sz="1800" b="1" spc="-52" baseline="2314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800" b="1" spc="-7" baseline="2314" dirty="0">
                <a:solidFill>
                  <a:srgbClr val="252525"/>
                </a:solidFill>
                <a:latin typeface="Arial"/>
                <a:cs typeface="Arial"/>
              </a:rPr>
              <a:t>Services</a:t>
            </a:r>
            <a:endParaRPr sz="1800" baseline="2314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450079" y="2097023"/>
            <a:ext cx="1443227" cy="59740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410455" y="2100072"/>
            <a:ext cx="1522476" cy="63398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511040" y="2157983"/>
            <a:ext cx="1303020" cy="45720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511040" y="2157983"/>
            <a:ext cx="1303020" cy="457200"/>
          </a:xfrm>
          <a:custGeom>
            <a:avLst/>
            <a:gdLst/>
            <a:ahLst/>
            <a:cxnLst/>
            <a:rect l="l" t="t" r="r" b="b"/>
            <a:pathLst>
              <a:path w="1303020" h="457200">
                <a:moveTo>
                  <a:pt x="0" y="48895"/>
                </a:moveTo>
                <a:lnTo>
                  <a:pt x="3835" y="29843"/>
                </a:lnTo>
                <a:lnTo>
                  <a:pt x="14303" y="14303"/>
                </a:lnTo>
                <a:lnTo>
                  <a:pt x="29843" y="3835"/>
                </a:lnTo>
                <a:lnTo>
                  <a:pt x="48895" y="0"/>
                </a:lnTo>
                <a:lnTo>
                  <a:pt x="1254125" y="0"/>
                </a:lnTo>
                <a:lnTo>
                  <a:pt x="1273176" y="3835"/>
                </a:lnTo>
                <a:lnTo>
                  <a:pt x="1288716" y="14303"/>
                </a:lnTo>
                <a:lnTo>
                  <a:pt x="1299184" y="29843"/>
                </a:lnTo>
                <a:lnTo>
                  <a:pt x="1303020" y="48895"/>
                </a:lnTo>
                <a:lnTo>
                  <a:pt x="1303020" y="408305"/>
                </a:lnTo>
                <a:lnTo>
                  <a:pt x="1299184" y="427356"/>
                </a:lnTo>
                <a:lnTo>
                  <a:pt x="1288716" y="442896"/>
                </a:lnTo>
                <a:lnTo>
                  <a:pt x="1273176" y="453364"/>
                </a:lnTo>
                <a:lnTo>
                  <a:pt x="1254125" y="457200"/>
                </a:lnTo>
                <a:lnTo>
                  <a:pt x="48895" y="457200"/>
                </a:lnTo>
                <a:lnTo>
                  <a:pt x="29843" y="453364"/>
                </a:lnTo>
                <a:lnTo>
                  <a:pt x="14303" y="442896"/>
                </a:lnTo>
                <a:lnTo>
                  <a:pt x="3835" y="427356"/>
                </a:lnTo>
                <a:lnTo>
                  <a:pt x="0" y="408305"/>
                </a:lnTo>
                <a:lnTo>
                  <a:pt x="0" y="4889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4546219" y="2187320"/>
            <a:ext cx="1233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3025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Protocols and  Data</a:t>
            </a:r>
            <a:r>
              <a:rPr sz="1200" b="1" spc="-7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Conversion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450079" y="2602992"/>
            <a:ext cx="1443227" cy="59740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710684" y="2697479"/>
            <a:ext cx="917448" cy="45110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511040" y="2663951"/>
            <a:ext cx="1303020" cy="45720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511040" y="2663951"/>
            <a:ext cx="1303020" cy="457200"/>
          </a:xfrm>
          <a:custGeom>
            <a:avLst/>
            <a:gdLst/>
            <a:ahLst/>
            <a:cxnLst/>
            <a:rect l="l" t="t" r="r" b="b"/>
            <a:pathLst>
              <a:path w="1303020" h="457200">
                <a:moveTo>
                  <a:pt x="0" y="48895"/>
                </a:moveTo>
                <a:lnTo>
                  <a:pt x="3835" y="29843"/>
                </a:lnTo>
                <a:lnTo>
                  <a:pt x="14303" y="14303"/>
                </a:lnTo>
                <a:lnTo>
                  <a:pt x="29843" y="3835"/>
                </a:lnTo>
                <a:lnTo>
                  <a:pt x="48895" y="0"/>
                </a:lnTo>
                <a:lnTo>
                  <a:pt x="1254125" y="0"/>
                </a:lnTo>
                <a:lnTo>
                  <a:pt x="1273176" y="3835"/>
                </a:lnTo>
                <a:lnTo>
                  <a:pt x="1288716" y="14303"/>
                </a:lnTo>
                <a:lnTo>
                  <a:pt x="1299184" y="29843"/>
                </a:lnTo>
                <a:lnTo>
                  <a:pt x="1303020" y="48895"/>
                </a:lnTo>
                <a:lnTo>
                  <a:pt x="1303020" y="408305"/>
                </a:lnTo>
                <a:lnTo>
                  <a:pt x="1299184" y="427356"/>
                </a:lnTo>
                <a:lnTo>
                  <a:pt x="1288716" y="442896"/>
                </a:lnTo>
                <a:lnTo>
                  <a:pt x="1273176" y="453364"/>
                </a:lnTo>
                <a:lnTo>
                  <a:pt x="1254125" y="457200"/>
                </a:lnTo>
                <a:lnTo>
                  <a:pt x="48895" y="457200"/>
                </a:lnTo>
                <a:lnTo>
                  <a:pt x="29843" y="453364"/>
                </a:lnTo>
                <a:lnTo>
                  <a:pt x="14303" y="442896"/>
                </a:lnTo>
                <a:lnTo>
                  <a:pt x="3835" y="427356"/>
                </a:lnTo>
                <a:lnTo>
                  <a:pt x="0" y="408305"/>
                </a:lnTo>
                <a:lnTo>
                  <a:pt x="0" y="4889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4847335" y="2784094"/>
            <a:ext cx="628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Sensors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852159" y="1301496"/>
            <a:ext cx="633984" cy="772667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809488" y="2598420"/>
            <a:ext cx="1443228" cy="59740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850635" y="2599944"/>
            <a:ext cx="1359408" cy="63398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870447" y="2659379"/>
            <a:ext cx="1303020" cy="4572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870447" y="2659379"/>
            <a:ext cx="1303020" cy="457200"/>
          </a:xfrm>
          <a:custGeom>
            <a:avLst/>
            <a:gdLst/>
            <a:ahLst/>
            <a:cxnLst/>
            <a:rect l="l" t="t" r="r" b="b"/>
            <a:pathLst>
              <a:path w="1303020" h="457200">
                <a:moveTo>
                  <a:pt x="0" y="48894"/>
                </a:moveTo>
                <a:lnTo>
                  <a:pt x="3835" y="29843"/>
                </a:lnTo>
                <a:lnTo>
                  <a:pt x="14303" y="14303"/>
                </a:lnTo>
                <a:lnTo>
                  <a:pt x="29843" y="3835"/>
                </a:lnTo>
                <a:lnTo>
                  <a:pt x="48894" y="0"/>
                </a:lnTo>
                <a:lnTo>
                  <a:pt x="1254125" y="0"/>
                </a:lnTo>
                <a:lnTo>
                  <a:pt x="1273176" y="3835"/>
                </a:lnTo>
                <a:lnTo>
                  <a:pt x="1288716" y="14303"/>
                </a:lnTo>
                <a:lnTo>
                  <a:pt x="1299184" y="29843"/>
                </a:lnTo>
                <a:lnTo>
                  <a:pt x="1303020" y="48894"/>
                </a:lnTo>
                <a:lnTo>
                  <a:pt x="1303020" y="408305"/>
                </a:lnTo>
                <a:lnTo>
                  <a:pt x="1299184" y="427356"/>
                </a:lnTo>
                <a:lnTo>
                  <a:pt x="1288716" y="442896"/>
                </a:lnTo>
                <a:lnTo>
                  <a:pt x="1273176" y="453364"/>
                </a:lnTo>
                <a:lnTo>
                  <a:pt x="1254125" y="457200"/>
                </a:lnTo>
                <a:lnTo>
                  <a:pt x="48894" y="457200"/>
                </a:lnTo>
                <a:lnTo>
                  <a:pt x="29843" y="453364"/>
                </a:lnTo>
                <a:lnTo>
                  <a:pt x="14303" y="442896"/>
                </a:lnTo>
                <a:lnTo>
                  <a:pt x="3835" y="427356"/>
                </a:lnTo>
                <a:lnTo>
                  <a:pt x="0" y="408305"/>
                </a:lnTo>
                <a:lnTo>
                  <a:pt x="0" y="4889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5986653" y="2687523"/>
            <a:ext cx="10699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Additional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Optional</a:t>
            </a:r>
            <a:r>
              <a:rPr sz="1200" b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JSRs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5809488" y="2103120"/>
            <a:ext cx="1444752" cy="59740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907023" y="2106167"/>
            <a:ext cx="1246631" cy="63398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870447" y="2164079"/>
            <a:ext cx="1304544" cy="45720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70447" y="2164079"/>
            <a:ext cx="1304925" cy="457200"/>
          </a:xfrm>
          <a:custGeom>
            <a:avLst/>
            <a:gdLst/>
            <a:ahLst/>
            <a:cxnLst/>
            <a:rect l="l" t="t" r="r" b="b"/>
            <a:pathLst>
              <a:path w="1304925" h="457200">
                <a:moveTo>
                  <a:pt x="0" y="48894"/>
                </a:moveTo>
                <a:lnTo>
                  <a:pt x="3835" y="29843"/>
                </a:lnTo>
                <a:lnTo>
                  <a:pt x="14303" y="14303"/>
                </a:lnTo>
                <a:lnTo>
                  <a:pt x="29843" y="3835"/>
                </a:lnTo>
                <a:lnTo>
                  <a:pt x="48894" y="0"/>
                </a:lnTo>
                <a:lnTo>
                  <a:pt x="1255649" y="0"/>
                </a:lnTo>
                <a:lnTo>
                  <a:pt x="1274700" y="3835"/>
                </a:lnTo>
                <a:lnTo>
                  <a:pt x="1290240" y="14303"/>
                </a:lnTo>
                <a:lnTo>
                  <a:pt x="1300708" y="29843"/>
                </a:lnTo>
                <a:lnTo>
                  <a:pt x="1304544" y="48894"/>
                </a:lnTo>
                <a:lnTo>
                  <a:pt x="1304544" y="408305"/>
                </a:lnTo>
                <a:lnTo>
                  <a:pt x="1300708" y="427356"/>
                </a:lnTo>
                <a:lnTo>
                  <a:pt x="1290240" y="442896"/>
                </a:lnTo>
                <a:lnTo>
                  <a:pt x="1274700" y="453364"/>
                </a:lnTo>
                <a:lnTo>
                  <a:pt x="1255649" y="457200"/>
                </a:lnTo>
                <a:lnTo>
                  <a:pt x="48894" y="457200"/>
                </a:lnTo>
                <a:lnTo>
                  <a:pt x="29843" y="453364"/>
                </a:lnTo>
                <a:lnTo>
                  <a:pt x="14303" y="442896"/>
                </a:lnTo>
                <a:lnTo>
                  <a:pt x="3835" y="427356"/>
                </a:lnTo>
                <a:lnTo>
                  <a:pt x="0" y="408305"/>
                </a:lnTo>
                <a:lnTo>
                  <a:pt x="0" y="4889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6043421" y="2194051"/>
            <a:ext cx="960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9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Security and  Man</a:t>
            </a:r>
            <a:r>
              <a:rPr sz="1200" b="1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g</a:t>
            </a:r>
            <a:r>
              <a:rPr sz="1200" b="1" dirty="0">
                <a:solidFill>
                  <a:srgbClr val="252525"/>
                </a:solidFill>
                <a:latin typeface="Arial"/>
                <a:cs typeface="Arial"/>
              </a:rPr>
              <a:t>e</a:t>
            </a: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m</a:t>
            </a:r>
            <a:r>
              <a:rPr sz="1200" b="1" dirty="0">
                <a:solidFill>
                  <a:srgbClr val="252525"/>
                </a:solidFill>
                <a:latin typeface="Arial"/>
                <a:cs typeface="Arial"/>
              </a:rPr>
              <a:t>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671827" y="873252"/>
            <a:ext cx="1644396" cy="490727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650492" y="822960"/>
            <a:ext cx="1687068" cy="63398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732788" y="934211"/>
            <a:ext cx="1504315" cy="350520"/>
          </a:xfrm>
          <a:custGeom>
            <a:avLst/>
            <a:gdLst/>
            <a:ahLst/>
            <a:cxnLst/>
            <a:rect l="l" t="t" r="r" b="b"/>
            <a:pathLst>
              <a:path w="1504314" h="350519">
                <a:moveTo>
                  <a:pt x="1466723" y="0"/>
                </a:moveTo>
                <a:lnTo>
                  <a:pt x="37464" y="0"/>
                </a:lnTo>
                <a:lnTo>
                  <a:pt x="22877" y="2942"/>
                </a:lnTo>
                <a:lnTo>
                  <a:pt x="10969" y="10969"/>
                </a:lnTo>
                <a:lnTo>
                  <a:pt x="2942" y="22877"/>
                </a:lnTo>
                <a:lnTo>
                  <a:pt x="0" y="37464"/>
                </a:lnTo>
                <a:lnTo>
                  <a:pt x="0" y="313054"/>
                </a:lnTo>
                <a:lnTo>
                  <a:pt x="2942" y="327642"/>
                </a:lnTo>
                <a:lnTo>
                  <a:pt x="10969" y="339550"/>
                </a:lnTo>
                <a:lnTo>
                  <a:pt x="22877" y="347577"/>
                </a:lnTo>
                <a:lnTo>
                  <a:pt x="37464" y="350520"/>
                </a:lnTo>
                <a:lnTo>
                  <a:pt x="1466723" y="350520"/>
                </a:lnTo>
                <a:lnTo>
                  <a:pt x="1481310" y="347577"/>
                </a:lnTo>
                <a:lnTo>
                  <a:pt x="1493218" y="339550"/>
                </a:lnTo>
                <a:lnTo>
                  <a:pt x="1501245" y="327642"/>
                </a:lnTo>
                <a:lnTo>
                  <a:pt x="1504188" y="313054"/>
                </a:lnTo>
                <a:lnTo>
                  <a:pt x="1504188" y="37464"/>
                </a:lnTo>
                <a:lnTo>
                  <a:pt x="1501245" y="22877"/>
                </a:lnTo>
                <a:lnTo>
                  <a:pt x="1493218" y="10969"/>
                </a:lnTo>
                <a:lnTo>
                  <a:pt x="1481310" y="2942"/>
                </a:lnTo>
                <a:lnTo>
                  <a:pt x="14667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732788" y="934211"/>
            <a:ext cx="1504315" cy="350520"/>
          </a:xfrm>
          <a:custGeom>
            <a:avLst/>
            <a:gdLst/>
            <a:ahLst/>
            <a:cxnLst/>
            <a:rect l="l" t="t" r="r" b="b"/>
            <a:pathLst>
              <a:path w="1504314" h="350519">
                <a:moveTo>
                  <a:pt x="0" y="37464"/>
                </a:moveTo>
                <a:lnTo>
                  <a:pt x="2942" y="22877"/>
                </a:lnTo>
                <a:lnTo>
                  <a:pt x="10969" y="10969"/>
                </a:lnTo>
                <a:lnTo>
                  <a:pt x="22877" y="2942"/>
                </a:lnTo>
                <a:lnTo>
                  <a:pt x="37464" y="0"/>
                </a:lnTo>
                <a:lnTo>
                  <a:pt x="1466723" y="0"/>
                </a:lnTo>
                <a:lnTo>
                  <a:pt x="1481310" y="2942"/>
                </a:lnTo>
                <a:lnTo>
                  <a:pt x="1493218" y="10969"/>
                </a:lnTo>
                <a:lnTo>
                  <a:pt x="1501245" y="22877"/>
                </a:lnTo>
                <a:lnTo>
                  <a:pt x="1504188" y="37464"/>
                </a:lnTo>
                <a:lnTo>
                  <a:pt x="1504188" y="313054"/>
                </a:lnTo>
                <a:lnTo>
                  <a:pt x="1501245" y="327642"/>
                </a:lnTo>
                <a:lnTo>
                  <a:pt x="1493218" y="339550"/>
                </a:lnTo>
                <a:lnTo>
                  <a:pt x="1481310" y="347577"/>
                </a:lnTo>
                <a:lnTo>
                  <a:pt x="1466723" y="350520"/>
                </a:lnTo>
                <a:lnTo>
                  <a:pt x="37464" y="350520"/>
                </a:lnTo>
                <a:lnTo>
                  <a:pt x="22877" y="347577"/>
                </a:lnTo>
                <a:lnTo>
                  <a:pt x="10969" y="339550"/>
                </a:lnTo>
                <a:lnTo>
                  <a:pt x="2942" y="327642"/>
                </a:lnTo>
                <a:lnTo>
                  <a:pt x="0" y="313054"/>
                </a:lnTo>
                <a:lnTo>
                  <a:pt x="0" y="3746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1737360" y="909573"/>
            <a:ext cx="1495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Use Case</a:t>
            </a:r>
            <a:r>
              <a:rPr sz="1200" b="1" spc="-6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52525"/>
                </a:solidFill>
                <a:latin typeface="Arial"/>
                <a:cs typeface="Arial"/>
              </a:rPr>
              <a:t>Software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252525"/>
                </a:solidFill>
                <a:latin typeface="Arial"/>
                <a:cs typeface="Arial"/>
              </a:rPr>
              <a:t>(e.g. smart</a:t>
            </a:r>
            <a:r>
              <a:rPr sz="1200" spc="-4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252525"/>
                </a:solidFill>
                <a:latin typeface="Arial"/>
                <a:cs typeface="Arial"/>
              </a:rPr>
              <a:t>pen)</a:t>
            </a:r>
            <a:endParaRPr sz="12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479291" y="876300"/>
            <a:ext cx="1645919" cy="492251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401567" y="826008"/>
            <a:ext cx="1804415" cy="633984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540252" y="937260"/>
            <a:ext cx="1506220" cy="352425"/>
          </a:xfrm>
          <a:custGeom>
            <a:avLst/>
            <a:gdLst/>
            <a:ahLst/>
            <a:cxnLst/>
            <a:rect l="l" t="t" r="r" b="b"/>
            <a:pathLst>
              <a:path w="1506220" h="352425">
                <a:moveTo>
                  <a:pt x="1467993" y="0"/>
                </a:moveTo>
                <a:lnTo>
                  <a:pt x="37719" y="0"/>
                </a:lnTo>
                <a:lnTo>
                  <a:pt x="23038" y="2964"/>
                </a:lnTo>
                <a:lnTo>
                  <a:pt x="11049" y="11049"/>
                </a:lnTo>
                <a:lnTo>
                  <a:pt x="2964" y="23038"/>
                </a:lnTo>
                <a:lnTo>
                  <a:pt x="0" y="37718"/>
                </a:lnTo>
                <a:lnTo>
                  <a:pt x="0" y="314325"/>
                </a:lnTo>
                <a:lnTo>
                  <a:pt x="2964" y="329005"/>
                </a:lnTo>
                <a:lnTo>
                  <a:pt x="11048" y="340995"/>
                </a:lnTo>
                <a:lnTo>
                  <a:pt x="23038" y="349079"/>
                </a:lnTo>
                <a:lnTo>
                  <a:pt x="37719" y="352043"/>
                </a:lnTo>
                <a:lnTo>
                  <a:pt x="1467993" y="352043"/>
                </a:lnTo>
                <a:lnTo>
                  <a:pt x="1482673" y="349079"/>
                </a:lnTo>
                <a:lnTo>
                  <a:pt x="1494663" y="340995"/>
                </a:lnTo>
                <a:lnTo>
                  <a:pt x="1502747" y="329005"/>
                </a:lnTo>
                <a:lnTo>
                  <a:pt x="1505712" y="314325"/>
                </a:lnTo>
                <a:lnTo>
                  <a:pt x="1505712" y="37718"/>
                </a:lnTo>
                <a:lnTo>
                  <a:pt x="1502747" y="23038"/>
                </a:lnTo>
                <a:lnTo>
                  <a:pt x="1494663" y="11049"/>
                </a:lnTo>
                <a:lnTo>
                  <a:pt x="1482673" y="2964"/>
                </a:lnTo>
                <a:lnTo>
                  <a:pt x="14679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540252" y="937260"/>
            <a:ext cx="1506220" cy="352425"/>
          </a:xfrm>
          <a:custGeom>
            <a:avLst/>
            <a:gdLst/>
            <a:ahLst/>
            <a:cxnLst/>
            <a:rect l="l" t="t" r="r" b="b"/>
            <a:pathLst>
              <a:path w="1506220" h="352425">
                <a:moveTo>
                  <a:pt x="0" y="37718"/>
                </a:moveTo>
                <a:lnTo>
                  <a:pt x="2964" y="23038"/>
                </a:lnTo>
                <a:lnTo>
                  <a:pt x="11049" y="11049"/>
                </a:lnTo>
                <a:lnTo>
                  <a:pt x="23038" y="2964"/>
                </a:lnTo>
                <a:lnTo>
                  <a:pt x="37719" y="0"/>
                </a:lnTo>
                <a:lnTo>
                  <a:pt x="1467993" y="0"/>
                </a:lnTo>
                <a:lnTo>
                  <a:pt x="1482673" y="2964"/>
                </a:lnTo>
                <a:lnTo>
                  <a:pt x="1494663" y="11048"/>
                </a:lnTo>
                <a:lnTo>
                  <a:pt x="1502747" y="23038"/>
                </a:lnTo>
                <a:lnTo>
                  <a:pt x="1505712" y="37718"/>
                </a:lnTo>
                <a:lnTo>
                  <a:pt x="1505712" y="314325"/>
                </a:lnTo>
                <a:lnTo>
                  <a:pt x="1502747" y="329005"/>
                </a:lnTo>
                <a:lnTo>
                  <a:pt x="1494663" y="340994"/>
                </a:lnTo>
                <a:lnTo>
                  <a:pt x="1482673" y="349079"/>
                </a:lnTo>
                <a:lnTo>
                  <a:pt x="1467993" y="352043"/>
                </a:lnTo>
                <a:lnTo>
                  <a:pt x="37719" y="352043"/>
                </a:lnTo>
                <a:lnTo>
                  <a:pt x="23038" y="349079"/>
                </a:lnTo>
                <a:lnTo>
                  <a:pt x="11048" y="340995"/>
                </a:lnTo>
                <a:lnTo>
                  <a:pt x="2964" y="329005"/>
                </a:lnTo>
                <a:lnTo>
                  <a:pt x="0" y="314325"/>
                </a:lnTo>
                <a:lnTo>
                  <a:pt x="0" y="3771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3544823" y="913638"/>
            <a:ext cx="1496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Use Case</a:t>
            </a:r>
            <a:r>
              <a:rPr sz="1200" b="1" spc="-6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52525"/>
                </a:solidFill>
                <a:latin typeface="Arial"/>
                <a:cs typeface="Arial"/>
              </a:rPr>
              <a:t>Software</a:t>
            </a:r>
            <a:endParaRPr sz="1200">
              <a:latin typeface="Arial"/>
              <a:cs typeface="Arial"/>
            </a:endParaRPr>
          </a:p>
          <a:p>
            <a:pPr marL="4445">
              <a:lnSpc>
                <a:spcPct val="100000"/>
              </a:lnSpc>
            </a:pPr>
            <a:r>
              <a:rPr sz="1200" dirty="0">
                <a:solidFill>
                  <a:srgbClr val="252525"/>
                </a:solidFill>
                <a:latin typeface="Arial"/>
                <a:cs typeface="Arial"/>
              </a:rPr>
              <a:t>(e.g. </a:t>
            </a:r>
            <a:r>
              <a:rPr sz="1200" spc="-5" dirty="0">
                <a:solidFill>
                  <a:srgbClr val="252525"/>
                </a:solidFill>
                <a:latin typeface="Arial"/>
                <a:cs typeface="Arial"/>
              </a:rPr>
              <a:t>wireless</a:t>
            </a:r>
            <a:r>
              <a:rPr sz="1200" spc="-6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252525"/>
                </a:solidFill>
                <a:latin typeface="Arial"/>
                <a:cs typeface="Arial"/>
              </a:rPr>
              <a:t>module)</a:t>
            </a:r>
            <a:endParaRPr sz="12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297423" y="876300"/>
            <a:ext cx="1645920" cy="492251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276088" y="826008"/>
            <a:ext cx="1687067" cy="63398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358384" y="937260"/>
            <a:ext cx="1506220" cy="352425"/>
          </a:xfrm>
          <a:custGeom>
            <a:avLst/>
            <a:gdLst/>
            <a:ahLst/>
            <a:cxnLst/>
            <a:rect l="l" t="t" r="r" b="b"/>
            <a:pathLst>
              <a:path w="1506220" h="352425">
                <a:moveTo>
                  <a:pt x="1467992" y="0"/>
                </a:moveTo>
                <a:lnTo>
                  <a:pt x="37718" y="0"/>
                </a:lnTo>
                <a:lnTo>
                  <a:pt x="23038" y="2964"/>
                </a:lnTo>
                <a:lnTo>
                  <a:pt x="11048" y="11049"/>
                </a:lnTo>
                <a:lnTo>
                  <a:pt x="2964" y="23038"/>
                </a:lnTo>
                <a:lnTo>
                  <a:pt x="0" y="37718"/>
                </a:lnTo>
                <a:lnTo>
                  <a:pt x="0" y="314325"/>
                </a:lnTo>
                <a:lnTo>
                  <a:pt x="2964" y="329005"/>
                </a:lnTo>
                <a:lnTo>
                  <a:pt x="11049" y="340995"/>
                </a:lnTo>
                <a:lnTo>
                  <a:pt x="23038" y="349079"/>
                </a:lnTo>
                <a:lnTo>
                  <a:pt x="37718" y="352043"/>
                </a:lnTo>
                <a:lnTo>
                  <a:pt x="1467992" y="352043"/>
                </a:lnTo>
                <a:lnTo>
                  <a:pt x="1482673" y="349079"/>
                </a:lnTo>
                <a:lnTo>
                  <a:pt x="1494662" y="340995"/>
                </a:lnTo>
                <a:lnTo>
                  <a:pt x="1502747" y="329005"/>
                </a:lnTo>
                <a:lnTo>
                  <a:pt x="1505712" y="314325"/>
                </a:lnTo>
                <a:lnTo>
                  <a:pt x="1505712" y="37718"/>
                </a:lnTo>
                <a:lnTo>
                  <a:pt x="1502747" y="23038"/>
                </a:lnTo>
                <a:lnTo>
                  <a:pt x="1494663" y="11049"/>
                </a:lnTo>
                <a:lnTo>
                  <a:pt x="1482673" y="2964"/>
                </a:lnTo>
                <a:lnTo>
                  <a:pt x="14679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358384" y="937260"/>
            <a:ext cx="1506220" cy="352425"/>
          </a:xfrm>
          <a:custGeom>
            <a:avLst/>
            <a:gdLst/>
            <a:ahLst/>
            <a:cxnLst/>
            <a:rect l="l" t="t" r="r" b="b"/>
            <a:pathLst>
              <a:path w="1506220" h="352425">
                <a:moveTo>
                  <a:pt x="0" y="37718"/>
                </a:moveTo>
                <a:lnTo>
                  <a:pt x="2964" y="23038"/>
                </a:lnTo>
                <a:lnTo>
                  <a:pt x="11048" y="11049"/>
                </a:lnTo>
                <a:lnTo>
                  <a:pt x="23038" y="2964"/>
                </a:lnTo>
                <a:lnTo>
                  <a:pt x="37718" y="0"/>
                </a:lnTo>
                <a:lnTo>
                  <a:pt x="1467992" y="0"/>
                </a:lnTo>
                <a:lnTo>
                  <a:pt x="1482673" y="2964"/>
                </a:lnTo>
                <a:lnTo>
                  <a:pt x="1494663" y="11048"/>
                </a:lnTo>
                <a:lnTo>
                  <a:pt x="1502747" y="23038"/>
                </a:lnTo>
                <a:lnTo>
                  <a:pt x="1505712" y="37718"/>
                </a:lnTo>
                <a:lnTo>
                  <a:pt x="1505712" y="314325"/>
                </a:lnTo>
                <a:lnTo>
                  <a:pt x="1502747" y="329005"/>
                </a:lnTo>
                <a:lnTo>
                  <a:pt x="1494663" y="340994"/>
                </a:lnTo>
                <a:lnTo>
                  <a:pt x="1482673" y="349079"/>
                </a:lnTo>
                <a:lnTo>
                  <a:pt x="1467992" y="352043"/>
                </a:lnTo>
                <a:lnTo>
                  <a:pt x="37718" y="352043"/>
                </a:lnTo>
                <a:lnTo>
                  <a:pt x="23038" y="349079"/>
                </a:lnTo>
                <a:lnTo>
                  <a:pt x="11049" y="340995"/>
                </a:lnTo>
                <a:lnTo>
                  <a:pt x="2964" y="329005"/>
                </a:lnTo>
                <a:lnTo>
                  <a:pt x="0" y="314325"/>
                </a:lnTo>
                <a:lnTo>
                  <a:pt x="0" y="3771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5362955" y="913638"/>
            <a:ext cx="1496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Use Case</a:t>
            </a:r>
            <a:r>
              <a:rPr sz="1200" b="1" spc="-6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52525"/>
                </a:solidFill>
                <a:latin typeface="Arial"/>
                <a:cs typeface="Arial"/>
              </a:rPr>
              <a:t>Software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252525"/>
                </a:solidFill>
                <a:latin typeface="Arial"/>
                <a:cs typeface="Arial"/>
              </a:rPr>
              <a:t>(e.g. </a:t>
            </a:r>
            <a:r>
              <a:rPr sz="1200" spc="-5" dirty="0">
                <a:solidFill>
                  <a:srgbClr val="252525"/>
                </a:solidFill>
                <a:latin typeface="Arial"/>
                <a:cs typeface="Arial"/>
              </a:rPr>
              <a:t>control</a:t>
            </a:r>
            <a:r>
              <a:rPr sz="1200" spc="-5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252525"/>
                </a:solidFill>
                <a:latin typeface="Arial"/>
                <a:cs typeface="Arial"/>
              </a:rPr>
              <a:t>unit)</a:t>
            </a:r>
            <a:endParaRPr sz="12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7103364" y="864108"/>
            <a:ext cx="1644396" cy="492251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082028" y="813816"/>
            <a:ext cx="1687068" cy="63398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164323" y="925067"/>
            <a:ext cx="1504315" cy="352425"/>
          </a:xfrm>
          <a:custGeom>
            <a:avLst/>
            <a:gdLst/>
            <a:ahLst/>
            <a:cxnLst/>
            <a:rect l="l" t="t" r="r" b="b"/>
            <a:pathLst>
              <a:path w="1504315" h="352425">
                <a:moveTo>
                  <a:pt x="1466469" y="0"/>
                </a:moveTo>
                <a:lnTo>
                  <a:pt x="37719" y="0"/>
                </a:lnTo>
                <a:lnTo>
                  <a:pt x="23038" y="2964"/>
                </a:lnTo>
                <a:lnTo>
                  <a:pt x="11049" y="11049"/>
                </a:lnTo>
                <a:lnTo>
                  <a:pt x="2964" y="23038"/>
                </a:lnTo>
                <a:lnTo>
                  <a:pt x="0" y="37719"/>
                </a:lnTo>
                <a:lnTo>
                  <a:pt x="0" y="314325"/>
                </a:lnTo>
                <a:lnTo>
                  <a:pt x="2964" y="329005"/>
                </a:lnTo>
                <a:lnTo>
                  <a:pt x="11049" y="340995"/>
                </a:lnTo>
                <a:lnTo>
                  <a:pt x="23038" y="349079"/>
                </a:lnTo>
                <a:lnTo>
                  <a:pt x="37719" y="352044"/>
                </a:lnTo>
                <a:lnTo>
                  <a:pt x="1466469" y="352044"/>
                </a:lnTo>
                <a:lnTo>
                  <a:pt x="1481149" y="349079"/>
                </a:lnTo>
                <a:lnTo>
                  <a:pt x="1493138" y="340995"/>
                </a:lnTo>
                <a:lnTo>
                  <a:pt x="1501223" y="329005"/>
                </a:lnTo>
                <a:lnTo>
                  <a:pt x="1504187" y="314325"/>
                </a:lnTo>
                <a:lnTo>
                  <a:pt x="1504187" y="37719"/>
                </a:lnTo>
                <a:lnTo>
                  <a:pt x="1501223" y="23038"/>
                </a:lnTo>
                <a:lnTo>
                  <a:pt x="1493138" y="11049"/>
                </a:lnTo>
                <a:lnTo>
                  <a:pt x="1481149" y="2964"/>
                </a:lnTo>
                <a:lnTo>
                  <a:pt x="14664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164323" y="925067"/>
            <a:ext cx="1504315" cy="352425"/>
          </a:xfrm>
          <a:custGeom>
            <a:avLst/>
            <a:gdLst/>
            <a:ahLst/>
            <a:cxnLst/>
            <a:rect l="l" t="t" r="r" b="b"/>
            <a:pathLst>
              <a:path w="1504315" h="352425">
                <a:moveTo>
                  <a:pt x="0" y="37719"/>
                </a:moveTo>
                <a:lnTo>
                  <a:pt x="2964" y="23038"/>
                </a:lnTo>
                <a:lnTo>
                  <a:pt x="11049" y="11049"/>
                </a:lnTo>
                <a:lnTo>
                  <a:pt x="23038" y="2964"/>
                </a:lnTo>
                <a:lnTo>
                  <a:pt x="37719" y="0"/>
                </a:lnTo>
                <a:lnTo>
                  <a:pt x="1466469" y="0"/>
                </a:lnTo>
                <a:lnTo>
                  <a:pt x="1481149" y="2964"/>
                </a:lnTo>
                <a:lnTo>
                  <a:pt x="1493138" y="11049"/>
                </a:lnTo>
                <a:lnTo>
                  <a:pt x="1501223" y="23038"/>
                </a:lnTo>
                <a:lnTo>
                  <a:pt x="1504187" y="37719"/>
                </a:lnTo>
                <a:lnTo>
                  <a:pt x="1504187" y="314325"/>
                </a:lnTo>
                <a:lnTo>
                  <a:pt x="1501223" y="329005"/>
                </a:lnTo>
                <a:lnTo>
                  <a:pt x="1493138" y="340995"/>
                </a:lnTo>
                <a:lnTo>
                  <a:pt x="1481149" y="349079"/>
                </a:lnTo>
                <a:lnTo>
                  <a:pt x="1466469" y="352044"/>
                </a:lnTo>
                <a:lnTo>
                  <a:pt x="37719" y="352044"/>
                </a:lnTo>
                <a:lnTo>
                  <a:pt x="23038" y="349079"/>
                </a:lnTo>
                <a:lnTo>
                  <a:pt x="11049" y="340995"/>
                </a:lnTo>
                <a:lnTo>
                  <a:pt x="2964" y="329005"/>
                </a:lnTo>
                <a:lnTo>
                  <a:pt x="0" y="314325"/>
                </a:lnTo>
                <a:lnTo>
                  <a:pt x="0" y="3771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7168895" y="901065"/>
            <a:ext cx="1495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52525"/>
                </a:solidFill>
                <a:latin typeface="Arial"/>
                <a:cs typeface="Arial"/>
              </a:rPr>
              <a:t>Use Case</a:t>
            </a:r>
            <a:r>
              <a:rPr sz="1200" b="1" spc="-6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52525"/>
                </a:solidFill>
                <a:latin typeface="Arial"/>
                <a:cs typeface="Arial"/>
              </a:rPr>
              <a:t>Software</a:t>
            </a:r>
            <a:endParaRPr sz="12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1200" dirty="0">
                <a:solidFill>
                  <a:srgbClr val="252525"/>
                </a:solidFill>
                <a:latin typeface="Arial"/>
                <a:cs typeface="Arial"/>
              </a:rPr>
              <a:t>(e.g. smart</a:t>
            </a:r>
            <a:r>
              <a:rPr sz="1200" spc="-4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252525"/>
                </a:solidFill>
                <a:latin typeface="Arial"/>
                <a:cs typeface="Arial"/>
              </a:rPr>
              <a:t>meter)</a:t>
            </a:r>
            <a:endParaRPr sz="12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6946392" y="3148583"/>
            <a:ext cx="1810511" cy="950975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002780" y="3204972"/>
            <a:ext cx="1679575" cy="820419"/>
          </a:xfrm>
          <a:custGeom>
            <a:avLst/>
            <a:gdLst/>
            <a:ahLst/>
            <a:cxnLst/>
            <a:rect l="l" t="t" r="r" b="b"/>
            <a:pathLst>
              <a:path w="1679575" h="820420">
                <a:moveTo>
                  <a:pt x="1617345" y="0"/>
                </a:moveTo>
                <a:lnTo>
                  <a:pt x="62102" y="0"/>
                </a:lnTo>
                <a:lnTo>
                  <a:pt x="37933" y="4881"/>
                </a:lnTo>
                <a:lnTo>
                  <a:pt x="18192" y="18192"/>
                </a:lnTo>
                <a:lnTo>
                  <a:pt x="4881" y="37933"/>
                </a:lnTo>
                <a:lnTo>
                  <a:pt x="0" y="62102"/>
                </a:lnTo>
                <a:lnTo>
                  <a:pt x="0" y="757808"/>
                </a:lnTo>
                <a:lnTo>
                  <a:pt x="4881" y="781984"/>
                </a:lnTo>
                <a:lnTo>
                  <a:pt x="18192" y="801724"/>
                </a:lnTo>
                <a:lnTo>
                  <a:pt x="37933" y="815032"/>
                </a:lnTo>
                <a:lnTo>
                  <a:pt x="62102" y="819911"/>
                </a:lnTo>
                <a:lnTo>
                  <a:pt x="1617345" y="819911"/>
                </a:lnTo>
                <a:lnTo>
                  <a:pt x="1641514" y="815032"/>
                </a:lnTo>
                <a:lnTo>
                  <a:pt x="1661255" y="801724"/>
                </a:lnTo>
                <a:lnTo>
                  <a:pt x="1674566" y="781984"/>
                </a:lnTo>
                <a:lnTo>
                  <a:pt x="1679448" y="757808"/>
                </a:lnTo>
                <a:lnTo>
                  <a:pt x="1679448" y="62102"/>
                </a:lnTo>
                <a:lnTo>
                  <a:pt x="1674566" y="37933"/>
                </a:lnTo>
                <a:lnTo>
                  <a:pt x="1661255" y="18192"/>
                </a:lnTo>
                <a:lnTo>
                  <a:pt x="1641514" y="4881"/>
                </a:lnTo>
                <a:lnTo>
                  <a:pt x="1617345" y="0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152900" y="3148583"/>
            <a:ext cx="2866644" cy="954023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209288" y="3204972"/>
            <a:ext cx="2735580" cy="822960"/>
          </a:xfrm>
          <a:custGeom>
            <a:avLst/>
            <a:gdLst/>
            <a:ahLst/>
            <a:cxnLst/>
            <a:rect l="l" t="t" r="r" b="b"/>
            <a:pathLst>
              <a:path w="2735579" h="822960">
                <a:moveTo>
                  <a:pt x="2673222" y="0"/>
                </a:moveTo>
                <a:lnTo>
                  <a:pt x="62357" y="0"/>
                </a:lnTo>
                <a:lnTo>
                  <a:pt x="38094" y="4903"/>
                </a:lnTo>
                <a:lnTo>
                  <a:pt x="18272" y="18272"/>
                </a:lnTo>
                <a:lnTo>
                  <a:pt x="4903" y="38094"/>
                </a:lnTo>
                <a:lnTo>
                  <a:pt x="0" y="62356"/>
                </a:lnTo>
                <a:lnTo>
                  <a:pt x="0" y="760628"/>
                </a:lnTo>
                <a:lnTo>
                  <a:pt x="4903" y="784892"/>
                </a:lnTo>
                <a:lnTo>
                  <a:pt x="18272" y="804705"/>
                </a:lnTo>
                <a:lnTo>
                  <a:pt x="38094" y="818062"/>
                </a:lnTo>
                <a:lnTo>
                  <a:pt x="62357" y="822959"/>
                </a:lnTo>
                <a:lnTo>
                  <a:pt x="2673222" y="822959"/>
                </a:lnTo>
                <a:lnTo>
                  <a:pt x="2697485" y="818062"/>
                </a:lnTo>
                <a:lnTo>
                  <a:pt x="2717307" y="804705"/>
                </a:lnTo>
                <a:lnTo>
                  <a:pt x="2730676" y="784892"/>
                </a:lnTo>
                <a:lnTo>
                  <a:pt x="2735580" y="760628"/>
                </a:lnTo>
                <a:lnTo>
                  <a:pt x="2735580" y="62356"/>
                </a:lnTo>
                <a:lnTo>
                  <a:pt x="2730676" y="38094"/>
                </a:lnTo>
                <a:lnTo>
                  <a:pt x="2717307" y="18272"/>
                </a:lnTo>
                <a:lnTo>
                  <a:pt x="2697485" y="4903"/>
                </a:lnTo>
                <a:lnTo>
                  <a:pt x="2673222" y="0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383023" y="3451859"/>
            <a:ext cx="2561844" cy="585215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306823" y="3412235"/>
            <a:ext cx="2711196" cy="71780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439411" y="3508247"/>
            <a:ext cx="2430780" cy="454151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4270628" y="3097624"/>
            <a:ext cx="2483485" cy="85915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sz="12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endParaRPr sz="1200">
              <a:latin typeface="Arial"/>
              <a:cs typeface="Arial"/>
            </a:endParaRPr>
          </a:p>
          <a:p>
            <a:pPr marL="574040" marR="5080" indent="-373380">
              <a:lnSpc>
                <a:spcPct val="100000"/>
              </a:lnSpc>
              <a:spcBef>
                <a:spcPts val="950"/>
              </a:spcBef>
            </a:pPr>
            <a:r>
              <a:rPr sz="1400" b="1" spc="-5" dirty="0">
                <a:solidFill>
                  <a:srgbClr val="252525"/>
                </a:solidFill>
                <a:latin typeface="Arial"/>
                <a:cs typeface="Arial"/>
              </a:rPr>
              <a:t>Java </a:t>
            </a:r>
            <a:r>
              <a:rPr sz="1400" b="1" spc="0" dirty="0">
                <a:solidFill>
                  <a:srgbClr val="252525"/>
                </a:solidFill>
                <a:latin typeface="Arial"/>
                <a:cs typeface="Arial"/>
              </a:rPr>
              <a:t>ME </a:t>
            </a:r>
            <a:r>
              <a:rPr sz="1400" b="1" spc="-5" dirty="0">
                <a:solidFill>
                  <a:srgbClr val="252525"/>
                </a:solidFill>
                <a:latin typeface="Arial"/>
                <a:cs typeface="Arial"/>
              </a:rPr>
              <a:t>Embedded</a:t>
            </a:r>
            <a:r>
              <a:rPr sz="1400" b="1" spc="-1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Profile  (MEEP) 8 </a:t>
            </a:r>
            <a:r>
              <a:rPr sz="1400" dirty="0">
                <a:solidFill>
                  <a:srgbClr val="252525"/>
                </a:solidFill>
                <a:latin typeface="Arial"/>
                <a:cs typeface="Arial"/>
              </a:rPr>
              <a:t>(JSR</a:t>
            </a:r>
            <a:r>
              <a:rPr sz="1400" spc="-7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52525"/>
                </a:solidFill>
                <a:latin typeface="Arial"/>
                <a:cs typeface="Arial"/>
              </a:rPr>
              <a:t>361)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487680" y="3156204"/>
            <a:ext cx="1903476" cy="928116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44068" y="3212592"/>
            <a:ext cx="1772920" cy="797560"/>
          </a:xfrm>
          <a:custGeom>
            <a:avLst/>
            <a:gdLst/>
            <a:ahLst/>
            <a:cxnLst/>
            <a:rect l="l" t="t" r="r" b="b"/>
            <a:pathLst>
              <a:path w="1772920" h="797560">
                <a:moveTo>
                  <a:pt x="1712087" y="0"/>
                </a:moveTo>
                <a:lnTo>
                  <a:pt x="60363" y="0"/>
                </a:lnTo>
                <a:lnTo>
                  <a:pt x="36867" y="4746"/>
                </a:lnTo>
                <a:lnTo>
                  <a:pt x="17679" y="17684"/>
                </a:lnTo>
                <a:lnTo>
                  <a:pt x="4743" y="36861"/>
                </a:lnTo>
                <a:lnTo>
                  <a:pt x="0" y="60325"/>
                </a:lnTo>
                <a:lnTo>
                  <a:pt x="0" y="736676"/>
                </a:lnTo>
                <a:lnTo>
                  <a:pt x="4743" y="760179"/>
                </a:lnTo>
                <a:lnTo>
                  <a:pt x="17679" y="779370"/>
                </a:lnTo>
                <a:lnTo>
                  <a:pt x="36867" y="792308"/>
                </a:lnTo>
                <a:lnTo>
                  <a:pt x="60363" y="797051"/>
                </a:lnTo>
                <a:lnTo>
                  <a:pt x="1712087" y="797051"/>
                </a:lnTo>
                <a:lnTo>
                  <a:pt x="1735550" y="792308"/>
                </a:lnTo>
                <a:lnTo>
                  <a:pt x="1754727" y="779370"/>
                </a:lnTo>
                <a:lnTo>
                  <a:pt x="1767665" y="760179"/>
                </a:lnTo>
                <a:lnTo>
                  <a:pt x="1772412" y="736676"/>
                </a:lnTo>
                <a:lnTo>
                  <a:pt x="1772412" y="60325"/>
                </a:lnTo>
                <a:lnTo>
                  <a:pt x="1767665" y="36861"/>
                </a:lnTo>
                <a:lnTo>
                  <a:pt x="1754727" y="17684"/>
                </a:lnTo>
                <a:lnTo>
                  <a:pt x="1735550" y="4746"/>
                </a:lnTo>
                <a:lnTo>
                  <a:pt x="1712087" y="0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593851" y="3213607"/>
            <a:ext cx="1024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On-Device</a:t>
            </a:r>
            <a:r>
              <a:rPr sz="12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I/O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93851" y="3396488"/>
            <a:ext cx="556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ccess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1248155" y="3447288"/>
            <a:ext cx="1071371" cy="589788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156716" y="3409188"/>
            <a:ext cx="1251204" cy="717804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304544" y="3503676"/>
            <a:ext cx="940307" cy="45872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1307719" y="3501085"/>
            <a:ext cx="8851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252525"/>
                </a:solidFill>
                <a:latin typeface="Arial"/>
                <a:cs typeface="Arial"/>
              </a:rPr>
              <a:t>Device</a:t>
            </a:r>
            <a:r>
              <a:rPr sz="1400" b="1" spc="-8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I/O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b="1" spc="-15" dirty="0">
                <a:solidFill>
                  <a:srgbClr val="252525"/>
                </a:solidFill>
                <a:latin typeface="Arial"/>
                <a:cs typeface="Arial"/>
              </a:rPr>
              <a:t>API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7746492" y="3448811"/>
            <a:ext cx="926592" cy="588263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688580" y="3447288"/>
            <a:ext cx="1001268" cy="633984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7802880" y="3505200"/>
            <a:ext cx="795527" cy="457200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7067550" y="3201416"/>
            <a:ext cx="1470660" cy="724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Security and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Trust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10"/>
              </a:lnSpc>
            </a:pP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  <a:p>
            <a:pPr marL="802640" algn="ctr">
              <a:lnSpc>
                <a:spcPts val="1310"/>
              </a:lnSpc>
            </a:pPr>
            <a:r>
              <a:rPr sz="1200" b="1" spc="-30" dirty="0">
                <a:solidFill>
                  <a:srgbClr val="252525"/>
                </a:solidFill>
                <a:latin typeface="Arial"/>
                <a:cs typeface="Arial"/>
              </a:rPr>
              <a:t>SATSA</a:t>
            </a:r>
            <a:endParaRPr sz="1200">
              <a:latin typeface="Arial"/>
              <a:cs typeface="Arial"/>
            </a:endParaRPr>
          </a:p>
          <a:p>
            <a:pPr marL="757555" algn="ctr">
              <a:lnSpc>
                <a:spcPct val="100000"/>
              </a:lnSpc>
            </a:pPr>
            <a:r>
              <a:rPr sz="1200" spc="-5" dirty="0">
                <a:solidFill>
                  <a:srgbClr val="252525"/>
                </a:solidFill>
                <a:latin typeface="Arial"/>
                <a:cs typeface="Arial"/>
              </a:rPr>
              <a:t>(JSR</a:t>
            </a:r>
            <a:r>
              <a:rPr sz="1200" spc="-5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252525"/>
                </a:solidFill>
                <a:latin typeface="Arial"/>
                <a:cs typeface="Arial"/>
              </a:rPr>
              <a:t>177)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319527" y="3148583"/>
            <a:ext cx="1905000" cy="932687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375916" y="3204972"/>
            <a:ext cx="1774189" cy="802005"/>
          </a:xfrm>
          <a:custGeom>
            <a:avLst/>
            <a:gdLst/>
            <a:ahLst/>
            <a:cxnLst/>
            <a:rect l="l" t="t" r="r" b="b"/>
            <a:pathLst>
              <a:path w="1774189" h="802004">
                <a:moveTo>
                  <a:pt x="1713230" y="0"/>
                </a:moveTo>
                <a:lnTo>
                  <a:pt x="60706" y="0"/>
                </a:lnTo>
                <a:lnTo>
                  <a:pt x="37076" y="4770"/>
                </a:lnTo>
                <a:lnTo>
                  <a:pt x="17779" y="17779"/>
                </a:lnTo>
                <a:lnTo>
                  <a:pt x="4770" y="37076"/>
                </a:lnTo>
                <a:lnTo>
                  <a:pt x="0" y="60705"/>
                </a:lnTo>
                <a:lnTo>
                  <a:pt x="0" y="740905"/>
                </a:lnTo>
                <a:lnTo>
                  <a:pt x="4770" y="764542"/>
                </a:lnTo>
                <a:lnTo>
                  <a:pt x="17780" y="783842"/>
                </a:lnTo>
                <a:lnTo>
                  <a:pt x="37076" y="796853"/>
                </a:lnTo>
                <a:lnTo>
                  <a:pt x="60706" y="801623"/>
                </a:lnTo>
                <a:lnTo>
                  <a:pt x="1713230" y="801623"/>
                </a:lnTo>
                <a:lnTo>
                  <a:pt x="1736859" y="796853"/>
                </a:lnTo>
                <a:lnTo>
                  <a:pt x="1756155" y="783842"/>
                </a:lnTo>
                <a:lnTo>
                  <a:pt x="1769165" y="764542"/>
                </a:lnTo>
                <a:lnTo>
                  <a:pt x="1773935" y="740905"/>
                </a:lnTo>
                <a:lnTo>
                  <a:pt x="1773935" y="60705"/>
                </a:lnTo>
                <a:lnTo>
                  <a:pt x="1769165" y="37076"/>
                </a:lnTo>
                <a:lnTo>
                  <a:pt x="1756155" y="17779"/>
                </a:lnTo>
                <a:lnTo>
                  <a:pt x="1736859" y="4770"/>
                </a:lnTo>
                <a:lnTo>
                  <a:pt x="1713230" y="0"/>
                </a:lnTo>
                <a:close/>
              </a:path>
            </a:pathLst>
          </a:custGeom>
          <a:solidFill>
            <a:srgbClr val="5282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361944" y="3447288"/>
            <a:ext cx="792479" cy="589788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3325367" y="3515867"/>
            <a:ext cx="867156" cy="504444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3418332" y="3503676"/>
            <a:ext cx="661415" cy="458724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2441194" y="3201416"/>
            <a:ext cx="1583690" cy="64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Generic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Connection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Framework</a:t>
            </a:r>
            <a:endParaRPr sz="1200">
              <a:latin typeface="Arial"/>
              <a:cs typeface="Arial"/>
            </a:endParaRPr>
          </a:p>
          <a:p>
            <a:pPr marL="1047750">
              <a:lnSpc>
                <a:spcPct val="100000"/>
              </a:lnSpc>
              <a:spcBef>
                <a:spcPts val="325"/>
              </a:spcBef>
            </a:pPr>
            <a:r>
              <a:rPr sz="1400" b="1" spc="-5" dirty="0">
                <a:solidFill>
                  <a:srgbClr val="252525"/>
                </a:solidFill>
                <a:latin typeface="Arial"/>
                <a:cs typeface="Arial"/>
              </a:rPr>
              <a:t>GCF</a:t>
            </a:r>
            <a:r>
              <a:rPr sz="1400" b="1" spc="-8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7" name="object 11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70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4079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Java ME 8 Key Features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71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415679"/>
            <a:ext cx="5444490" cy="29635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Aligned with Java SE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Language, libraries,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VM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Designed for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embedded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Fully </a:t>
            </a:r>
            <a:r>
              <a:rPr sz="1800" spc="-10" dirty="0">
                <a:latin typeface="Arial"/>
                <a:cs typeface="Arial"/>
              </a:rPr>
              <a:t>headless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operation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Remote </a:t>
            </a:r>
            <a:r>
              <a:rPr sz="1800" spc="-10" dirty="0">
                <a:latin typeface="Arial"/>
                <a:cs typeface="Arial"/>
              </a:rPr>
              <a:t>software </a:t>
            </a:r>
            <a:r>
              <a:rPr sz="1800" spc="-5" dirty="0">
                <a:latin typeface="Arial"/>
                <a:cs typeface="Arial"/>
              </a:rPr>
              <a:t>provisioning and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management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Highly portable and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scalable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5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Minimum RAM footprint of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1Mb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Consistent across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devices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4079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Java ME 8 Key Features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72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415679"/>
            <a:ext cx="7029450" cy="299402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Advanced application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platform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Multi-application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Modularised software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services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Faster and </a:t>
            </a:r>
            <a:r>
              <a:rPr sz="1800" dirty="0">
                <a:latin typeface="Arial"/>
                <a:cs typeface="Arial"/>
              </a:rPr>
              <a:t>more </a:t>
            </a:r>
            <a:r>
              <a:rPr sz="1800" spc="-5" dirty="0">
                <a:latin typeface="Arial"/>
                <a:cs typeface="Arial"/>
              </a:rPr>
              <a:t>flexible </a:t>
            </a:r>
            <a:r>
              <a:rPr sz="1800" spc="-10" dirty="0">
                <a:latin typeface="Arial"/>
                <a:cs typeface="Arial"/>
              </a:rPr>
              <a:t>software development and</a:t>
            </a:r>
            <a:r>
              <a:rPr sz="1800" spc="1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deployment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Multi-client </a:t>
            </a:r>
            <a:r>
              <a:rPr sz="2000" spc="-5" dirty="0">
                <a:latin typeface="Arial"/>
                <a:cs typeface="Arial"/>
              </a:rPr>
              <a:t>domains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(“partitioning”)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5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10" dirty="0">
                <a:latin typeface="Arial"/>
                <a:cs typeface="Arial"/>
              </a:rPr>
              <a:t>Different </a:t>
            </a:r>
            <a:r>
              <a:rPr sz="1800" spc="-5" dirty="0">
                <a:latin typeface="Arial"/>
                <a:cs typeface="Arial"/>
              </a:rPr>
              <a:t>clients can have </a:t>
            </a:r>
            <a:r>
              <a:rPr sz="1800" spc="-10" dirty="0">
                <a:latin typeface="Arial"/>
                <a:cs typeface="Arial"/>
              </a:rPr>
              <a:t>different </a:t>
            </a:r>
            <a:r>
              <a:rPr sz="1800" spc="-5" dirty="0">
                <a:latin typeface="Arial"/>
                <a:cs typeface="Arial"/>
              </a:rPr>
              <a:t>security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domains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Access to peripheral devices (Device </a:t>
            </a:r>
            <a:r>
              <a:rPr sz="2000" spc="-5" dirty="0">
                <a:latin typeface="Arial"/>
                <a:cs typeface="Arial"/>
              </a:rPr>
              <a:t>I/O</a:t>
            </a:r>
            <a:r>
              <a:rPr sz="2000" spc="-229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API)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Compatible with JCP/JSR standard</a:t>
            </a:r>
            <a:r>
              <a:rPr sz="2000" spc="-18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APIs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1414272"/>
            <a:ext cx="5670804" cy="5303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7804" y="1415796"/>
            <a:ext cx="3646932" cy="5684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4672" y="1434083"/>
            <a:ext cx="5585460" cy="4450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2000" y="1914144"/>
            <a:ext cx="5670804" cy="5303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17804" y="1915667"/>
            <a:ext cx="2936747" cy="5669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4672" y="1933955"/>
            <a:ext cx="5585460" cy="44500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2000" y="2414016"/>
            <a:ext cx="5670804" cy="52882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7804" y="2414016"/>
            <a:ext cx="3311652" cy="56845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4672" y="2433827"/>
            <a:ext cx="5585460" cy="44348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2000" y="2912364"/>
            <a:ext cx="5670804" cy="5303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7804" y="2913888"/>
            <a:ext cx="5213604" cy="56845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4672" y="2932176"/>
            <a:ext cx="5585460" cy="44500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62000" y="3412235"/>
            <a:ext cx="5670804" cy="5303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7804" y="3413759"/>
            <a:ext cx="4437888" cy="56692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04672" y="3432047"/>
            <a:ext cx="5585460" cy="44500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62000" y="3910584"/>
            <a:ext cx="5670804" cy="5303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7804" y="3912108"/>
            <a:ext cx="5615940" cy="56845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04672" y="3930396"/>
            <a:ext cx="5585460" cy="44500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86460" y="1477136"/>
            <a:ext cx="5280025" cy="2811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Language Alignment 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with SE</a:t>
            </a:r>
            <a:r>
              <a:rPr sz="19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VM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Alignment 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with SE</a:t>
            </a:r>
            <a:r>
              <a:rPr sz="19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Library Alignment 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19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Compact Configuration for very small</a:t>
            </a:r>
            <a:r>
              <a:rPr sz="19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devices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GCF 8 to provides flexible</a:t>
            </a:r>
            <a:r>
              <a:rPr sz="19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networking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Developer leverage of tools, APIs and</a:t>
            </a:r>
            <a:r>
              <a:rPr sz="19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endParaRPr sz="19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720280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Connected Limited Device Configuration</a:t>
            </a:r>
            <a:r>
              <a:rPr spc="100" dirty="0"/>
              <a:t> </a:t>
            </a:r>
            <a:r>
              <a:rPr spc="-5" dirty="0"/>
              <a:t>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CLDC 8 </a:t>
            </a: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Key</a:t>
            </a:r>
            <a:r>
              <a:rPr sz="2000" b="0" spc="-2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Features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07835" y="1911095"/>
            <a:ext cx="2257043" cy="21031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73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165377"/>
            <a:ext cx="2757170" cy="35471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00"/>
              </a:spcBef>
              <a:buClr>
                <a:srgbClr val="5282A0"/>
              </a:buClr>
              <a:buSzPct val="84375"/>
              <a:buFont typeface="Wingdings"/>
              <a:buChar char=""/>
              <a:tabLst>
                <a:tab pos="180340" algn="l"/>
              </a:tabLst>
            </a:pPr>
            <a:r>
              <a:rPr sz="1600" spc="-5" dirty="0">
                <a:latin typeface="Arial"/>
                <a:cs typeface="Arial"/>
              </a:rPr>
              <a:t>SecureServerConnection</a:t>
            </a:r>
            <a:endParaRPr sz="16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4375"/>
              <a:buFont typeface="Wingdings"/>
              <a:buChar char=""/>
              <a:tabLst>
                <a:tab pos="180340" algn="l"/>
              </a:tabLst>
            </a:pPr>
            <a:r>
              <a:rPr sz="1600" spc="-5" dirty="0">
                <a:latin typeface="Arial"/>
                <a:cs typeface="Arial"/>
              </a:rPr>
              <a:t>SecureDatagramConnection</a:t>
            </a:r>
            <a:endParaRPr sz="16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4375"/>
              <a:buFont typeface="Wingdings"/>
              <a:buChar char=""/>
              <a:tabLst>
                <a:tab pos="180340" algn="l"/>
              </a:tabLst>
            </a:pPr>
            <a:r>
              <a:rPr sz="1600" spc="-5" dirty="0">
                <a:latin typeface="Arial"/>
                <a:cs typeface="Arial"/>
              </a:rPr>
              <a:t>ModemConnection</a:t>
            </a:r>
            <a:endParaRPr sz="16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4375"/>
              <a:buFont typeface="Wingdings"/>
              <a:buChar char=""/>
              <a:tabLst>
                <a:tab pos="180340" algn="l"/>
              </a:tabLst>
            </a:pPr>
            <a:r>
              <a:rPr sz="1600" spc="-5" dirty="0">
                <a:latin typeface="Arial"/>
                <a:cs typeface="Arial"/>
              </a:rPr>
              <a:t>UDPMulticastConnection</a:t>
            </a:r>
            <a:endParaRPr sz="16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4375"/>
              <a:buFont typeface="Wingdings"/>
              <a:buChar char=""/>
              <a:tabLst>
                <a:tab pos="180340" algn="l"/>
              </a:tabLst>
            </a:pPr>
            <a:r>
              <a:rPr sz="1600" spc="-5" dirty="0">
                <a:latin typeface="Arial"/>
                <a:cs typeface="Arial"/>
              </a:rPr>
              <a:t>CommConnection</a:t>
            </a:r>
            <a:endParaRPr sz="16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4375"/>
              <a:buFont typeface="Wingdings"/>
              <a:buChar char=""/>
              <a:tabLst>
                <a:tab pos="180340" algn="l"/>
              </a:tabLst>
            </a:pPr>
            <a:r>
              <a:rPr sz="1600" spc="-5" dirty="0">
                <a:latin typeface="Arial"/>
                <a:cs typeface="Arial"/>
              </a:rPr>
              <a:t>HttpConnection</a:t>
            </a:r>
            <a:endParaRPr sz="16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5"/>
              </a:spcBef>
              <a:buClr>
                <a:srgbClr val="5282A0"/>
              </a:buClr>
              <a:buSzPct val="84375"/>
              <a:buFont typeface="Wingdings"/>
              <a:buChar char=""/>
              <a:tabLst>
                <a:tab pos="180340" algn="l"/>
              </a:tabLst>
            </a:pPr>
            <a:r>
              <a:rPr sz="1600" spc="-5" dirty="0">
                <a:latin typeface="Arial"/>
                <a:cs typeface="Arial"/>
              </a:rPr>
              <a:t>HttpsConnection</a:t>
            </a:r>
            <a:endParaRPr sz="16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4375"/>
              <a:buFont typeface="Wingdings"/>
              <a:buChar char=""/>
              <a:tabLst>
                <a:tab pos="180340" algn="l"/>
              </a:tabLst>
            </a:pPr>
            <a:r>
              <a:rPr sz="1600" spc="-5" dirty="0">
                <a:latin typeface="Arial"/>
                <a:cs typeface="Arial"/>
              </a:rPr>
              <a:t>SecureConnection</a:t>
            </a:r>
            <a:endParaRPr sz="16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4375"/>
              <a:buFont typeface="Wingdings"/>
              <a:buChar char=""/>
              <a:tabLst>
                <a:tab pos="180340" algn="l"/>
              </a:tabLst>
            </a:pPr>
            <a:r>
              <a:rPr sz="1600" spc="-5" dirty="0">
                <a:latin typeface="Arial"/>
                <a:cs typeface="Arial"/>
              </a:rPr>
              <a:t>ServerSocketConnection</a:t>
            </a:r>
            <a:endParaRPr sz="16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4375"/>
              <a:buFont typeface="Wingdings"/>
              <a:buChar char=""/>
              <a:tabLst>
                <a:tab pos="180340" algn="l"/>
              </a:tabLst>
            </a:pPr>
            <a:r>
              <a:rPr sz="1600" spc="-5" dirty="0">
                <a:latin typeface="Arial"/>
                <a:cs typeface="Arial"/>
              </a:rPr>
              <a:t>SocketConnection</a:t>
            </a:r>
            <a:endParaRPr sz="16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4375"/>
              <a:buFont typeface="Wingdings"/>
              <a:buChar char=""/>
              <a:tabLst>
                <a:tab pos="180340" algn="l"/>
              </a:tabLst>
            </a:pPr>
            <a:r>
              <a:rPr sz="1600" spc="-5" dirty="0">
                <a:latin typeface="Arial"/>
                <a:cs typeface="Arial"/>
              </a:rPr>
              <a:t>UDPDatagramConnection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74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5849620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Generic Connection Framework</a:t>
            </a:r>
            <a:r>
              <a:rPr spc="50" dirty="0"/>
              <a:t> </a:t>
            </a:r>
            <a:r>
              <a:rPr spc="-5" dirty="0"/>
              <a:t>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Substantially </a:t>
            </a: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Increased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Range of Connection</a:t>
            </a:r>
            <a:r>
              <a:rPr sz="2000" b="0" spc="-160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spc="-20" dirty="0">
                <a:solidFill>
                  <a:srgbClr val="5282A0"/>
                </a:solidFill>
                <a:latin typeface="Arial"/>
                <a:cs typeface="Arial"/>
              </a:rPr>
              <a:t>Types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8368" y="1720595"/>
            <a:ext cx="7424928" cy="30053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84149"/>
            <a:ext cx="62134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Java ME Embedded Profile (MEEP)</a:t>
            </a:r>
            <a:r>
              <a:rPr spc="50" dirty="0"/>
              <a:t> </a:t>
            </a:r>
            <a:r>
              <a:rPr spc="-5" dirty="0"/>
              <a:t>8</a:t>
            </a:r>
          </a:p>
        </p:txBody>
      </p:sp>
      <p:sp>
        <p:nvSpPr>
          <p:cNvPr id="7" name="object 7"/>
          <p:cNvSpPr/>
          <p:nvPr/>
        </p:nvSpPr>
        <p:spPr>
          <a:xfrm>
            <a:off x="1635251" y="4163567"/>
            <a:ext cx="6085332" cy="5623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36796" y="4259681"/>
            <a:ext cx="6680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006FC0"/>
                </a:solidFill>
                <a:latin typeface="Arial"/>
                <a:cs typeface="Arial"/>
              </a:rPr>
              <a:t>CLDC</a:t>
            </a:r>
            <a:r>
              <a:rPr sz="1400" b="1" spc="-1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04772" y="3075432"/>
            <a:ext cx="1275588" cy="121462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42058" y="3392551"/>
            <a:ext cx="983615" cy="53784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065" marR="5080" indent="-635" algn="ctr">
              <a:lnSpc>
                <a:spcPts val="1300"/>
              </a:lnSpc>
              <a:spcBef>
                <a:spcPts val="259"/>
              </a:spcBef>
            </a:pPr>
            <a:r>
              <a:rPr sz="1200" b="1" spc="-10" dirty="0">
                <a:solidFill>
                  <a:srgbClr val="006FC0"/>
                </a:solidFill>
                <a:latin typeface="Arial"/>
                <a:cs typeface="Arial"/>
              </a:rPr>
              <a:t>javax.  </a:t>
            </a: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mi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roe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dition.  midlet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86470" y="2695448"/>
            <a:ext cx="866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NEW  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1400" b="1" spc="-15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89191" y="3054095"/>
            <a:ext cx="1277112" cy="12146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27621" y="3288919"/>
            <a:ext cx="983615" cy="70231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-635" algn="ctr">
              <a:lnSpc>
                <a:spcPts val="1300"/>
              </a:lnSpc>
              <a:spcBef>
                <a:spcPts val="259"/>
              </a:spcBef>
            </a:pPr>
            <a:r>
              <a:rPr sz="1200" b="1" spc="-10" dirty="0">
                <a:solidFill>
                  <a:srgbClr val="006FC0"/>
                </a:solidFill>
                <a:latin typeface="Arial"/>
                <a:cs typeface="Arial"/>
              </a:rPr>
              <a:t>javax.  </a:t>
            </a: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mi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roe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dition.  io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ts val="1270"/>
              </a:lnSpc>
            </a:pP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(optional)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43171" y="3054095"/>
            <a:ext cx="1275588" cy="121462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80713" y="3288919"/>
            <a:ext cx="983615" cy="70231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-635" algn="ctr">
              <a:lnSpc>
                <a:spcPts val="1300"/>
              </a:lnSpc>
              <a:spcBef>
                <a:spcPts val="259"/>
              </a:spcBef>
            </a:pPr>
            <a:r>
              <a:rPr sz="1200" b="1" spc="-10" dirty="0">
                <a:solidFill>
                  <a:srgbClr val="FF0000"/>
                </a:solidFill>
                <a:latin typeface="Arial"/>
                <a:cs typeface="Arial"/>
              </a:rPr>
              <a:t>javax. 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mi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roe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dition. 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event  (optional)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29455" y="1865376"/>
            <a:ext cx="1277112" cy="1213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167378" y="2098675"/>
            <a:ext cx="984250" cy="70231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algn="ctr">
              <a:lnSpc>
                <a:spcPct val="90000"/>
              </a:lnSpc>
              <a:spcBef>
                <a:spcPts val="240"/>
              </a:spcBef>
            </a:pPr>
            <a:r>
              <a:rPr sz="1200" b="1" spc="-10" dirty="0">
                <a:solidFill>
                  <a:srgbClr val="FF0000"/>
                </a:solidFill>
                <a:latin typeface="Arial"/>
                <a:cs typeface="Arial"/>
              </a:rPr>
              <a:t>javax. 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microedi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ion. 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key    (optional)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259323" y="1865376"/>
            <a:ext cx="1277112" cy="12131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397753" y="2098675"/>
            <a:ext cx="984250" cy="70231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-1270" algn="ctr">
              <a:lnSpc>
                <a:spcPts val="1300"/>
              </a:lnSpc>
              <a:spcBef>
                <a:spcPts val="259"/>
              </a:spcBef>
            </a:pPr>
            <a:r>
              <a:rPr sz="1200" b="1" spc="-10" dirty="0">
                <a:solidFill>
                  <a:srgbClr val="FF0000"/>
                </a:solidFill>
                <a:latin typeface="Arial"/>
                <a:cs typeface="Arial"/>
              </a:rPr>
              <a:t>javax. 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microedi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ion.  lui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ts val="127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(optional)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85872" y="1877567"/>
            <a:ext cx="1277112" cy="121462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924048" y="2112010"/>
            <a:ext cx="983615" cy="7029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065" marR="5080" indent="-635" algn="ctr">
              <a:lnSpc>
                <a:spcPct val="90100"/>
              </a:lnSpc>
              <a:spcBef>
                <a:spcPts val="240"/>
              </a:spcBef>
            </a:pPr>
            <a:r>
              <a:rPr sz="1200" b="1" spc="-10" dirty="0">
                <a:solidFill>
                  <a:srgbClr val="006FC0"/>
                </a:solidFill>
                <a:latin typeface="Arial"/>
                <a:cs typeface="Arial"/>
              </a:rPr>
              <a:t>javax.  </a:t>
            </a: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mi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roe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dition.  media  </a:t>
            </a: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(optional)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286755" y="3054095"/>
            <a:ext cx="1275588" cy="121462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424296" y="3288919"/>
            <a:ext cx="983615" cy="70231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065" marR="5080" indent="-635" algn="ctr">
              <a:lnSpc>
                <a:spcPts val="1300"/>
              </a:lnSpc>
              <a:spcBef>
                <a:spcPts val="259"/>
              </a:spcBef>
            </a:pPr>
            <a:r>
              <a:rPr sz="1200" b="1" spc="-10" dirty="0">
                <a:solidFill>
                  <a:srgbClr val="FF0000"/>
                </a:solidFill>
                <a:latin typeface="Arial"/>
                <a:cs typeface="Arial"/>
              </a:rPr>
              <a:t>javax. 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mi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roe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dition.  power 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(optional)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56003" y="1891283"/>
            <a:ext cx="1277111" cy="121462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693926" y="2125472"/>
            <a:ext cx="983615" cy="70231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-635" algn="ctr">
              <a:lnSpc>
                <a:spcPts val="1300"/>
              </a:lnSpc>
              <a:spcBef>
                <a:spcPts val="259"/>
              </a:spcBef>
            </a:pPr>
            <a:r>
              <a:rPr sz="1200" b="1" spc="-10" dirty="0">
                <a:solidFill>
                  <a:srgbClr val="006FC0"/>
                </a:solidFill>
                <a:latin typeface="Arial"/>
                <a:cs typeface="Arial"/>
              </a:rPr>
              <a:t>javax.  </a:t>
            </a: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mi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roe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dition.  </a:t>
            </a: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rms   (optional)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813304" y="3067811"/>
            <a:ext cx="1275588" cy="121462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950591" y="3302254"/>
            <a:ext cx="983615" cy="70231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065" marR="5080" algn="ctr">
              <a:lnSpc>
                <a:spcPts val="1300"/>
              </a:lnSpc>
              <a:spcBef>
                <a:spcPts val="259"/>
              </a:spcBef>
            </a:pPr>
            <a:r>
              <a:rPr sz="1200" b="1" spc="-10" dirty="0">
                <a:solidFill>
                  <a:srgbClr val="FF0000"/>
                </a:solidFill>
                <a:latin typeface="Arial"/>
                <a:cs typeface="Arial"/>
              </a:rPr>
              <a:t>javax. 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mi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roe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dition.  </a:t>
            </a:r>
            <a:r>
              <a:rPr sz="1200" b="1" spc="0" dirty="0">
                <a:solidFill>
                  <a:srgbClr val="FF0000"/>
                </a:solidFill>
                <a:latin typeface="Arial"/>
                <a:cs typeface="Arial"/>
              </a:rPr>
              <a:t>swm 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(optional)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481571" y="1856232"/>
            <a:ext cx="1275587" cy="121462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619747" y="2090673"/>
            <a:ext cx="983615" cy="70231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-635" algn="ctr">
              <a:lnSpc>
                <a:spcPts val="1300"/>
              </a:lnSpc>
              <a:spcBef>
                <a:spcPts val="259"/>
              </a:spcBef>
            </a:pPr>
            <a:r>
              <a:rPr sz="1200" b="1" spc="-10" dirty="0">
                <a:solidFill>
                  <a:srgbClr val="FF0000"/>
                </a:solidFill>
                <a:latin typeface="Arial"/>
                <a:cs typeface="Arial"/>
              </a:rPr>
              <a:t>javax. 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mi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roe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dition. 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cellular  (optional)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98219" y="1412747"/>
            <a:ext cx="6687311" cy="45415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39011" y="1167383"/>
            <a:ext cx="6687311" cy="45415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82852" y="902208"/>
            <a:ext cx="6685788" cy="45415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91667" y="532998"/>
            <a:ext cx="4771390" cy="164846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000" dirty="0">
                <a:solidFill>
                  <a:srgbClr val="5282A0"/>
                </a:solidFill>
                <a:latin typeface="Arial"/>
                <a:cs typeface="Arial"/>
              </a:rPr>
              <a:t>Architecture</a:t>
            </a:r>
            <a:endParaRPr sz="2000">
              <a:latin typeface="Arial"/>
              <a:cs typeface="Arial"/>
            </a:endParaRPr>
          </a:p>
          <a:p>
            <a:pPr marL="3289935">
              <a:lnSpc>
                <a:spcPct val="100000"/>
              </a:lnSpc>
              <a:spcBef>
                <a:spcPts val="450"/>
              </a:spcBef>
            </a:pPr>
            <a:r>
              <a:rPr sz="1200" spc="-5" dirty="0">
                <a:latin typeface="Arial"/>
                <a:cs typeface="Arial"/>
              </a:rPr>
              <a:t>Application or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Service</a:t>
            </a:r>
            <a:endParaRPr sz="1200">
              <a:latin typeface="Arial"/>
              <a:cs typeface="Arial"/>
            </a:endParaRPr>
          </a:p>
          <a:p>
            <a:pPr marL="2806700" marR="247650" indent="240665">
              <a:lnSpc>
                <a:spcPct val="134200"/>
              </a:lnSpc>
              <a:spcBef>
                <a:spcPts val="150"/>
              </a:spcBef>
            </a:pPr>
            <a:r>
              <a:rPr sz="1200" spc="-5" dirty="0">
                <a:latin typeface="Arial"/>
                <a:cs typeface="Arial"/>
              </a:rPr>
              <a:t>Application or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Service  Application or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Service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Times New Roman"/>
              <a:cs typeface="Times New Roman"/>
            </a:endParaRPr>
          </a:p>
          <a:p>
            <a:pPr marL="75565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MEEP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75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00115" y="0"/>
            <a:ext cx="3643884" cy="47685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0143" y="1507998"/>
            <a:ext cx="3206750" cy="835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spc="-5" dirty="0"/>
              <a:t>NetBeans</a:t>
            </a:r>
            <a:r>
              <a:rPr spc="25" dirty="0"/>
              <a:t> </a:t>
            </a:r>
            <a:r>
              <a:rPr spc="-5" dirty="0"/>
              <a:t>8:</a:t>
            </a:r>
          </a:p>
          <a:p>
            <a:pPr marL="12700">
              <a:lnSpc>
                <a:spcPts val="3190"/>
              </a:lnSpc>
            </a:pPr>
            <a:r>
              <a:rPr spc="-10" dirty="0"/>
              <a:t>The </a:t>
            </a:r>
            <a:r>
              <a:rPr spc="-5" dirty="0"/>
              <a:t>IDE </a:t>
            </a:r>
            <a:r>
              <a:rPr spc="-10" dirty="0"/>
              <a:t>For </a:t>
            </a:r>
            <a:r>
              <a:rPr spc="-5" dirty="0"/>
              <a:t>Java</a:t>
            </a:r>
            <a:r>
              <a:rPr dirty="0"/>
              <a:t> </a:t>
            </a:r>
            <a:r>
              <a:rPr spc="-5" dirty="0"/>
              <a:t>8</a:t>
            </a:r>
          </a:p>
        </p:txBody>
      </p:sp>
      <p:sp>
        <p:nvSpPr>
          <p:cNvPr id="4" name="object 4"/>
          <p:cNvSpPr/>
          <p:nvPr/>
        </p:nvSpPr>
        <p:spPr>
          <a:xfrm>
            <a:off x="5715000" y="0"/>
            <a:ext cx="3429000" cy="46314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76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501851"/>
            <a:ext cx="1935480" cy="1551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Quickly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convert  anonymous  inner</a:t>
            </a:r>
            <a:endParaRPr sz="20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classes</a:t>
            </a:r>
            <a:endParaRPr sz="20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to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lambdas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328231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0" dirty="0"/>
              <a:t>Tools </a:t>
            </a:r>
            <a:r>
              <a:rPr spc="-5" dirty="0"/>
              <a:t>for Java SE</a:t>
            </a:r>
            <a:r>
              <a:rPr spc="50" dirty="0"/>
              <a:t> </a:t>
            </a:r>
            <a:r>
              <a:rPr spc="-5" dirty="0"/>
              <a:t>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Lambda</a:t>
            </a:r>
            <a:r>
              <a:rPr sz="2000" b="0" spc="-3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Expressions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85971" y="833627"/>
            <a:ext cx="5020056" cy="13807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76828" y="2429255"/>
            <a:ext cx="4686675" cy="8001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76828" y="3400044"/>
            <a:ext cx="5439156" cy="12832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47104" y="1173479"/>
            <a:ext cx="1423416" cy="18684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89394" y="1196339"/>
            <a:ext cx="1053465" cy="1498600"/>
          </a:xfrm>
          <a:custGeom>
            <a:avLst/>
            <a:gdLst/>
            <a:ahLst/>
            <a:cxnLst/>
            <a:rect l="l" t="t" r="r" b="b"/>
            <a:pathLst>
              <a:path w="1053465" h="1498600">
                <a:moveTo>
                  <a:pt x="816838" y="1320204"/>
                </a:moveTo>
                <a:lnTo>
                  <a:pt x="804719" y="1322101"/>
                </a:lnTo>
                <a:lnTo>
                  <a:pt x="794196" y="1328427"/>
                </a:lnTo>
                <a:lnTo>
                  <a:pt x="786637" y="1338707"/>
                </a:lnTo>
                <a:lnTo>
                  <a:pt x="783701" y="1351049"/>
                </a:lnTo>
                <a:lnTo>
                  <a:pt x="785621" y="1363154"/>
                </a:lnTo>
                <a:lnTo>
                  <a:pt x="791924" y="1373639"/>
                </a:lnTo>
                <a:lnTo>
                  <a:pt x="802131" y="1381125"/>
                </a:lnTo>
                <a:lnTo>
                  <a:pt x="1053464" y="1498219"/>
                </a:lnTo>
                <a:lnTo>
                  <a:pt x="1050784" y="1464310"/>
                </a:lnTo>
                <a:lnTo>
                  <a:pt x="990853" y="1464310"/>
                </a:lnTo>
                <a:lnTo>
                  <a:pt x="923370" y="1367072"/>
                </a:lnTo>
                <a:lnTo>
                  <a:pt x="829182" y="1323213"/>
                </a:lnTo>
                <a:lnTo>
                  <a:pt x="816838" y="1320204"/>
                </a:lnTo>
                <a:close/>
              </a:path>
              <a:path w="1053465" h="1498600">
                <a:moveTo>
                  <a:pt x="923370" y="1367072"/>
                </a:moveTo>
                <a:lnTo>
                  <a:pt x="990853" y="1464310"/>
                </a:lnTo>
                <a:lnTo>
                  <a:pt x="1013625" y="1448562"/>
                </a:lnTo>
                <a:lnTo>
                  <a:pt x="985265" y="1448562"/>
                </a:lnTo>
                <a:lnTo>
                  <a:pt x="980974" y="1393895"/>
                </a:lnTo>
                <a:lnTo>
                  <a:pt x="923370" y="1367072"/>
                </a:lnTo>
                <a:close/>
              </a:path>
              <a:path w="1053465" h="1498600">
                <a:moveTo>
                  <a:pt x="997203" y="1192530"/>
                </a:moveTo>
                <a:lnTo>
                  <a:pt x="984976" y="1196014"/>
                </a:lnTo>
                <a:lnTo>
                  <a:pt x="975391" y="1203642"/>
                </a:lnTo>
                <a:lnTo>
                  <a:pt x="969379" y="1214318"/>
                </a:lnTo>
                <a:lnTo>
                  <a:pt x="967866" y="1226947"/>
                </a:lnTo>
                <a:lnTo>
                  <a:pt x="975998" y="1330515"/>
                </a:lnTo>
                <a:lnTo>
                  <a:pt x="1043558" y="1427861"/>
                </a:lnTo>
                <a:lnTo>
                  <a:pt x="990853" y="1464310"/>
                </a:lnTo>
                <a:lnTo>
                  <a:pt x="1050784" y="1464310"/>
                </a:lnTo>
                <a:lnTo>
                  <a:pt x="1031621" y="1221867"/>
                </a:lnTo>
                <a:lnTo>
                  <a:pt x="1028136" y="1209692"/>
                </a:lnTo>
                <a:lnTo>
                  <a:pt x="1020508" y="1200102"/>
                </a:lnTo>
                <a:lnTo>
                  <a:pt x="1009832" y="1194059"/>
                </a:lnTo>
                <a:lnTo>
                  <a:pt x="997203" y="1192530"/>
                </a:lnTo>
                <a:close/>
              </a:path>
              <a:path w="1053465" h="1498600">
                <a:moveTo>
                  <a:pt x="980974" y="1393895"/>
                </a:moveTo>
                <a:lnTo>
                  <a:pt x="985265" y="1448562"/>
                </a:lnTo>
                <a:lnTo>
                  <a:pt x="1030731" y="1417066"/>
                </a:lnTo>
                <a:lnTo>
                  <a:pt x="980974" y="1393895"/>
                </a:lnTo>
                <a:close/>
              </a:path>
              <a:path w="1053465" h="1498600">
                <a:moveTo>
                  <a:pt x="975998" y="1330515"/>
                </a:moveTo>
                <a:lnTo>
                  <a:pt x="980974" y="1393895"/>
                </a:lnTo>
                <a:lnTo>
                  <a:pt x="1030731" y="1417066"/>
                </a:lnTo>
                <a:lnTo>
                  <a:pt x="985265" y="1448562"/>
                </a:lnTo>
                <a:lnTo>
                  <a:pt x="1013625" y="1448562"/>
                </a:lnTo>
                <a:lnTo>
                  <a:pt x="1043558" y="1427861"/>
                </a:lnTo>
                <a:lnTo>
                  <a:pt x="975998" y="1330515"/>
                </a:lnTo>
                <a:close/>
              </a:path>
              <a:path w="1053465" h="1498600">
                <a:moveTo>
                  <a:pt x="52577" y="0"/>
                </a:moveTo>
                <a:lnTo>
                  <a:pt x="0" y="36575"/>
                </a:lnTo>
                <a:lnTo>
                  <a:pt x="923370" y="1367072"/>
                </a:lnTo>
                <a:lnTo>
                  <a:pt x="980974" y="1393895"/>
                </a:lnTo>
                <a:lnTo>
                  <a:pt x="975998" y="1330515"/>
                </a:lnTo>
                <a:lnTo>
                  <a:pt x="5257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77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501851"/>
            <a:ext cx="2442210" cy="1856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340" marR="614045" indent="-167640">
              <a:lnSpc>
                <a:spcPct val="100000"/>
              </a:lnSpc>
              <a:spcBef>
                <a:spcPts val="10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Static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to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ensure</a:t>
            </a:r>
            <a:endParaRPr sz="20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safe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transformation,</a:t>
            </a:r>
            <a:endParaRPr sz="20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automatically</a:t>
            </a:r>
            <a:endParaRPr sz="20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add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cast</a:t>
            </a:r>
            <a:endParaRPr sz="20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for correct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type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328231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0" dirty="0"/>
              <a:t>Tools </a:t>
            </a:r>
            <a:r>
              <a:rPr spc="-5" dirty="0"/>
              <a:t>for Java SE</a:t>
            </a:r>
            <a:r>
              <a:rPr spc="50" dirty="0"/>
              <a:t> </a:t>
            </a:r>
            <a:r>
              <a:rPr spc="-5" dirty="0"/>
              <a:t>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Lambda</a:t>
            </a:r>
            <a:r>
              <a:rPr sz="2000" b="0" spc="-3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Expressions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22320" y="3276600"/>
            <a:ext cx="5597652" cy="14295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07308" y="627887"/>
            <a:ext cx="4727313" cy="25054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96611" y="1132332"/>
            <a:ext cx="1668780" cy="28041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11826" y="1155572"/>
            <a:ext cx="1311275" cy="2433955"/>
          </a:xfrm>
          <a:custGeom>
            <a:avLst/>
            <a:gdLst/>
            <a:ahLst/>
            <a:cxnLst/>
            <a:rect l="l" t="t" r="r" b="b"/>
            <a:pathLst>
              <a:path w="1311275" h="2433954">
                <a:moveTo>
                  <a:pt x="30607" y="2123185"/>
                </a:moveTo>
                <a:lnTo>
                  <a:pt x="18270" y="2126243"/>
                </a:lnTo>
                <a:lnTo>
                  <a:pt x="8397" y="2133552"/>
                </a:lnTo>
                <a:lnTo>
                  <a:pt x="1978" y="2144027"/>
                </a:lnTo>
                <a:lnTo>
                  <a:pt x="0" y="2156587"/>
                </a:lnTo>
                <a:lnTo>
                  <a:pt x="12319" y="2433447"/>
                </a:lnTo>
                <a:lnTo>
                  <a:pt x="78316" y="2392172"/>
                </a:lnTo>
                <a:lnTo>
                  <a:pt x="70231" y="2392172"/>
                </a:lnTo>
                <a:lnTo>
                  <a:pt x="13588" y="2362454"/>
                </a:lnTo>
                <a:lnTo>
                  <a:pt x="68640" y="2257614"/>
                </a:lnTo>
                <a:lnTo>
                  <a:pt x="64008" y="2153793"/>
                </a:lnTo>
                <a:lnTo>
                  <a:pt x="60950" y="2141456"/>
                </a:lnTo>
                <a:lnTo>
                  <a:pt x="53641" y="2131583"/>
                </a:lnTo>
                <a:lnTo>
                  <a:pt x="43166" y="2125164"/>
                </a:lnTo>
                <a:lnTo>
                  <a:pt x="30607" y="2123185"/>
                </a:lnTo>
                <a:close/>
              </a:path>
              <a:path w="1311275" h="2433954">
                <a:moveTo>
                  <a:pt x="68640" y="2257614"/>
                </a:moveTo>
                <a:lnTo>
                  <a:pt x="13588" y="2362454"/>
                </a:lnTo>
                <a:lnTo>
                  <a:pt x="70231" y="2392172"/>
                </a:lnTo>
                <a:lnTo>
                  <a:pt x="78833" y="2375789"/>
                </a:lnTo>
                <a:lnTo>
                  <a:pt x="73913" y="2375789"/>
                </a:lnTo>
                <a:lnTo>
                  <a:pt x="24891" y="2350135"/>
                </a:lnTo>
                <a:lnTo>
                  <a:pt x="71468" y="2320977"/>
                </a:lnTo>
                <a:lnTo>
                  <a:pt x="68640" y="2257614"/>
                </a:lnTo>
                <a:close/>
              </a:path>
              <a:path w="1311275" h="2433954">
                <a:moveTo>
                  <a:pt x="225264" y="2227720"/>
                </a:moveTo>
                <a:lnTo>
                  <a:pt x="213360" y="2232152"/>
                </a:lnTo>
                <a:lnTo>
                  <a:pt x="125316" y="2287268"/>
                </a:lnTo>
                <a:lnTo>
                  <a:pt x="70231" y="2392172"/>
                </a:lnTo>
                <a:lnTo>
                  <a:pt x="78316" y="2392172"/>
                </a:lnTo>
                <a:lnTo>
                  <a:pt x="247269" y="2286508"/>
                </a:lnTo>
                <a:lnTo>
                  <a:pt x="256500" y="2277745"/>
                </a:lnTo>
                <a:lnTo>
                  <a:pt x="261492" y="2266505"/>
                </a:lnTo>
                <a:lnTo>
                  <a:pt x="261913" y="2254218"/>
                </a:lnTo>
                <a:lnTo>
                  <a:pt x="257428" y="2242312"/>
                </a:lnTo>
                <a:lnTo>
                  <a:pt x="248739" y="2233098"/>
                </a:lnTo>
                <a:lnTo>
                  <a:pt x="237537" y="2228135"/>
                </a:lnTo>
                <a:lnTo>
                  <a:pt x="225264" y="2227720"/>
                </a:lnTo>
                <a:close/>
              </a:path>
              <a:path w="1311275" h="2433954">
                <a:moveTo>
                  <a:pt x="71468" y="2320977"/>
                </a:moveTo>
                <a:lnTo>
                  <a:pt x="24891" y="2350135"/>
                </a:lnTo>
                <a:lnTo>
                  <a:pt x="73913" y="2375789"/>
                </a:lnTo>
                <a:lnTo>
                  <a:pt x="71468" y="2320977"/>
                </a:lnTo>
                <a:close/>
              </a:path>
              <a:path w="1311275" h="2433954">
                <a:moveTo>
                  <a:pt x="125316" y="2287268"/>
                </a:moveTo>
                <a:lnTo>
                  <a:pt x="71468" y="2320977"/>
                </a:lnTo>
                <a:lnTo>
                  <a:pt x="73913" y="2375789"/>
                </a:lnTo>
                <a:lnTo>
                  <a:pt x="78833" y="2375789"/>
                </a:lnTo>
                <a:lnTo>
                  <a:pt x="125316" y="2287268"/>
                </a:lnTo>
                <a:close/>
              </a:path>
              <a:path w="1311275" h="2433954">
                <a:moveTo>
                  <a:pt x="1254125" y="0"/>
                </a:moveTo>
                <a:lnTo>
                  <a:pt x="68640" y="2257614"/>
                </a:lnTo>
                <a:lnTo>
                  <a:pt x="71468" y="2320977"/>
                </a:lnTo>
                <a:lnTo>
                  <a:pt x="125316" y="2287268"/>
                </a:lnTo>
                <a:lnTo>
                  <a:pt x="1310767" y="29717"/>
                </a:lnTo>
                <a:lnTo>
                  <a:pt x="12541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78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2264410"/>
            <a:ext cx="213995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Editor support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  functional  operations</a:t>
            </a:r>
            <a:endParaRPr sz="20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over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collections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409892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0" dirty="0"/>
              <a:t>Tools </a:t>
            </a:r>
            <a:r>
              <a:rPr spc="-5" dirty="0"/>
              <a:t>for Java SE</a:t>
            </a:r>
            <a:r>
              <a:rPr spc="75" dirty="0"/>
              <a:t> </a:t>
            </a:r>
            <a:r>
              <a:rPr spc="-5" dirty="0"/>
              <a:t>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Internal </a:t>
            </a: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Iterators via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Java 8</a:t>
            </a:r>
            <a:r>
              <a:rPr sz="2000" b="0" spc="-90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Streams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14731" y="1504207"/>
            <a:ext cx="5249022" cy="27724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66565" y="1657350"/>
            <a:ext cx="3048000" cy="629920"/>
          </a:xfrm>
          <a:custGeom>
            <a:avLst/>
            <a:gdLst/>
            <a:ahLst/>
            <a:cxnLst/>
            <a:rect l="l" t="t" r="r" b="b"/>
            <a:pathLst>
              <a:path w="3048000" h="629919">
                <a:moveTo>
                  <a:pt x="0" y="629412"/>
                </a:moveTo>
                <a:lnTo>
                  <a:pt x="3047999" y="629412"/>
                </a:lnTo>
                <a:lnTo>
                  <a:pt x="3047999" y="0"/>
                </a:lnTo>
                <a:lnTo>
                  <a:pt x="0" y="0"/>
                </a:lnTo>
                <a:lnTo>
                  <a:pt x="0" y="629412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5709" y="2792729"/>
            <a:ext cx="3910965" cy="599440"/>
          </a:xfrm>
          <a:custGeom>
            <a:avLst/>
            <a:gdLst/>
            <a:ahLst/>
            <a:cxnLst/>
            <a:rect l="l" t="t" r="r" b="b"/>
            <a:pathLst>
              <a:path w="3910965" h="599439">
                <a:moveTo>
                  <a:pt x="0" y="598932"/>
                </a:moveTo>
                <a:lnTo>
                  <a:pt x="3910584" y="598932"/>
                </a:lnTo>
                <a:lnTo>
                  <a:pt x="3910584" y="0"/>
                </a:lnTo>
                <a:lnTo>
                  <a:pt x="0" y="0"/>
                </a:lnTo>
                <a:lnTo>
                  <a:pt x="0" y="598932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52850" y="3918965"/>
            <a:ext cx="5126990" cy="256540"/>
          </a:xfrm>
          <a:custGeom>
            <a:avLst/>
            <a:gdLst/>
            <a:ahLst/>
            <a:cxnLst/>
            <a:rect l="l" t="t" r="r" b="b"/>
            <a:pathLst>
              <a:path w="5126990" h="256539">
                <a:moveTo>
                  <a:pt x="0" y="256032"/>
                </a:moveTo>
                <a:lnTo>
                  <a:pt x="5126736" y="256032"/>
                </a:lnTo>
                <a:lnTo>
                  <a:pt x="5126736" y="0"/>
                </a:lnTo>
                <a:lnTo>
                  <a:pt x="0" y="0"/>
                </a:lnTo>
                <a:lnTo>
                  <a:pt x="0" y="256032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26706" y="1771015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79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797165" y="292277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06765" y="423743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2264410"/>
            <a:ext cx="229743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Smoothly convert  to internal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iterators  via hints and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tips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409892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0" dirty="0"/>
              <a:t>Tools </a:t>
            </a:r>
            <a:r>
              <a:rPr spc="-5" dirty="0"/>
              <a:t>for Java SE</a:t>
            </a:r>
            <a:r>
              <a:rPr spc="75" dirty="0"/>
              <a:t> </a:t>
            </a:r>
            <a:r>
              <a:rPr spc="-5" dirty="0"/>
              <a:t>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Internal </a:t>
            </a: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Iterators via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Java 8</a:t>
            </a:r>
            <a:r>
              <a:rPr sz="2000" b="0" spc="-90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Streams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38244" y="1138427"/>
            <a:ext cx="4210798" cy="17434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38244" y="3048000"/>
            <a:ext cx="4276725" cy="15529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23688" y="1679448"/>
            <a:ext cx="1808988" cy="21686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65725" y="1702180"/>
            <a:ext cx="1438910" cy="1798320"/>
          </a:xfrm>
          <a:custGeom>
            <a:avLst/>
            <a:gdLst/>
            <a:ahLst/>
            <a:cxnLst/>
            <a:rect l="l" t="t" r="r" b="b"/>
            <a:pathLst>
              <a:path w="1438909" h="1798320">
                <a:moveTo>
                  <a:pt x="1191037" y="1635720"/>
                </a:moveTo>
                <a:lnTo>
                  <a:pt x="1179068" y="1638427"/>
                </a:lnTo>
                <a:lnTo>
                  <a:pt x="1169003" y="1645419"/>
                </a:lnTo>
                <a:lnTo>
                  <a:pt x="1162177" y="1656080"/>
                </a:lnTo>
                <a:lnTo>
                  <a:pt x="1159960" y="1668623"/>
                </a:lnTo>
                <a:lnTo>
                  <a:pt x="1162637" y="1680606"/>
                </a:lnTo>
                <a:lnTo>
                  <a:pt x="1169624" y="1690709"/>
                </a:lnTo>
                <a:lnTo>
                  <a:pt x="1180338" y="1697609"/>
                </a:lnTo>
                <a:lnTo>
                  <a:pt x="1438655" y="1798066"/>
                </a:lnTo>
                <a:lnTo>
                  <a:pt x="1434345" y="1768221"/>
                </a:lnTo>
                <a:lnTo>
                  <a:pt x="1374140" y="1768221"/>
                </a:lnTo>
                <a:lnTo>
                  <a:pt x="1300562" y="1675677"/>
                </a:lnTo>
                <a:lnTo>
                  <a:pt x="1203578" y="1637919"/>
                </a:lnTo>
                <a:lnTo>
                  <a:pt x="1191037" y="1635720"/>
                </a:lnTo>
                <a:close/>
              </a:path>
              <a:path w="1438909" h="1798320">
                <a:moveTo>
                  <a:pt x="1300562" y="1675677"/>
                </a:moveTo>
                <a:lnTo>
                  <a:pt x="1374140" y="1768221"/>
                </a:lnTo>
                <a:lnTo>
                  <a:pt x="1393323" y="1752981"/>
                </a:lnTo>
                <a:lnTo>
                  <a:pt x="1367408" y="1752981"/>
                </a:lnTo>
                <a:lnTo>
                  <a:pt x="1359571" y="1698651"/>
                </a:lnTo>
                <a:lnTo>
                  <a:pt x="1300562" y="1675677"/>
                </a:lnTo>
                <a:close/>
              </a:path>
              <a:path w="1438909" h="1798320">
                <a:moveTo>
                  <a:pt x="1362709" y="1496695"/>
                </a:moveTo>
                <a:lnTo>
                  <a:pt x="1350785" y="1500957"/>
                </a:lnTo>
                <a:lnTo>
                  <a:pt x="1341707" y="1509172"/>
                </a:lnTo>
                <a:lnTo>
                  <a:pt x="1336367" y="1520197"/>
                </a:lnTo>
                <a:lnTo>
                  <a:pt x="1335659" y="1532890"/>
                </a:lnTo>
                <a:lnTo>
                  <a:pt x="1350504" y="1635799"/>
                </a:lnTo>
                <a:lnTo>
                  <a:pt x="1424177" y="1728470"/>
                </a:lnTo>
                <a:lnTo>
                  <a:pt x="1374140" y="1768221"/>
                </a:lnTo>
                <a:lnTo>
                  <a:pt x="1434345" y="1768221"/>
                </a:lnTo>
                <a:lnTo>
                  <a:pt x="1399031" y="1523746"/>
                </a:lnTo>
                <a:lnTo>
                  <a:pt x="1394749" y="1511768"/>
                </a:lnTo>
                <a:lnTo>
                  <a:pt x="1386490" y="1502695"/>
                </a:lnTo>
                <a:lnTo>
                  <a:pt x="1375421" y="1497385"/>
                </a:lnTo>
                <a:lnTo>
                  <a:pt x="1362709" y="1496695"/>
                </a:lnTo>
                <a:close/>
              </a:path>
              <a:path w="1438909" h="1798320">
                <a:moveTo>
                  <a:pt x="1359571" y="1698651"/>
                </a:moveTo>
                <a:lnTo>
                  <a:pt x="1367408" y="1752981"/>
                </a:lnTo>
                <a:lnTo>
                  <a:pt x="1410716" y="1718564"/>
                </a:lnTo>
                <a:lnTo>
                  <a:pt x="1359571" y="1698651"/>
                </a:lnTo>
                <a:close/>
              </a:path>
              <a:path w="1438909" h="1798320">
                <a:moveTo>
                  <a:pt x="1350504" y="1635799"/>
                </a:moveTo>
                <a:lnTo>
                  <a:pt x="1359571" y="1698651"/>
                </a:lnTo>
                <a:lnTo>
                  <a:pt x="1410716" y="1718564"/>
                </a:lnTo>
                <a:lnTo>
                  <a:pt x="1367408" y="1752981"/>
                </a:lnTo>
                <a:lnTo>
                  <a:pt x="1393323" y="1752981"/>
                </a:lnTo>
                <a:lnTo>
                  <a:pt x="1424177" y="1728470"/>
                </a:lnTo>
                <a:lnTo>
                  <a:pt x="1350504" y="1635799"/>
                </a:lnTo>
                <a:close/>
              </a:path>
              <a:path w="1438909" h="1798320">
                <a:moveTo>
                  <a:pt x="50037" y="0"/>
                </a:moveTo>
                <a:lnTo>
                  <a:pt x="0" y="39878"/>
                </a:lnTo>
                <a:lnTo>
                  <a:pt x="1300562" y="1675677"/>
                </a:lnTo>
                <a:lnTo>
                  <a:pt x="1359571" y="1698651"/>
                </a:lnTo>
                <a:lnTo>
                  <a:pt x="1350504" y="1635799"/>
                </a:lnTo>
                <a:lnTo>
                  <a:pt x="5003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80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2264410"/>
            <a:ext cx="239331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marR="5080" indent="-167640" algn="just">
              <a:lnSpc>
                <a:spcPct val="100000"/>
              </a:lnSpc>
              <a:spcBef>
                <a:spcPts val="1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Quickly add explicit  parameter types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  readability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5722620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0" dirty="0"/>
              <a:t>Tools </a:t>
            </a:r>
            <a:r>
              <a:rPr spc="-5" dirty="0"/>
              <a:t>for Java SE</a:t>
            </a:r>
            <a:r>
              <a:rPr spc="80" dirty="0"/>
              <a:t> </a:t>
            </a:r>
            <a:r>
              <a:rPr spc="-5" dirty="0"/>
              <a:t>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Explicit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Parameter </a:t>
            </a:r>
            <a:r>
              <a:rPr sz="2000" b="0" spc="-20" dirty="0">
                <a:solidFill>
                  <a:srgbClr val="5282A0"/>
                </a:solidFill>
                <a:latin typeface="Arial"/>
                <a:cs typeface="Arial"/>
              </a:rPr>
              <a:t>Types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For Lambda</a:t>
            </a:r>
            <a:r>
              <a:rPr sz="2000" b="0" spc="-12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Expressions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66744" y="1618488"/>
            <a:ext cx="4210811" cy="11445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66744" y="3086100"/>
            <a:ext cx="5145024" cy="11521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22620" y="1937004"/>
            <a:ext cx="690372" cy="17129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66053" y="1959229"/>
            <a:ext cx="406400" cy="1343660"/>
          </a:xfrm>
          <a:custGeom>
            <a:avLst/>
            <a:gdLst/>
            <a:ahLst/>
            <a:cxnLst/>
            <a:rect l="l" t="t" r="r" b="b"/>
            <a:pathLst>
              <a:path w="406400" h="1343660">
                <a:moveTo>
                  <a:pt x="156638" y="1084849"/>
                </a:moveTo>
                <a:lnTo>
                  <a:pt x="144508" y="1086657"/>
                </a:lnTo>
                <a:lnTo>
                  <a:pt x="133604" y="1093215"/>
                </a:lnTo>
                <a:lnTo>
                  <a:pt x="126089" y="1103477"/>
                </a:lnTo>
                <a:lnTo>
                  <a:pt x="123205" y="1115393"/>
                </a:lnTo>
                <a:lnTo>
                  <a:pt x="125013" y="1127523"/>
                </a:lnTo>
                <a:lnTo>
                  <a:pt x="131572" y="1138427"/>
                </a:lnTo>
                <a:lnTo>
                  <a:pt x="318388" y="1343152"/>
                </a:lnTo>
                <a:lnTo>
                  <a:pt x="336517" y="1287779"/>
                </a:lnTo>
                <a:lnTo>
                  <a:pt x="273812" y="1287779"/>
                </a:lnTo>
                <a:lnTo>
                  <a:pt x="248957" y="1172106"/>
                </a:lnTo>
                <a:lnTo>
                  <a:pt x="178816" y="1095247"/>
                </a:lnTo>
                <a:lnTo>
                  <a:pt x="168554" y="1087733"/>
                </a:lnTo>
                <a:lnTo>
                  <a:pt x="156638" y="1084849"/>
                </a:lnTo>
                <a:close/>
              </a:path>
              <a:path w="406400" h="1343660">
                <a:moveTo>
                  <a:pt x="248957" y="1172106"/>
                </a:moveTo>
                <a:lnTo>
                  <a:pt x="273812" y="1287779"/>
                </a:lnTo>
                <a:lnTo>
                  <a:pt x="336296" y="1274318"/>
                </a:lnTo>
                <a:lnTo>
                  <a:pt x="335586" y="1271015"/>
                </a:lnTo>
                <a:lnTo>
                  <a:pt x="274700" y="1271015"/>
                </a:lnTo>
                <a:lnTo>
                  <a:pt x="291726" y="1218970"/>
                </a:lnTo>
                <a:lnTo>
                  <a:pt x="248957" y="1172106"/>
                </a:lnTo>
                <a:close/>
              </a:path>
              <a:path w="406400" h="1343660">
                <a:moveTo>
                  <a:pt x="371578" y="1037901"/>
                </a:moveTo>
                <a:lnTo>
                  <a:pt x="359790" y="1041257"/>
                </a:lnTo>
                <a:lnTo>
                  <a:pt x="350099" y="1048779"/>
                </a:lnTo>
                <a:lnTo>
                  <a:pt x="343788" y="1059814"/>
                </a:lnTo>
                <a:lnTo>
                  <a:pt x="311448" y="1158678"/>
                </a:lnTo>
                <a:lnTo>
                  <a:pt x="336296" y="1274318"/>
                </a:lnTo>
                <a:lnTo>
                  <a:pt x="273812" y="1287779"/>
                </a:lnTo>
                <a:lnTo>
                  <a:pt x="336517" y="1287779"/>
                </a:lnTo>
                <a:lnTo>
                  <a:pt x="404622" y="1079753"/>
                </a:lnTo>
                <a:lnTo>
                  <a:pt x="406142" y="1067085"/>
                </a:lnTo>
                <a:lnTo>
                  <a:pt x="402780" y="1055274"/>
                </a:lnTo>
                <a:lnTo>
                  <a:pt x="395227" y="1045606"/>
                </a:lnTo>
                <a:lnTo>
                  <a:pt x="384175" y="1039368"/>
                </a:lnTo>
                <a:lnTo>
                  <a:pt x="371578" y="1037901"/>
                </a:lnTo>
                <a:close/>
              </a:path>
              <a:path w="406400" h="1343660">
                <a:moveTo>
                  <a:pt x="291726" y="1218970"/>
                </a:moveTo>
                <a:lnTo>
                  <a:pt x="274700" y="1271015"/>
                </a:lnTo>
                <a:lnTo>
                  <a:pt x="328675" y="1259458"/>
                </a:lnTo>
                <a:lnTo>
                  <a:pt x="291726" y="1218970"/>
                </a:lnTo>
                <a:close/>
              </a:path>
              <a:path w="406400" h="1343660">
                <a:moveTo>
                  <a:pt x="311448" y="1158678"/>
                </a:moveTo>
                <a:lnTo>
                  <a:pt x="291726" y="1218970"/>
                </a:lnTo>
                <a:lnTo>
                  <a:pt x="328675" y="1259458"/>
                </a:lnTo>
                <a:lnTo>
                  <a:pt x="274700" y="1271015"/>
                </a:lnTo>
                <a:lnTo>
                  <a:pt x="335586" y="1271015"/>
                </a:lnTo>
                <a:lnTo>
                  <a:pt x="311448" y="1158678"/>
                </a:lnTo>
                <a:close/>
              </a:path>
              <a:path w="406400" h="1343660">
                <a:moveTo>
                  <a:pt x="62484" y="0"/>
                </a:moveTo>
                <a:lnTo>
                  <a:pt x="0" y="13462"/>
                </a:lnTo>
                <a:lnTo>
                  <a:pt x="248957" y="1172106"/>
                </a:lnTo>
                <a:lnTo>
                  <a:pt x="291726" y="1218970"/>
                </a:lnTo>
                <a:lnTo>
                  <a:pt x="311448" y="1158678"/>
                </a:lnTo>
                <a:lnTo>
                  <a:pt x="62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81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2264410"/>
            <a:ext cx="259397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marR="804545" indent="-167640">
              <a:lnSpc>
                <a:spcPct val="100000"/>
              </a:lnSpc>
              <a:spcBef>
                <a:spcPts val="1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Easily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convert</a:t>
            </a:r>
            <a:endParaRPr sz="20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lambdas</a:t>
            </a:r>
            <a:endParaRPr sz="20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to method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references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328231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0" dirty="0"/>
              <a:t>Tools </a:t>
            </a:r>
            <a:r>
              <a:rPr spc="-5" dirty="0"/>
              <a:t>for Java SE</a:t>
            </a:r>
            <a:r>
              <a:rPr spc="50" dirty="0"/>
              <a:t> </a:t>
            </a:r>
            <a:r>
              <a:rPr spc="-5" dirty="0"/>
              <a:t>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Method</a:t>
            </a:r>
            <a:r>
              <a:rPr sz="2000" b="0" spc="-3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References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29100" y="1524000"/>
            <a:ext cx="4172711" cy="952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29100" y="2942844"/>
            <a:ext cx="4239365" cy="9723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28816" y="1694688"/>
            <a:ext cx="667512" cy="20101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71868" y="1717039"/>
            <a:ext cx="398780" cy="1640205"/>
          </a:xfrm>
          <a:custGeom>
            <a:avLst/>
            <a:gdLst/>
            <a:ahLst/>
            <a:cxnLst/>
            <a:rect l="l" t="t" r="r" b="b"/>
            <a:pathLst>
              <a:path w="398779" h="1640204">
                <a:moveTo>
                  <a:pt x="148288" y="1373505"/>
                </a:moveTo>
                <a:lnTo>
                  <a:pt x="136082" y="1374667"/>
                </a:lnTo>
                <a:lnTo>
                  <a:pt x="124840" y="1380617"/>
                </a:lnTo>
                <a:lnTo>
                  <a:pt x="116843" y="1390501"/>
                </a:lnTo>
                <a:lnTo>
                  <a:pt x="113347" y="1402254"/>
                </a:lnTo>
                <a:lnTo>
                  <a:pt x="114518" y="1414460"/>
                </a:lnTo>
                <a:lnTo>
                  <a:pt x="120523" y="1425702"/>
                </a:lnTo>
                <a:lnTo>
                  <a:pt x="296672" y="1639697"/>
                </a:lnTo>
                <a:lnTo>
                  <a:pt x="318863" y="1582039"/>
                </a:lnTo>
                <a:lnTo>
                  <a:pt x="254888" y="1582039"/>
                </a:lnTo>
                <a:lnTo>
                  <a:pt x="235942" y="1465194"/>
                </a:lnTo>
                <a:lnTo>
                  <a:pt x="169925" y="1385062"/>
                </a:lnTo>
                <a:lnTo>
                  <a:pt x="160041" y="1377009"/>
                </a:lnTo>
                <a:lnTo>
                  <a:pt x="148288" y="1373505"/>
                </a:lnTo>
                <a:close/>
              </a:path>
              <a:path w="398779" h="1640204">
                <a:moveTo>
                  <a:pt x="235942" y="1465194"/>
                </a:moveTo>
                <a:lnTo>
                  <a:pt x="254888" y="1582039"/>
                </a:lnTo>
                <a:lnTo>
                  <a:pt x="318134" y="1571879"/>
                </a:lnTo>
                <a:lnTo>
                  <a:pt x="317105" y="1565529"/>
                </a:lnTo>
                <a:lnTo>
                  <a:pt x="256666" y="1565529"/>
                </a:lnTo>
                <a:lnTo>
                  <a:pt x="276368" y="1514266"/>
                </a:lnTo>
                <a:lnTo>
                  <a:pt x="235942" y="1465194"/>
                </a:lnTo>
                <a:close/>
              </a:path>
              <a:path w="398779" h="1640204">
                <a:moveTo>
                  <a:pt x="365283" y="1337472"/>
                </a:moveTo>
                <a:lnTo>
                  <a:pt x="353314" y="1340231"/>
                </a:lnTo>
                <a:lnTo>
                  <a:pt x="343249" y="1347275"/>
                </a:lnTo>
                <a:lnTo>
                  <a:pt x="336423" y="1358011"/>
                </a:lnTo>
                <a:lnTo>
                  <a:pt x="299171" y="1454935"/>
                </a:lnTo>
                <a:lnTo>
                  <a:pt x="318134" y="1571879"/>
                </a:lnTo>
                <a:lnTo>
                  <a:pt x="254888" y="1582039"/>
                </a:lnTo>
                <a:lnTo>
                  <a:pt x="318863" y="1582039"/>
                </a:lnTo>
                <a:lnTo>
                  <a:pt x="396239" y="1380998"/>
                </a:lnTo>
                <a:lnTo>
                  <a:pt x="398363" y="1368456"/>
                </a:lnTo>
                <a:lnTo>
                  <a:pt x="395604" y="1356487"/>
                </a:lnTo>
                <a:lnTo>
                  <a:pt x="388560" y="1346422"/>
                </a:lnTo>
                <a:lnTo>
                  <a:pt x="377825" y="1339596"/>
                </a:lnTo>
                <a:lnTo>
                  <a:pt x="365283" y="1337472"/>
                </a:lnTo>
                <a:close/>
              </a:path>
              <a:path w="398779" h="1640204">
                <a:moveTo>
                  <a:pt x="276368" y="1514266"/>
                </a:moveTo>
                <a:lnTo>
                  <a:pt x="256666" y="1565529"/>
                </a:lnTo>
                <a:lnTo>
                  <a:pt x="311276" y="1556639"/>
                </a:lnTo>
                <a:lnTo>
                  <a:pt x="276368" y="1514266"/>
                </a:lnTo>
                <a:close/>
              </a:path>
              <a:path w="398779" h="1640204">
                <a:moveTo>
                  <a:pt x="299171" y="1454935"/>
                </a:moveTo>
                <a:lnTo>
                  <a:pt x="276368" y="1514266"/>
                </a:lnTo>
                <a:lnTo>
                  <a:pt x="311276" y="1556639"/>
                </a:lnTo>
                <a:lnTo>
                  <a:pt x="256666" y="1565529"/>
                </a:lnTo>
                <a:lnTo>
                  <a:pt x="317105" y="1565529"/>
                </a:lnTo>
                <a:lnTo>
                  <a:pt x="299171" y="1454935"/>
                </a:lnTo>
                <a:close/>
              </a:path>
              <a:path w="398779" h="1640204">
                <a:moveTo>
                  <a:pt x="63246" y="0"/>
                </a:moveTo>
                <a:lnTo>
                  <a:pt x="0" y="10160"/>
                </a:lnTo>
                <a:lnTo>
                  <a:pt x="235942" y="1465194"/>
                </a:lnTo>
                <a:lnTo>
                  <a:pt x="276368" y="1514266"/>
                </a:lnTo>
                <a:lnTo>
                  <a:pt x="299171" y="1454935"/>
                </a:lnTo>
                <a:lnTo>
                  <a:pt x="6324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82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501851"/>
            <a:ext cx="2787650" cy="3060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10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Specify 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scope</a:t>
            </a:r>
            <a:endParaRPr sz="20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for upgrading to Java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All/current</a:t>
            </a:r>
            <a:r>
              <a:rPr sz="1800" spc="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projects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Specific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package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5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Specific</a:t>
            </a:r>
            <a:r>
              <a:rPr sz="1800" spc="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class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Run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converters</a:t>
            </a:r>
            <a:endParaRPr sz="2000">
              <a:latin typeface="Arial"/>
              <a:cs typeface="Arial"/>
            </a:endParaRPr>
          </a:p>
          <a:p>
            <a:pPr marL="180340" marR="77597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spc="-5" dirty="0">
                <a:latin typeface="Arial"/>
                <a:cs typeface="Arial"/>
              </a:rPr>
              <a:t>Visually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preview  proposals for  refactoring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3282315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0" dirty="0"/>
              <a:t>Tools </a:t>
            </a:r>
            <a:r>
              <a:rPr spc="-5" dirty="0"/>
              <a:t>for Java SE</a:t>
            </a:r>
            <a:r>
              <a:rPr spc="50" dirty="0"/>
              <a:t> </a:t>
            </a:r>
            <a:r>
              <a:rPr spc="-5" dirty="0"/>
              <a:t>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Refactoring in Batch</a:t>
            </a:r>
            <a:r>
              <a:rPr sz="2000" b="0" spc="-85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Mode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51859" y="2346960"/>
            <a:ext cx="5483351" cy="22829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39055" y="89915"/>
            <a:ext cx="4361688" cy="21823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83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Tools </a:t>
            </a:r>
            <a:r>
              <a:rPr spc="-5" dirty="0"/>
              <a:t>for Java SE Embedded</a:t>
            </a:r>
            <a:r>
              <a:rPr spc="75" dirty="0"/>
              <a:t> </a:t>
            </a:r>
            <a:r>
              <a:rPr spc="-5" dirty="0"/>
              <a:t>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91667" y="628269"/>
            <a:ext cx="3883025" cy="3901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5282A0"/>
                </a:solidFill>
                <a:latin typeface="Arial"/>
                <a:cs typeface="Arial"/>
              </a:rPr>
              <a:t>Seamless</a:t>
            </a:r>
            <a:r>
              <a:rPr sz="2000" spc="-30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82A0"/>
                </a:solidFill>
                <a:latin typeface="Arial"/>
                <a:cs typeface="Arial"/>
              </a:rPr>
              <a:t>Integration</a:t>
            </a:r>
            <a:endParaRPr sz="2000">
              <a:latin typeface="Arial"/>
              <a:cs typeface="Arial"/>
            </a:endParaRPr>
          </a:p>
          <a:p>
            <a:pPr marL="229870" marR="41275" indent="-167640">
              <a:lnSpc>
                <a:spcPct val="100000"/>
              </a:lnSpc>
              <a:spcBef>
                <a:spcPts val="16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230504" algn="l"/>
              </a:tabLst>
            </a:pPr>
            <a:r>
              <a:rPr sz="2000" dirty="0">
                <a:latin typeface="Arial"/>
                <a:cs typeface="Arial"/>
              </a:rPr>
              <a:t>Full Development Cycle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support  against a remote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platform</a:t>
            </a:r>
            <a:endParaRPr sz="2000">
              <a:latin typeface="Arial"/>
              <a:cs typeface="Arial"/>
            </a:endParaRPr>
          </a:p>
          <a:p>
            <a:pPr marL="63373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634365" algn="l"/>
              </a:tabLst>
            </a:pPr>
            <a:r>
              <a:rPr sz="1800" spc="-5" dirty="0">
                <a:latin typeface="Arial"/>
                <a:cs typeface="Arial"/>
              </a:rPr>
              <a:t>Intuitive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development</a:t>
            </a:r>
            <a:endParaRPr sz="1800">
              <a:latin typeface="Arial"/>
              <a:cs typeface="Arial"/>
            </a:endParaRPr>
          </a:p>
          <a:p>
            <a:pPr marL="63373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634365" algn="l"/>
              </a:tabLst>
            </a:pPr>
            <a:r>
              <a:rPr sz="1800" spc="-5" dirty="0">
                <a:latin typeface="Arial"/>
                <a:cs typeface="Arial"/>
              </a:rPr>
              <a:t>One-click</a:t>
            </a:r>
            <a:r>
              <a:rPr sz="1800" spc="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deploy</a:t>
            </a:r>
            <a:endParaRPr sz="1800">
              <a:latin typeface="Arial"/>
              <a:cs typeface="Arial"/>
            </a:endParaRPr>
          </a:p>
          <a:p>
            <a:pPr marL="63373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634365" algn="l"/>
              </a:tabLst>
            </a:pPr>
            <a:r>
              <a:rPr sz="1800" spc="-5" dirty="0">
                <a:latin typeface="Arial"/>
                <a:cs typeface="Arial"/>
              </a:rPr>
              <a:t>Remote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debugging</a:t>
            </a:r>
            <a:endParaRPr sz="1800">
              <a:latin typeface="Arial"/>
              <a:cs typeface="Arial"/>
            </a:endParaRPr>
          </a:p>
          <a:p>
            <a:pPr marL="63373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634365" algn="l"/>
              </a:tabLst>
            </a:pPr>
            <a:r>
              <a:rPr sz="1800" spc="-5" dirty="0">
                <a:latin typeface="Arial"/>
                <a:cs typeface="Arial"/>
              </a:rPr>
              <a:t>Comprehensive remote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profiling</a:t>
            </a:r>
            <a:endParaRPr sz="1800">
              <a:latin typeface="Arial"/>
              <a:cs typeface="Arial"/>
            </a:endParaRPr>
          </a:p>
          <a:p>
            <a:pPr marL="229870" marR="3048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230504" algn="l"/>
              </a:tabLst>
            </a:pPr>
            <a:r>
              <a:rPr sz="2000" dirty="0">
                <a:latin typeface="Arial"/>
                <a:cs typeface="Arial"/>
              </a:rPr>
              <a:t>Complete end to end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integration  for Raspberry Pi and other  embedded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devices,</a:t>
            </a:r>
            <a:endParaRPr sz="2000">
              <a:latin typeface="Arial"/>
              <a:cs typeface="Arial"/>
            </a:endParaRPr>
          </a:p>
          <a:p>
            <a:pPr marL="63373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634365" algn="l"/>
              </a:tabLst>
            </a:pPr>
            <a:r>
              <a:rPr sz="1800" spc="-10" dirty="0">
                <a:latin typeface="Arial"/>
                <a:cs typeface="Arial"/>
              </a:rPr>
              <a:t>e.g.Web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Services.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63055" y="390143"/>
            <a:ext cx="2570988" cy="17144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19700" y="2189988"/>
            <a:ext cx="3505200" cy="25618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84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501851"/>
            <a:ext cx="3008630" cy="2008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10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Java ME 8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CLDC</a:t>
            </a:r>
            <a:endParaRPr sz="20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Platform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Emulator</a:t>
            </a:r>
            <a:endParaRPr sz="20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Intuitive </a:t>
            </a:r>
            <a:r>
              <a:rPr sz="2000" spc="-5" dirty="0">
                <a:latin typeface="Arial"/>
                <a:cs typeface="Arial"/>
              </a:rPr>
              <a:t>tools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editors</a:t>
            </a:r>
            <a:endParaRPr sz="20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for JDK 8 on Java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</a:t>
            </a:r>
            <a:endParaRPr sz="2000">
              <a:latin typeface="Arial"/>
              <a:cs typeface="Arial"/>
            </a:endParaRPr>
          </a:p>
          <a:p>
            <a:pPr marL="180340" marR="412115" indent="-167640">
              <a:lnSpc>
                <a:spcPct val="100000"/>
              </a:lnSpc>
              <a:spcBef>
                <a:spcPts val="60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Simple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customization  of optional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packages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5259070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0" dirty="0"/>
              <a:t>Tools </a:t>
            </a:r>
            <a:r>
              <a:rPr spc="-5" dirty="0"/>
              <a:t>for Java ME Embedded</a:t>
            </a:r>
            <a:r>
              <a:rPr spc="90" dirty="0"/>
              <a:t> </a:t>
            </a:r>
            <a:r>
              <a:rPr spc="-5" dirty="0"/>
              <a:t>8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Seamless</a:t>
            </a:r>
            <a:r>
              <a:rPr sz="2000" b="0" spc="-30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Integration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68140" y="838200"/>
            <a:ext cx="4710684" cy="37155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85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667" y="181102"/>
            <a:ext cx="2155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</a:t>
            </a:r>
            <a:r>
              <a:rPr spc="-20" dirty="0"/>
              <a:t>n</a:t>
            </a:r>
            <a:r>
              <a:rPr spc="-5" dirty="0"/>
              <a:t>clu</a:t>
            </a:r>
            <a:r>
              <a:rPr dirty="0"/>
              <a:t>s</a:t>
            </a:r>
            <a:r>
              <a:rPr spc="-5" dirty="0"/>
              <a:t>ions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86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2627" y="1415679"/>
            <a:ext cx="5793105" cy="29635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Java SE 8 adds powerful new features to the</a:t>
            </a:r>
            <a:r>
              <a:rPr sz="2000" spc="-1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core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Lambda expressions, streams and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functions</a:t>
            </a:r>
            <a:endParaRPr sz="18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New controls, stylesheet and 3D support in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JavaFX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Java ME 8 focused on embedded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development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Device </a:t>
            </a:r>
            <a:r>
              <a:rPr sz="1800" dirty="0">
                <a:latin typeface="Arial"/>
                <a:cs typeface="Arial"/>
              </a:rPr>
              <a:t>I/O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APIs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NetBeans 8, ready for Java 8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development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5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10" dirty="0">
                <a:latin typeface="Arial"/>
                <a:cs typeface="Arial"/>
              </a:rPr>
              <a:t>Lambda </a:t>
            </a:r>
            <a:r>
              <a:rPr sz="1800" spc="-5" dirty="0">
                <a:latin typeface="Arial"/>
                <a:cs typeface="Arial"/>
              </a:rPr>
              <a:t>support, </a:t>
            </a:r>
            <a:r>
              <a:rPr sz="1800" spc="-10" dirty="0">
                <a:latin typeface="Arial"/>
                <a:cs typeface="Arial"/>
              </a:rPr>
              <a:t>embedded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support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Java continues to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evolve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627" y="1415679"/>
            <a:ext cx="4145915" cy="188150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78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Modularisation of the Java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platform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Project Jigsaw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0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Foreign function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interface</a:t>
            </a:r>
            <a:endParaRPr sz="200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835" algn="l"/>
              </a:tabLst>
            </a:pPr>
            <a:r>
              <a:rPr sz="1800" spc="-5" dirty="0">
                <a:latin typeface="Arial"/>
                <a:cs typeface="Arial"/>
              </a:rPr>
              <a:t>Like JNI</a:t>
            </a:r>
            <a:endParaRPr sz="1800">
              <a:latin typeface="Arial"/>
              <a:cs typeface="Arial"/>
            </a:endParaRPr>
          </a:p>
          <a:p>
            <a:pPr marL="180340" indent="-167640">
              <a:lnSpc>
                <a:spcPct val="100000"/>
              </a:lnSpc>
              <a:spcBef>
                <a:spcPts val="595"/>
              </a:spcBef>
              <a:buClr>
                <a:srgbClr val="5282A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Enhanced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volatiles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019" y="4924048"/>
            <a:ext cx="2419985" cy="993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"/>
              <a:t>87</a:t>
            </a:fld>
            <a:r>
              <a:rPr spc="-5" dirty="0"/>
              <a:t> </a:t>
            </a:r>
            <a:r>
              <a:rPr lang="en-IN" dirty="0"/>
              <a:t> </a:t>
            </a:r>
            <a:r>
              <a:rPr spc="-5" dirty="0"/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1667" y="151723"/>
            <a:ext cx="3290570" cy="807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Java 9 And</a:t>
            </a:r>
            <a:r>
              <a:rPr spc="-130" dirty="0"/>
              <a:t> </a:t>
            </a:r>
            <a:r>
              <a:rPr spc="-10" dirty="0"/>
              <a:t>Beyond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0" dirty="0">
                <a:solidFill>
                  <a:srgbClr val="5282A0"/>
                </a:solidFill>
                <a:latin typeface="Arial"/>
                <a:cs typeface="Arial"/>
              </a:rPr>
              <a:t>Java Never</a:t>
            </a:r>
            <a:r>
              <a:rPr sz="2000" b="0" spc="-50" dirty="0">
                <a:solidFill>
                  <a:srgbClr val="5282A0"/>
                </a:solidFill>
                <a:latin typeface="Arial"/>
                <a:cs typeface="Arial"/>
              </a:rPr>
              <a:t> </a:t>
            </a:r>
            <a:r>
              <a:rPr sz="2000" b="0" spc="-5" dirty="0">
                <a:solidFill>
                  <a:srgbClr val="5282A0"/>
                </a:solidFill>
                <a:latin typeface="Arial"/>
                <a:cs typeface="Arial"/>
              </a:rPr>
              <a:t>Stops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419" y="4936748"/>
            <a:ext cx="238188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75"/>
              </a:lnSpc>
            </a:pPr>
            <a:r>
              <a:rPr sz="600" spc="-5" dirty="0">
                <a:latin typeface="Arial"/>
                <a:cs typeface="Arial"/>
              </a:rPr>
              <a:t>9</a:t>
            </a:r>
            <a:r>
              <a:rPr lang="en-IN"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Oracle </a:t>
            </a:r>
            <a:r>
              <a:rPr sz="600" spc="-5" dirty="0">
                <a:latin typeface="Arial"/>
                <a:cs typeface="Arial"/>
              </a:rPr>
              <a:t>and/or </a:t>
            </a:r>
            <a:r>
              <a:rPr sz="600" dirty="0">
                <a:latin typeface="Arial"/>
                <a:cs typeface="Arial"/>
              </a:rPr>
              <a:t>its affiliates. </a:t>
            </a:r>
            <a:r>
              <a:rPr sz="600" spc="-5" dirty="0">
                <a:latin typeface="Arial"/>
                <a:cs typeface="Arial"/>
              </a:rPr>
              <a:t>All </a:t>
            </a:r>
            <a:r>
              <a:rPr sz="600" dirty="0">
                <a:latin typeface="Arial"/>
                <a:cs typeface="Arial"/>
              </a:rPr>
              <a:t>rights</a:t>
            </a:r>
            <a:r>
              <a:rPr sz="600" spc="-30" dirty="0">
                <a:latin typeface="Arial"/>
                <a:cs typeface="Arial"/>
              </a:rPr>
              <a:t> </a:t>
            </a:r>
            <a:r>
              <a:rPr sz="600" spc="-5" dirty="0">
                <a:latin typeface="Arial"/>
                <a:cs typeface="Arial"/>
              </a:rPr>
              <a:t>reserved.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79536" y="4908382"/>
            <a:ext cx="767080" cy="10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41759" y="4646674"/>
            <a:ext cx="843957" cy="43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576072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39823" y="681227"/>
            <a:ext cx="5801868" cy="30784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3669</Words>
  <Application>Microsoft Office PowerPoint</Application>
  <PresentationFormat>On-screen Show (16:9)</PresentationFormat>
  <Paragraphs>756</Paragraphs>
  <Slides>88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4" baseType="lpstr">
      <vt:lpstr>Arial</vt:lpstr>
      <vt:lpstr>Calibri</vt:lpstr>
      <vt:lpstr>Courier New</vt:lpstr>
      <vt:lpstr>Times New Roman</vt:lpstr>
      <vt:lpstr>Wingdings</vt:lpstr>
      <vt:lpstr>Office Theme</vt:lpstr>
      <vt:lpstr>Java 8: Create The Future</vt:lpstr>
      <vt:lpstr>Program Agenda</vt:lpstr>
      <vt:lpstr>Java SE 8: Enhancing The Core Java  Platform</vt:lpstr>
      <vt:lpstr>PowerPoint Presentation</vt:lpstr>
      <vt:lpstr>Lambda Expressions Why Do We Need Them?</vt:lpstr>
      <vt:lpstr>The Problem: External Iteration</vt:lpstr>
      <vt:lpstr>Internal Iteration With Inner Classes</vt:lpstr>
      <vt:lpstr>Internal Iteration With Lambdas</vt:lpstr>
      <vt:lpstr>Lambda Expressions Some Details</vt:lpstr>
      <vt:lpstr>Lambda Expressions Functional Interfaces</vt:lpstr>
      <vt:lpstr>Internal Iteration With Lambdas</vt:lpstr>
      <vt:lpstr>Type Inferrence</vt:lpstr>
      <vt:lpstr>Lambda Epressions Local Variable Capture &amp; Lexical Scoping</vt:lpstr>
      <vt:lpstr>Method References</vt:lpstr>
      <vt:lpstr>Method References</vt:lpstr>
      <vt:lpstr>Method References</vt:lpstr>
      <vt:lpstr>Constructor References</vt:lpstr>
      <vt:lpstr>Four Kinds of Method References</vt:lpstr>
      <vt:lpstr>Default Methods</vt:lpstr>
      <vt:lpstr>Static Methods In Interfaces</vt:lpstr>
      <vt:lpstr>Streams API Aggregate Operations</vt:lpstr>
      <vt:lpstr>Stream Overview High Level</vt:lpstr>
      <vt:lpstr>Stream Overview</vt:lpstr>
      <vt:lpstr>Stream Overview Execution</vt:lpstr>
      <vt:lpstr>Stream Sources Many Ways To Create</vt:lpstr>
      <vt:lpstr>Stream Sources Manage Three Aspects</vt:lpstr>
      <vt:lpstr>Stream Intermediate Operations</vt:lpstr>
      <vt:lpstr>Stream Terminal Operations</vt:lpstr>
      <vt:lpstr>Optional&lt;T&gt; Reducing NullPointerException Occurences</vt:lpstr>
      <vt:lpstr>java.util.function Package</vt:lpstr>
      <vt:lpstr>Stream Example 1 Convert words in list to upper case</vt:lpstr>
      <vt:lpstr>Stream Example 2 Find words in list with even length</vt:lpstr>
      <vt:lpstr>Stream Example 3 Count lines in a file</vt:lpstr>
      <vt:lpstr>Stream Example 4 Find the length of the longest line in a file</vt:lpstr>
      <vt:lpstr>Stream Example 5 Collect all words in a file into a list</vt:lpstr>
      <vt:lpstr>Stream Example 6 List of words lowercased, in aphabetical order</vt:lpstr>
      <vt:lpstr>Annotations On Java Types</vt:lpstr>
      <vt:lpstr>Concurrency Updates</vt:lpstr>
      <vt:lpstr>Parallel Array Sorting</vt:lpstr>
      <vt:lpstr>Date And Time APIs</vt:lpstr>
      <vt:lpstr>Base64 Encoding and Decoding</vt:lpstr>
      <vt:lpstr>Nashorn JavaScript Engine</vt:lpstr>
      <vt:lpstr>Removal Of The Permanent Generation Permanently</vt:lpstr>
      <vt:lpstr>PowerPoint Presentation</vt:lpstr>
      <vt:lpstr>Modena</vt:lpstr>
      <vt:lpstr>Modena</vt:lpstr>
      <vt:lpstr>JavaFX 8 Improvements To Full Screen Mode</vt:lpstr>
      <vt:lpstr>JavaFX 8 Printing Support</vt:lpstr>
      <vt:lpstr>JavaFX 8 New Controls</vt:lpstr>
      <vt:lpstr>DatePicker</vt:lpstr>
      <vt:lpstr>DatePicker</vt:lpstr>
      <vt:lpstr>DatePicker</vt:lpstr>
      <vt:lpstr>Date Picker</vt:lpstr>
      <vt:lpstr>PowerPoint Presentation</vt:lpstr>
      <vt:lpstr>JavaFX 8 Touch Support</vt:lpstr>
      <vt:lpstr>Touch Gestures</vt:lpstr>
      <vt:lpstr>Handling Touch (TouchEvent/TouchPoint)</vt:lpstr>
      <vt:lpstr>Responding to Touch Events</vt:lpstr>
      <vt:lpstr>JavaFX 8 3D Support</vt:lpstr>
      <vt:lpstr>Creating Primitive Shapes and Materials</vt:lpstr>
      <vt:lpstr>Placing a Texture on a Sphere</vt:lpstr>
      <vt:lpstr>Placing a Texture on a Sphere</vt:lpstr>
      <vt:lpstr>3D Lights</vt:lpstr>
      <vt:lpstr>Lights, Camera, Action!</vt:lpstr>
      <vt:lpstr>PowerPoint Presentation</vt:lpstr>
      <vt:lpstr>Compact Profiles Approximate static footprint goals</vt:lpstr>
      <vt:lpstr>Java SE Embedded</vt:lpstr>
      <vt:lpstr>Java ME 8: Building The Internet of  Things</vt:lpstr>
      <vt:lpstr>Java ME 8 Focus</vt:lpstr>
      <vt:lpstr>Java ME 8 Platform Overview</vt:lpstr>
      <vt:lpstr>Java ME 8 Key Features</vt:lpstr>
      <vt:lpstr>Java ME 8 Key Features</vt:lpstr>
      <vt:lpstr>Connected Limited Device Configuration 8 CLDC 8 Key Features</vt:lpstr>
      <vt:lpstr>Generic Connection Framework 8 Substantially Increased Range of Connection Types</vt:lpstr>
      <vt:lpstr>Java ME Embedded Profile (MEEP) 8</vt:lpstr>
      <vt:lpstr>NetBeans 8: The IDE For Java 8</vt:lpstr>
      <vt:lpstr>Tools for Java SE 8 Lambda Expressions</vt:lpstr>
      <vt:lpstr>Tools for Java SE 8 Lambda Expressions</vt:lpstr>
      <vt:lpstr>Tools for Java SE 8 Internal Iterators via Java 8 Streams</vt:lpstr>
      <vt:lpstr>Tools for Java SE 8 Internal Iterators via Java 8 Streams</vt:lpstr>
      <vt:lpstr>Tools for Java SE 8 Explicit Parameter Types For Lambda Expressions</vt:lpstr>
      <vt:lpstr>Tools for Java SE 8 Method References</vt:lpstr>
      <vt:lpstr>Tools for Java SE 8 Refactoring in Batch Mode</vt:lpstr>
      <vt:lpstr>Tools for Java SE Embedded 8</vt:lpstr>
      <vt:lpstr>Tools for Java ME Embedded 8 Seamless Integration</vt:lpstr>
      <vt:lpstr>Conclusions</vt:lpstr>
      <vt:lpstr>Java 9 And Beyond Java Never Stops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8: Create The Future</dc:title>
  <cp:lastModifiedBy>amarjeet singh</cp:lastModifiedBy>
  <cp:revision>4</cp:revision>
  <dcterms:created xsi:type="dcterms:W3CDTF">2017-10-18T17:40:22Z</dcterms:created>
  <dcterms:modified xsi:type="dcterms:W3CDTF">2017-10-18T17:49:41Z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2014-05-03T00:00:00Z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2017-10-18T00:00:00Z</vt:filetime>
  </property>
</Properties>
</file>